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20" y="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wsl.localhost\Ubuntu\home\user\konkuk\cloud_anomaly_result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wsl.localhost\Ubuntu\home\user\konkuk\cloud_anomaly_resul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Total / Normal / Anomaly Count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Sample Count</c:v>
          </c:tx>
          <c:invertIfNegative val="0"/>
          <c:cat>
            <c:strRef>
              <c:f>Report!$A$5:$A$7</c:f>
              <c:strCache>
                <c:ptCount val="3"/>
                <c:pt idx="0">
                  <c:v>총 샘플 수</c:v>
                </c:pt>
                <c:pt idx="1">
                  <c:v>정상(0) 샘플 수</c:v>
                </c:pt>
                <c:pt idx="2">
                  <c:v>이상(1) 샘플 수</c:v>
                </c:pt>
              </c:strCache>
            </c:strRef>
          </c:cat>
          <c:val>
            <c:numRef>
              <c:f>Report!$B$5:$B$7</c:f>
              <c:numCache>
                <c:formatCode>General</c:formatCode>
                <c:ptCount val="3"/>
                <c:pt idx="0">
                  <c:v>14400</c:v>
                </c:pt>
                <c:pt idx="1">
                  <c:v>13143</c:v>
                </c:pt>
                <c:pt idx="2">
                  <c:v>1257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4F-4843-BC44-B68F790BF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10001"/>
        <c:axId val="50010002"/>
      </c:barChart>
      <c:catAx>
        <c:axId val="5001000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항목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50010001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Baseline vs Optimized Metrics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Report!$A$19</c:f>
              <c:strCache>
                <c:ptCount val="1"/>
                <c:pt idx="0">
                  <c:v>Baseline_RF</c:v>
                </c:pt>
              </c:strCache>
            </c:strRef>
          </c:tx>
          <c:invertIfNegative val="0"/>
          <c:cat>
            <c:strRef>
              <c:f>Report!$B$18:$F$18</c:f>
              <c:strCache>
                <c:ptCount val="5"/>
                <c:pt idx="0">
                  <c:v>Accuracy(정확도)</c:v>
                </c:pt>
                <c:pt idx="1">
                  <c:v>Precision_1(이상 정밀도)</c:v>
                </c:pt>
                <c:pt idx="2">
                  <c:v>Recall_1(이상 재현율)</c:v>
                </c:pt>
                <c:pt idx="3">
                  <c:v>F1_1(이상 F1)</c:v>
                </c:pt>
                <c:pt idx="4">
                  <c:v>ROC_AUC</c:v>
                </c:pt>
              </c:strCache>
            </c:strRef>
          </c:cat>
          <c:val>
            <c:numRef>
              <c:f>Report!$B$19:$F$19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1-4708-89F4-B561A3A3266F}"/>
            </c:ext>
          </c:extLst>
        </c:ser>
        <c:ser>
          <c:idx val="1"/>
          <c:order val="1"/>
          <c:tx>
            <c:strRef>
              <c:f>Report!$A$20</c:f>
              <c:strCache>
                <c:ptCount val="1"/>
                <c:pt idx="0">
                  <c:v>Optimized_RF</c:v>
                </c:pt>
              </c:strCache>
            </c:strRef>
          </c:tx>
          <c:invertIfNegative val="0"/>
          <c:cat>
            <c:strRef>
              <c:f>Report!$B$18:$F$18</c:f>
              <c:strCache>
                <c:ptCount val="5"/>
                <c:pt idx="0">
                  <c:v>Accuracy(정확도)</c:v>
                </c:pt>
                <c:pt idx="1">
                  <c:v>Precision_1(이상 정밀도)</c:v>
                </c:pt>
                <c:pt idx="2">
                  <c:v>Recall_1(이상 재현율)</c:v>
                </c:pt>
                <c:pt idx="3">
                  <c:v>F1_1(이상 F1)</c:v>
                </c:pt>
                <c:pt idx="4">
                  <c:v>ROC_AUC</c:v>
                </c:pt>
              </c:strCache>
            </c:strRef>
          </c:cat>
          <c:val>
            <c:numRef>
              <c:f>Report!$B$20:$F$20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71-4708-89F4-B561A3A32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30001"/>
        <c:axId val="50030002"/>
      </c:barChart>
      <c:catAx>
        <c:axId val="5003000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Metric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50030002"/>
        <c:crosses val="autoZero"/>
        <c:auto val="1"/>
        <c:lblAlgn val="ctr"/>
        <c:lblOffset val="100"/>
        <c:noMultiLvlLbl val="0"/>
      </c:catAx>
      <c:valAx>
        <c:axId val="50030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Value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50030001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962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587C9-D737-0CC4-A44B-1F46122C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2FDC9-C57E-DED6-ECCE-C552628A4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C2C0B-A8A5-30FA-D10D-82FA3DFD2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D6EF8-8E6F-F723-796A-2B481F66F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57203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dirty="0" err="1">
                <a:solidFill>
                  <a:srgbClr val="FFFFFF"/>
                </a:solidFill>
              </a:rPr>
              <a:t>머신러닝기반</a:t>
            </a:r>
            <a:r>
              <a:rPr lang="ko-KR" altLang="en-US" sz="2200" b="1" dirty="0">
                <a:solidFill>
                  <a:srgbClr val="FFFFFF"/>
                </a:solidFill>
              </a:rPr>
              <a:t> 연구방법론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프로젝트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발표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CloudTrail 로그 기반 이상 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62765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400" dirty="0"/>
              <a:t>Cloud Anomaly Detection </a:t>
            </a:r>
            <a:r>
              <a:rPr lang="ko-KR" altLang="en-US" sz="1400" dirty="0"/>
              <a:t>데이터셋을 활용한 </a:t>
            </a:r>
            <a:r>
              <a:rPr lang="en-US" altLang="ko-KR" sz="1400" dirty="0" err="1"/>
              <a:t>RandomForest</a:t>
            </a:r>
            <a:r>
              <a:rPr lang="en-US" altLang="ko-KR" sz="1400" dirty="0"/>
              <a:t> + </a:t>
            </a:r>
            <a:r>
              <a:rPr lang="en-US" altLang="ko-KR" sz="1400" dirty="0" err="1"/>
              <a:t>GridSearchCV</a:t>
            </a:r>
            <a:r>
              <a:rPr lang="en-US" altLang="ko-KR" sz="1400" dirty="0"/>
              <a:t>  </a:t>
            </a:r>
            <a:r>
              <a:rPr lang="ko-KR" altLang="en-US" sz="1400" dirty="0"/>
              <a:t>분석</a:t>
            </a:r>
            <a:endParaRPr sz="14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522877"/>
              </p:ext>
            </p:extLst>
          </p:nvPr>
        </p:nvGraphicFramePr>
        <p:xfrm>
          <a:off x="640080" y="2651760"/>
          <a:ext cx="78638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전공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 –</a:t>
                      </a:r>
                      <a:r>
                        <a:rPr lang="ko-KR" altLang="en-US" sz="1000" b="1" dirty="0">
                          <a:solidFill>
                            <a:srgbClr val="000000"/>
                          </a:solidFill>
                        </a:rPr>
                        <a:t> 인공지능 전공</a:t>
                      </a:r>
                      <a:endParaRPr sz="1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학번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 – 202576719</a:t>
                      </a:r>
                      <a:endParaRPr sz="1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이름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 – </a:t>
                      </a:r>
                      <a:r>
                        <a:rPr lang="ko-KR" altLang="en-US" sz="1000" b="1" dirty="0">
                          <a:solidFill>
                            <a:srgbClr val="000000"/>
                          </a:solidFill>
                        </a:rPr>
                        <a:t>손 성 호</a:t>
                      </a:r>
                      <a:endParaRPr sz="1000" b="1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1" y="3931920"/>
            <a:ext cx="786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Cloud Anomaly </a:t>
            </a:r>
            <a:r>
              <a:rPr lang="ko-KR" altLang="en-US" sz="1200" dirty="0"/>
              <a:t>데이터셋을 이용해 이상 이벤트를 탐지하는 모델을 만들고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GridSearchCV</a:t>
            </a:r>
            <a:r>
              <a:rPr lang="ko-KR" altLang="en-US" sz="1200" dirty="0"/>
              <a:t>로 </a:t>
            </a:r>
            <a:r>
              <a:rPr lang="ko-KR" altLang="en-US" sz="1200" dirty="0" err="1"/>
              <a:t>하이퍼파라미터를</a:t>
            </a:r>
            <a:r>
              <a:rPr lang="ko-KR" altLang="en-US" sz="1200" dirty="0"/>
              <a:t> 조정하여 이상 데이터에 대한 </a:t>
            </a:r>
            <a:r>
              <a:rPr lang="en-US" altLang="ko-KR" sz="1200" dirty="0"/>
              <a:t>F1·Recall </a:t>
            </a:r>
            <a:r>
              <a:rPr lang="ko-KR" altLang="en-US" sz="1200" dirty="0"/>
              <a:t>성능을 비교합니다</a:t>
            </a:r>
            <a:r>
              <a:rPr lang="en-US" altLang="ko-KR" sz="1200" dirty="0"/>
              <a:t>.</a:t>
            </a:r>
            <a:endParaRPr sz="1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FFFFFF"/>
                </a:solidFill>
              </a:rPr>
              <a:t>1. 데이터셋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1"/>
            <a:ext cx="789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CPU·Memory·Disk·Network</a:t>
            </a:r>
            <a:r>
              <a:rPr lang="en-US" altLang="ko-KR" sz="1200" dirty="0"/>
              <a:t> </a:t>
            </a:r>
            <a:r>
              <a:rPr lang="ko-KR" altLang="en-US" sz="1200" dirty="0"/>
              <a:t>사용량과 이상 여부</a:t>
            </a:r>
            <a:r>
              <a:rPr lang="en-US" altLang="ko-KR" sz="1200" dirty="0"/>
              <a:t>(0=</a:t>
            </a:r>
            <a:r>
              <a:rPr lang="ko-KR" altLang="en-US" sz="1200" dirty="0"/>
              <a:t>정상</a:t>
            </a:r>
            <a:r>
              <a:rPr lang="en-US" altLang="ko-KR" sz="1200" dirty="0"/>
              <a:t>, 1=</a:t>
            </a:r>
            <a:r>
              <a:rPr lang="ko-KR" altLang="en-US" sz="1200" dirty="0"/>
              <a:t>이상</a:t>
            </a:r>
            <a:r>
              <a:rPr lang="en-US" altLang="ko-KR" sz="1200" dirty="0"/>
              <a:t>)</a:t>
            </a:r>
            <a:r>
              <a:rPr lang="ko-KR" altLang="en-US" sz="1200" dirty="0"/>
              <a:t>로 구성된 </a:t>
            </a:r>
            <a:r>
              <a:rPr lang="en-US" altLang="ko-KR" sz="1200" dirty="0"/>
              <a:t>Cloud Anomaly </a:t>
            </a:r>
            <a:r>
              <a:rPr lang="ko-KR" altLang="en-US" sz="1200" dirty="0"/>
              <a:t>데이터셋의 규모와 정상</a:t>
            </a:r>
            <a:r>
              <a:rPr lang="en-US" altLang="ko-KR" sz="1200" dirty="0"/>
              <a:t>/</a:t>
            </a:r>
            <a:r>
              <a:rPr lang="ko-KR" altLang="en-US" sz="1200" dirty="0"/>
              <a:t>이상 비율을 먼저 확인하고</a:t>
            </a:r>
            <a:r>
              <a:rPr lang="en-US" altLang="ko-KR" sz="1200" dirty="0"/>
              <a:t>, </a:t>
            </a:r>
            <a:r>
              <a:rPr lang="ko-KR" altLang="en-US" sz="1200" dirty="0"/>
              <a:t>단순 </a:t>
            </a:r>
            <a:r>
              <a:rPr lang="ko-KR" altLang="en-US" sz="1200" dirty="0" err="1"/>
              <a:t>임계값</a:t>
            </a:r>
            <a:r>
              <a:rPr lang="ko-KR" altLang="en-US" sz="1200" dirty="0"/>
              <a:t> 규칙만으로는 부족하다고 판단하여 </a:t>
            </a:r>
            <a:r>
              <a:rPr lang="en-US" altLang="ko-KR" sz="1200" dirty="0" err="1"/>
              <a:t>RandomForest</a:t>
            </a:r>
            <a:r>
              <a:rPr lang="en-US" altLang="ko-KR" sz="1200" dirty="0"/>
              <a:t> </a:t>
            </a:r>
            <a:r>
              <a:rPr lang="ko-KR" altLang="en-US" sz="1200" dirty="0"/>
              <a:t>분류 모델을 적용하고</a:t>
            </a:r>
            <a:r>
              <a:rPr lang="en-US" altLang="ko-KR" sz="1200" dirty="0"/>
              <a:t>, </a:t>
            </a:r>
            <a:r>
              <a:rPr lang="ko-KR" altLang="en-US" sz="1200" dirty="0"/>
              <a:t>성능 평가는 이상 데이터가 얼마나 잘 잡히는지</a:t>
            </a:r>
            <a:r>
              <a:rPr lang="en-US" altLang="ko-KR" sz="1200" dirty="0"/>
              <a:t>(Recall, F1)</a:t>
            </a:r>
            <a:r>
              <a:rPr lang="ko-KR" altLang="en-US" sz="1200" dirty="0"/>
              <a:t>를 중심으로 진행함</a:t>
            </a:r>
            <a:r>
              <a:rPr lang="en-US" altLang="ko-KR" sz="1200" dirty="0"/>
              <a:t>.</a:t>
            </a:r>
            <a:endParaRPr sz="1200" dirty="0">
              <a:solidFill>
                <a:srgbClr val="0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824735"/>
              </p:ext>
            </p:extLst>
          </p:nvPr>
        </p:nvGraphicFramePr>
        <p:xfrm>
          <a:off x="640080" y="2066608"/>
          <a:ext cx="3291840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000000"/>
                          </a:solidFill>
                        </a:rPr>
                        <a:t>항목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총 샘플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정상(0) 샘플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13,143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이상(1) 샘플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1,257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이상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0.0873 (약 8.7%)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071958"/>
              </p:ext>
            </p:extLst>
          </p:nvPr>
        </p:nvGraphicFramePr>
        <p:xfrm>
          <a:off x="640080" y="3895407"/>
          <a:ext cx="3291840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라벨 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000000"/>
                          </a:solidFill>
                        </a:rPr>
                        <a:t>의미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비율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000000"/>
                          </a:solidFill>
                        </a:rPr>
                        <a:t>정상 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정상 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13,143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91.3%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000000"/>
                          </a:solidFill>
                        </a:rPr>
                        <a:t>이상 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이상 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1,257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8.7%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9244" y="5084128"/>
            <a:ext cx="7792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 err="1">
                <a:solidFill>
                  <a:srgbClr val="000000"/>
                </a:solidFill>
              </a:rPr>
              <a:t>전체</a:t>
            </a:r>
            <a:r>
              <a:rPr sz="1200" dirty="0">
                <a:solidFill>
                  <a:srgbClr val="000000"/>
                </a:solidFill>
              </a:rPr>
              <a:t> 14,400건 중 13,143건(91.3%)이 </a:t>
            </a:r>
            <a:r>
              <a:rPr sz="1200" dirty="0" err="1">
                <a:solidFill>
                  <a:srgbClr val="000000"/>
                </a:solidFill>
              </a:rPr>
              <a:t>정상</a:t>
            </a:r>
            <a:r>
              <a:rPr sz="1200" dirty="0">
                <a:solidFill>
                  <a:srgbClr val="000000"/>
                </a:solidFill>
              </a:rPr>
              <a:t>, 1,257건(8.7%)이 </a:t>
            </a:r>
            <a:r>
              <a:rPr sz="1200" dirty="0" err="1">
                <a:solidFill>
                  <a:srgbClr val="000000"/>
                </a:solidFill>
              </a:rPr>
              <a:t>이상으로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라벨링된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불균형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데이터</a:t>
            </a:r>
            <a:endParaRPr lang="en-US" sz="1200" dirty="0">
              <a:solidFill>
                <a:srgbClr val="000000"/>
              </a:solidFill>
            </a:endParaRPr>
          </a:p>
          <a:p>
            <a:endParaRPr sz="1200" dirty="0">
              <a:solidFill>
                <a:srgbClr val="000000"/>
              </a:solidFill>
            </a:endParaRPr>
          </a:p>
          <a:p>
            <a:r>
              <a:rPr sz="1200" dirty="0">
                <a:solidFill>
                  <a:srgbClr val="000000"/>
                </a:solidFill>
              </a:rPr>
              <a:t>이 </a:t>
            </a:r>
            <a:r>
              <a:rPr sz="1200" dirty="0" err="1">
                <a:solidFill>
                  <a:srgbClr val="000000"/>
                </a:solidFill>
              </a:rPr>
              <a:t>구조에서는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단순히</a:t>
            </a:r>
            <a:r>
              <a:rPr sz="1200" dirty="0">
                <a:solidFill>
                  <a:srgbClr val="000000"/>
                </a:solidFill>
              </a:rPr>
              <a:t> "</a:t>
            </a:r>
            <a:r>
              <a:rPr sz="1200" dirty="0" err="1">
                <a:solidFill>
                  <a:srgbClr val="000000"/>
                </a:solidFill>
              </a:rPr>
              <a:t>전부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정상"이라고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예측해도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Accuracy가</a:t>
            </a:r>
            <a:r>
              <a:rPr sz="1200" dirty="0">
                <a:solidFill>
                  <a:srgbClr val="000000"/>
                </a:solidFill>
              </a:rPr>
              <a:t> 0.91 </a:t>
            </a:r>
            <a:r>
              <a:rPr sz="1200" dirty="0" err="1">
                <a:solidFill>
                  <a:srgbClr val="000000"/>
                </a:solidFill>
              </a:rPr>
              <a:t>이상이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나오므로</a:t>
            </a:r>
            <a:r>
              <a:rPr sz="1200" dirty="0">
                <a:solidFill>
                  <a:srgbClr val="000000"/>
                </a:solidFill>
              </a:rPr>
              <a:t>,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Accuracy만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보고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모델을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선택하면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실제로는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이상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ko-KR" altLang="en-US" sz="1200" dirty="0">
                <a:solidFill>
                  <a:srgbClr val="000000"/>
                </a:solidFill>
              </a:rPr>
              <a:t>데이터를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놓치는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위험한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모델을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고를</a:t>
            </a:r>
            <a:r>
              <a:rPr sz="1200" dirty="0">
                <a:solidFill>
                  <a:srgbClr val="000000"/>
                </a:solidFill>
              </a:rPr>
              <a:t> 수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ko-KR" altLang="en-US" sz="1200" dirty="0">
                <a:solidFill>
                  <a:srgbClr val="000000"/>
                </a:solidFill>
              </a:rPr>
              <a:t>있음</a:t>
            </a:r>
            <a:endParaRPr lang="en-US" sz="1200" dirty="0">
              <a:solidFill>
                <a:srgbClr val="000000"/>
              </a:solidFill>
            </a:endParaRPr>
          </a:p>
          <a:p>
            <a:endParaRPr sz="1200" dirty="0">
              <a:solidFill>
                <a:srgbClr val="000000"/>
              </a:solidFill>
            </a:endParaRPr>
          </a:p>
          <a:p>
            <a:r>
              <a:rPr sz="1200" dirty="0" err="1">
                <a:solidFill>
                  <a:srgbClr val="000000"/>
                </a:solidFill>
              </a:rPr>
              <a:t>실무에서는</a:t>
            </a:r>
            <a:r>
              <a:rPr sz="1200" dirty="0">
                <a:solidFill>
                  <a:srgbClr val="000000"/>
                </a:solidFill>
              </a:rPr>
              <a:t> 이 </a:t>
            </a:r>
            <a:r>
              <a:rPr sz="1200" dirty="0" err="1">
                <a:solidFill>
                  <a:srgbClr val="000000"/>
                </a:solidFill>
              </a:rPr>
              <a:t>비율을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기준으로</a:t>
            </a:r>
            <a:r>
              <a:rPr sz="1200" dirty="0">
                <a:solidFill>
                  <a:srgbClr val="000000"/>
                </a:solidFill>
              </a:rPr>
              <a:t> "</a:t>
            </a:r>
            <a:r>
              <a:rPr sz="1200" dirty="0" err="1">
                <a:solidFill>
                  <a:srgbClr val="000000"/>
                </a:solidFill>
              </a:rPr>
              <a:t>얼마나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많은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이상을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놓쳐도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되는지</a:t>
            </a:r>
            <a:r>
              <a:rPr sz="1200" dirty="0">
                <a:solidFill>
                  <a:srgbClr val="000000"/>
                </a:solidFill>
              </a:rPr>
              <a:t>"(</a:t>
            </a:r>
            <a:r>
              <a:rPr sz="1200" dirty="0" err="1">
                <a:solidFill>
                  <a:srgbClr val="000000"/>
                </a:solidFill>
              </a:rPr>
              <a:t>허용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가능한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미탐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비율</a:t>
            </a:r>
            <a:r>
              <a:rPr sz="1200" dirty="0">
                <a:solidFill>
                  <a:srgbClr val="000000"/>
                </a:solidFill>
              </a:rPr>
              <a:t>)를 </a:t>
            </a:r>
            <a:r>
              <a:rPr sz="1200" dirty="0" err="1">
                <a:solidFill>
                  <a:srgbClr val="000000"/>
                </a:solidFill>
              </a:rPr>
              <a:t>먼저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정하고</a:t>
            </a:r>
            <a:r>
              <a:rPr sz="1200" dirty="0">
                <a:solidFill>
                  <a:srgbClr val="000000"/>
                </a:solidFill>
              </a:rPr>
              <a:t>,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이를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맞추기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위해</a:t>
            </a:r>
            <a:r>
              <a:rPr sz="1200" dirty="0">
                <a:solidFill>
                  <a:srgbClr val="000000"/>
                </a:solidFill>
              </a:rPr>
              <a:t> Recall(1)·F1(1), </a:t>
            </a:r>
            <a:r>
              <a:rPr sz="1200" dirty="0" err="1">
                <a:solidFill>
                  <a:srgbClr val="000000"/>
                </a:solidFill>
              </a:rPr>
              <a:t>혼동행렬</a:t>
            </a:r>
            <a:r>
              <a:rPr sz="1200" dirty="0">
                <a:solidFill>
                  <a:srgbClr val="000000"/>
                </a:solidFill>
              </a:rPr>
              <a:t>(TP/TN/FP/FN)을 </a:t>
            </a:r>
            <a:r>
              <a:rPr sz="1200" dirty="0" err="1">
                <a:solidFill>
                  <a:srgbClr val="000000"/>
                </a:solidFill>
              </a:rPr>
              <a:t>중심으로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모델을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비교하는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것이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일반적</a:t>
            </a:r>
            <a:endParaRPr sz="1200" dirty="0">
              <a:solidFill>
                <a:srgbClr val="000000"/>
              </a:solidFill>
            </a:endParaRPr>
          </a:p>
        </p:txBody>
      </p:sp>
      <p:graphicFrame>
        <p:nvGraphicFramePr>
          <p:cNvPr id="8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270742"/>
              </p:ext>
            </p:extLst>
          </p:nvPr>
        </p:nvGraphicFramePr>
        <p:xfrm>
          <a:off x="3931920" y="2010982"/>
          <a:ext cx="4390044" cy="3009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2510B-3834-8419-8803-418290FD5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20B6AA-1AC5-8D3D-614B-20F7EDA18A53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 dirty="0">
                <a:solidFill>
                  <a:srgbClr val="FFFFFF"/>
                </a:solidFill>
              </a:rPr>
              <a:t>2. </a:t>
            </a:r>
            <a:r>
              <a:rPr lang="en-US" sz="2200" b="1" dirty="0">
                <a:solidFill>
                  <a:srgbClr val="FFFFFF"/>
                </a:solidFill>
              </a:rPr>
              <a:t>EDA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DCC3C-8398-9B2B-96F0-6C64C711E804}"/>
              </a:ext>
            </a:extLst>
          </p:cNvPr>
          <p:cNvSpPr txBox="1"/>
          <p:nvPr/>
        </p:nvSpPr>
        <p:spPr>
          <a:xfrm>
            <a:off x="640080" y="822960"/>
            <a:ext cx="81529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• </a:t>
            </a:r>
            <a:r>
              <a:rPr lang="ko-KR" altLang="en-US" sz="1200" dirty="0"/>
              <a:t>모델을 돌리기 전에</a:t>
            </a:r>
            <a:r>
              <a:rPr lang="en-US" altLang="ko-KR" sz="1200" dirty="0"/>
              <a:t>, Cloud Resource Usage Dataset</a:t>
            </a:r>
            <a:r>
              <a:rPr lang="ko-KR" altLang="en-US" sz="1200" dirty="0"/>
              <a:t>의 분포와 패턴을 먼저 </a:t>
            </a:r>
            <a:r>
              <a:rPr lang="ko-KR" altLang="en-US" sz="1200" dirty="0" err="1"/>
              <a:t>시각화하여</a:t>
            </a:r>
            <a:r>
              <a:rPr lang="ko-KR" altLang="en-US" sz="1200" dirty="0"/>
              <a:t> 데이터 상태를 점검</a:t>
            </a:r>
            <a:endParaRPr lang="en-US" altLang="ko-KR" sz="1200" dirty="0"/>
          </a:p>
          <a:p>
            <a:br>
              <a:rPr lang="ko-KR" altLang="en-US" sz="1200" dirty="0"/>
            </a:br>
            <a:r>
              <a:rPr lang="en-US" altLang="ko-KR" sz="1200" dirty="0"/>
              <a:t>• CPU / Memory / Disk I/O / Network I/O </a:t>
            </a:r>
            <a:r>
              <a:rPr lang="ko-KR" altLang="en-US" sz="1200" dirty="0"/>
              <a:t>각각의 분포와 상관관계를 확인하고</a:t>
            </a:r>
            <a:r>
              <a:rPr lang="en-US" altLang="ko-KR" sz="1200" dirty="0"/>
              <a:t>, </a:t>
            </a:r>
            <a:r>
              <a:rPr lang="ko-KR" altLang="en-US" sz="1200" dirty="0"/>
              <a:t>시간에 따른 부하 패턴을 함께 살펴보면서 이상치</a:t>
            </a:r>
            <a:r>
              <a:rPr lang="en-US" altLang="ko-KR" sz="1200" dirty="0"/>
              <a:t>, </a:t>
            </a:r>
            <a:r>
              <a:rPr lang="ko-KR" altLang="en-US" sz="1200" dirty="0"/>
              <a:t>왜곡</a:t>
            </a:r>
            <a:r>
              <a:rPr lang="en-US" altLang="ko-KR" sz="1200" dirty="0"/>
              <a:t>, </a:t>
            </a:r>
            <a:r>
              <a:rPr lang="ko-KR" altLang="en-US" sz="1200" dirty="0"/>
              <a:t>특정 시간대 쏠림 여부를 체크</a:t>
            </a:r>
            <a:endParaRPr lang="en-US" altLang="ko-KR" sz="1200" dirty="0"/>
          </a:p>
          <a:p>
            <a:br>
              <a:rPr lang="ko-KR" altLang="en-US" sz="1200" dirty="0"/>
            </a:br>
            <a:r>
              <a:rPr lang="en-US" altLang="ko-KR" sz="1200" dirty="0"/>
              <a:t>• </a:t>
            </a:r>
            <a:r>
              <a:rPr lang="ko-KR" altLang="en-US" sz="1200" dirty="0"/>
              <a:t>이 과정을 통해 단순 </a:t>
            </a:r>
            <a:r>
              <a:rPr lang="ko-KR" altLang="en-US" sz="1200" dirty="0" err="1"/>
              <a:t>임계값</a:t>
            </a:r>
            <a:r>
              <a:rPr lang="ko-KR" altLang="en-US" sz="1200" dirty="0"/>
              <a:t> 규칙만으로는 정상과 이상을 깔끔하게 나누기 어렵고</a:t>
            </a:r>
            <a:r>
              <a:rPr lang="en-US" altLang="ko-KR" sz="1200" dirty="0"/>
              <a:t>, </a:t>
            </a:r>
            <a:r>
              <a:rPr lang="ko-KR" altLang="en-US" sz="1200" dirty="0"/>
              <a:t>피처 간 비선형 관계를 반영할 수 있는 모델</a:t>
            </a:r>
            <a:r>
              <a:rPr lang="en-US" altLang="ko-KR" sz="1200" dirty="0"/>
              <a:t>(</a:t>
            </a:r>
            <a:r>
              <a:rPr lang="en-US" altLang="ko-KR" sz="1200" dirty="0" err="1"/>
              <a:t>RandomForest</a:t>
            </a:r>
            <a:r>
              <a:rPr lang="en-US" altLang="ko-KR" sz="1200" dirty="0"/>
              <a:t>)</a:t>
            </a:r>
            <a:r>
              <a:rPr lang="ko-KR" altLang="en-US" sz="1200" dirty="0"/>
              <a:t>이 필요하다고 판단됨</a:t>
            </a:r>
            <a:endParaRPr sz="1200" dirty="0">
              <a:solidFill>
                <a:srgbClr val="000000"/>
              </a:solidFill>
            </a:endParaRPr>
          </a:p>
        </p:txBody>
      </p:sp>
      <p:pic>
        <p:nvPicPr>
          <p:cNvPr id="6" name="Picture 3" descr="eda_hist.jpg">
            <a:extLst>
              <a:ext uri="{FF2B5EF4-FFF2-40B4-BE49-F238E27FC236}">
                <a16:creationId xmlns:a16="http://schemas.microsoft.com/office/drawing/2014/main" id="{91A3EAAC-D734-8C53-80B4-6C78FACAA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46455"/>
            <a:ext cx="1620000" cy="1292085"/>
          </a:xfrm>
          <a:prstGeom prst="rect">
            <a:avLst/>
          </a:prstGeom>
        </p:spPr>
      </p:pic>
      <p:pic>
        <p:nvPicPr>
          <p:cNvPr id="7" name="Picture 4" descr="eda_corr.jpg">
            <a:extLst>
              <a:ext uri="{FF2B5EF4-FFF2-40B4-BE49-F238E27FC236}">
                <a16:creationId xmlns:a16="http://schemas.microsoft.com/office/drawing/2014/main" id="{46B34092-D2BD-C9C5-B346-1695AD43E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61390"/>
            <a:ext cx="1620000" cy="1413945"/>
          </a:xfrm>
          <a:prstGeom prst="rect">
            <a:avLst/>
          </a:prstGeom>
        </p:spPr>
      </p:pic>
      <p:pic>
        <p:nvPicPr>
          <p:cNvPr id="8" name="Picture 5" descr="eda_cpu_time.jpg">
            <a:extLst>
              <a:ext uri="{FF2B5EF4-FFF2-40B4-BE49-F238E27FC236}">
                <a16:creationId xmlns:a16="http://schemas.microsoft.com/office/drawing/2014/main" id="{4420D509-910D-9603-4A0D-CFB70CF46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85" y="5539233"/>
            <a:ext cx="2520000" cy="9916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B05CD8-D838-B134-0862-758F932A1FD9}"/>
              </a:ext>
            </a:extLst>
          </p:cNvPr>
          <p:cNvSpPr txBox="1"/>
          <p:nvPr/>
        </p:nvSpPr>
        <p:spPr>
          <a:xfrm>
            <a:off x="2489375" y="2413877"/>
            <a:ext cx="49786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표</a:t>
            </a:r>
            <a:r>
              <a:rPr lang="en-US" altLang="ko-KR" sz="1000" b="1" dirty="0"/>
              <a:t>1)</a:t>
            </a:r>
            <a:br>
              <a:rPr lang="en-US" altLang="ko-KR" sz="1000" dirty="0"/>
            </a:br>
            <a:r>
              <a:rPr lang="ko-KR" altLang="en-US" sz="1000" dirty="0"/>
              <a:t>이 분포를 통해 데이터가 한쪽으로 심하게 치우쳐 있지 않고</a:t>
            </a:r>
            <a:r>
              <a:rPr lang="en-US" altLang="ko-KR" sz="1000" dirty="0"/>
              <a:t>, </a:t>
            </a:r>
            <a:r>
              <a:rPr lang="ko-KR" altLang="en-US" sz="1000" dirty="0"/>
              <a:t>이상치가 전체 학습을 크게 왜곡할 수준은 아니라는 점을 확인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7B9BC0-56C8-A3BB-205C-825239F5AD84}"/>
              </a:ext>
            </a:extLst>
          </p:cNvPr>
          <p:cNvSpPr txBox="1"/>
          <p:nvPr/>
        </p:nvSpPr>
        <p:spPr>
          <a:xfrm>
            <a:off x="590785" y="2207955"/>
            <a:ext cx="949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ko-KR" altLang="en-US" sz="1000" dirty="0">
                <a:solidFill>
                  <a:srgbClr val="000000"/>
                </a:solidFill>
              </a:rPr>
              <a:t>표</a:t>
            </a:r>
            <a:r>
              <a:rPr lang="en-US" altLang="ko-KR" sz="1200" dirty="0">
                <a:solidFill>
                  <a:srgbClr val="000000"/>
                </a:solidFill>
              </a:rPr>
              <a:t>1)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5A435D-B7B7-53BC-AA7A-FDBE0C66BC77}"/>
              </a:ext>
            </a:extLst>
          </p:cNvPr>
          <p:cNvSpPr txBox="1"/>
          <p:nvPr/>
        </p:nvSpPr>
        <p:spPr>
          <a:xfrm>
            <a:off x="640080" y="3797492"/>
            <a:ext cx="949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ko-KR" altLang="en-US" sz="1000" dirty="0">
                <a:solidFill>
                  <a:srgbClr val="000000"/>
                </a:solidFill>
              </a:rPr>
              <a:t>표</a:t>
            </a:r>
            <a:r>
              <a:rPr lang="en-US" altLang="ko-KR" sz="1000" dirty="0">
                <a:solidFill>
                  <a:srgbClr val="000000"/>
                </a:solidFill>
              </a:rPr>
              <a:t>2)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8ADC11-5BFA-134E-1EB4-32C6E4C72883}"/>
              </a:ext>
            </a:extLst>
          </p:cNvPr>
          <p:cNvSpPr txBox="1"/>
          <p:nvPr/>
        </p:nvSpPr>
        <p:spPr>
          <a:xfrm>
            <a:off x="2641775" y="4043713"/>
            <a:ext cx="49786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표</a:t>
            </a:r>
            <a:r>
              <a:rPr lang="en-US" altLang="ko-KR" sz="1000" b="1" dirty="0"/>
              <a:t>2)</a:t>
            </a:r>
            <a:br>
              <a:rPr lang="en-US" altLang="ko-KR" sz="1000" dirty="0"/>
            </a:br>
            <a:r>
              <a:rPr lang="en-US" altLang="ko-KR" sz="1000" dirty="0"/>
              <a:t>Disk I/O</a:t>
            </a:r>
            <a:r>
              <a:rPr lang="ko-KR" altLang="en-US" sz="1000" dirty="0"/>
              <a:t>와 </a:t>
            </a:r>
            <a:r>
              <a:rPr lang="en-US" altLang="ko-KR" sz="1000" dirty="0"/>
              <a:t>Memory Usage</a:t>
            </a:r>
            <a:r>
              <a:rPr lang="ko-KR" altLang="en-US" sz="1000" dirty="0"/>
              <a:t>는 함께 증가하는 경향</a:t>
            </a:r>
            <a:r>
              <a:rPr lang="en-US" altLang="ko-KR" sz="1000" dirty="0"/>
              <a:t>(</a:t>
            </a:r>
            <a:r>
              <a:rPr lang="ko-KR" altLang="en-US" sz="1000" dirty="0"/>
              <a:t>양의 상관관계</a:t>
            </a:r>
            <a:r>
              <a:rPr lang="en-US" altLang="ko-KR" sz="1000" dirty="0"/>
              <a:t>)</a:t>
            </a:r>
            <a:r>
              <a:rPr lang="ko-KR" altLang="en-US" sz="1000" dirty="0"/>
              <a:t>을 보이는 반면</a:t>
            </a:r>
            <a:r>
              <a:rPr lang="en-US" altLang="ko-KR" sz="1000" dirty="0"/>
              <a:t>, Network I/O</a:t>
            </a:r>
            <a:r>
              <a:rPr lang="ko-KR" altLang="en-US" sz="1000" dirty="0"/>
              <a:t>는 다른 피처에 비해 상대적으로 독립적인 패턴을 가지고 있음</a:t>
            </a:r>
            <a:endParaRPr lang="en-US" altLang="ko-KR" sz="1000" dirty="0"/>
          </a:p>
          <a:p>
            <a:br>
              <a:rPr lang="ko-KR" altLang="en-US" sz="1000" dirty="0"/>
            </a:br>
            <a:r>
              <a:rPr lang="ko-KR" altLang="en-US" sz="1000" dirty="0"/>
              <a:t>이 결과를 바탕으로</a:t>
            </a:r>
            <a:r>
              <a:rPr lang="en-US" altLang="ko-KR" sz="1000" dirty="0"/>
              <a:t>, </a:t>
            </a:r>
            <a:r>
              <a:rPr lang="ko-KR" altLang="en-US" sz="1000" dirty="0"/>
              <a:t>피처 간 상호작용이 존재하므로 단순 단일 지표 기준보다는 여러 피처를 동시에 처리하는 트리 기반 모델이 적합하다고 판단됨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64D394-2446-2AF6-0190-E3BB484549B4}"/>
              </a:ext>
            </a:extLst>
          </p:cNvPr>
          <p:cNvSpPr txBox="1"/>
          <p:nvPr/>
        </p:nvSpPr>
        <p:spPr>
          <a:xfrm>
            <a:off x="640080" y="5341144"/>
            <a:ext cx="9492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ko-KR" altLang="en-US" sz="1000" dirty="0">
                <a:solidFill>
                  <a:srgbClr val="000000"/>
                </a:solidFill>
              </a:rPr>
              <a:t>표</a:t>
            </a:r>
            <a:r>
              <a:rPr lang="en-US" altLang="ko-KR" sz="1000" dirty="0">
                <a:solidFill>
                  <a:srgbClr val="000000"/>
                </a:solidFill>
              </a:rPr>
              <a:t>3)</a:t>
            </a:r>
            <a:endParaRPr sz="1000" dirty="0">
              <a:solidFill>
                <a:srgbClr val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5F48E8-2A9E-1F38-827D-B021CE417076}"/>
              </a:ext>
            </a:extLst>
          </p:cNvPr>
          <p:cNvSpPr txBox="1"/>
          <p:nvPr/>
        </p:nvSpPr>
        <p:spPr>
          <a:xfrm>
            <a:off x="3342815" y="5587365"/>
            <a:ext cx="49786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표</a:t>
            </a:r>
            <a:r>
              <a:rPr lang="en-US" altLang="ko-KR" sz="1000" b="1" dirty="0"/>
              <a:t>3)</a:t>
            </a:r>
            <a:br>
              <a:rPr lang="en-US" altLang="ko-KR" sz="1000" dirty="0"/>
            </a:br>
            <a:r>
              <a:rPr lang="en-US" altLang="ko-KR" sz="1000" dirty="0"/>
              <a:t>Timestamp </a:t>
            </a:r>
            <a:r>
              <a:rPr lang="ko-KR" altLang="en-US" sz="1000" dirty="0"/>
              <a:t>기준으로 </a:t>
            </a:r>
            <a:r>
              <a:rPr lang="en-US" altLang="ko-KR" sz="1000" dirty="0"/>
              <a:t>CPU </a:t>
            </a:r>
            <a:r>
              <a:rPr lang="ko-KR" altLang="en-US" sz="1000" dirty="0"/>
              <a:t>사용량을 시간순으로 정렬하여</a:t>
            </a:r>
            <a:r>
              <a:rPr lang="en-US" altLang="ko-KR" sz="1000" dirty="0"/>
              <a:t>, </a:t>
            </a:r>
            <a:r>
              <a:rPr lang="ko-KR" altLang="en-US" sz="1000" dirty="0"/>
              <a:t>하루 전체 부하 패턴을 시계열로 확인</a:t>
            </a:r>
            <a:endParaRPr lang="en-US" altLang="ko-KR" sz="1000" dirty="0"/>
          </a:p>
          <a:p>
            <a:br>
              <a:rPr lang="ko-KR" altLang="en-US" sz="1000" dirty="0"/>
            </a:br>
            <a:r>
              <a:rPr lang="ko-KR" altLang="en-US" sz="1000" dirty="0"/>
              <a:t>특정 시간대에만 이상치가 집중적으로 몰려 있지는 않고</a:t>
            </a:r>
            <a:r>
              <a:rPr lang="en-US" altLang="ko-KR" sz="1000" dirty="0"/>
              <a:t>, </a:t>
            </a:r>
            <a:r>
              <a:rPr lang="ko-KR" altLang="en-US" sz="1000" dirty="0"/>
              <a:t>피크와 완만한 구간이 반복되는 일반적인 부하 패턴을 보임</a:t>
            </a:r>
            <a:endParaRPr sz="1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68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3</a:t>
            </a:r>
            <a:r>
              <a:rPr sz="2200" b="1" dirty="0">
                <a:solidFill>
                  <a:srgbClr val="FFFFFF"/>
                </a:solidFill>
              </a:rPr>
              <a:t>. </a:t>
            </a:r>
            <a:r>
              <a:rPr sz="2200" b="1" dirty="0" err="1">
                <a:solidFill>
                  <a:srgbClr val="FFFFFF"/>
                </a:solidFill>
              </a:rPr>
              <a:t>모델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선택과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의도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8638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• </a:t>
            </a:r>
            <a:r>
              <a:rPr lang="ko-KR" altLang="en-US" sz="1200" dirty="0"/>
              <a:t>앞선 </a:t>
            </a:r>
            <a:r>
              <a:rPr lang="en-US" altLang="ko-KR" sz="1200" dirty="0"/>
              <a:t>EDA </a:t>
            </a:r>
            <a:r>
              <a:rPr lang="ko-KR" altLang="en-US" sz="1200" dirty="0"/>
              <a:t>결과에서</a:t>
            </a:r>
            <a:r>
              <a:rPr lang="en-US" altLang="ko-KR" sz="1200" dirty="0"/>
              <a:t>, </a:t>
            </a:r>
            <a:r>
              <a:rPr lang="ko-KR" altLang="en-US" sz="1200" dirty="0"/>
              <a:t>단순 </a:t>
            </a:r>
            <a:r>
              <a:rPr lang="ko-KR" altLang="en-US" sz="1200" dirty="0" err="1"/>
              <a:t>임계값</a:t>
            </a:r>
            <a:r>
              <a:rPr lang="ko-KR" altLang="en-US" sz="1200" dirty="0"/>
              <a:t> 몇 개로는 정상과 이상을 깔끔하게 나누기 어렵고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CPU·Memory·Disk·Network</a:t>
            </a:r>
            <a:r>
              <a:rPr lang="en-US" altLang="ko-KR" sz="1200" dirty="0"/>
              <a:t> </a:t>
            </a:r>
            <a:r>
              <a:rPr lang="ko-KR" altLang="en-US" sz="1200" dirty="0"/>
              <a:t>사용량 사이에 </a:t>
            </a:r>
            <a:r>
              <a:rPr lang="ko-KR" altLang="en-US" sz="1200" dirty="0" err="1"/>
              <a:t>비선형적인</a:t>
            </a:r>
            <a:r>
              <a:rPr lang="ko-KR" altLang="en-US" sz="1200" dirty="0"/>
              <a:t> 관계와 상관성이 있다는 점을 확인</a:t>
            </a:r>
            <a:endParaRPr lang="en-US" altLang="ko-KR" sz="1200" dirty="0"/>
          </a:p>
          <a:p>
            <a:br>
              <a:rPr lang="ko-KR" altLang="en-US" sz="1200" dirty="0"/>
            </a:br>
            <a:r>
              <a:rPr lang="en-US" altLang="ko-KR" sz="1200" dirty="0"/>
              <a:t>• </a:t>
            </a:r>
            <a:r>
              <a:rPr lang="ko-KR" altLang="en-US" sz="1200" dirty="0"/>
              <a:t>이런 표형</a:t>
            </a:r>
            <a:r>
              <a:rPr lang="en-US" altLang="ko-KR" sz="1200" dirty="0"/>
              <a:t>(tabular) </a:t>
            </a:r>
            <a:r>
              <a:rPr lang="ko-KR" altLang="en-US" sz="1200" dirty="0"/>
              <a:t>데이터에서 수치형 지표와 </a:t>
            </a:r>
            <a:r>
              <a:rPr lang="en-US" altLang="ko-KR" sz="1200" dirty="0" err="1"/>
              <a:t>Workload_Type</a:t>
            </a:r>
            <a:r>
              <a:rPr lang="en-US" altLang="ko-KR" sz="1200" dirty="0"/>
              <a:t> </a:t>
            </a:r>
            <a:r>
              <a:rPr lang="ko-KR" altLang="en-US" sz="1200" dirty="0"/>
              <a:t>같은 범주형 정보가 함께 들어가는 구조이므로</a:t>
            </a:r>
            <a:r>
              <a:rPr lang="en-US" altLang="ko-KR" sz="1200" dirty="0"/>
              <a:t>, </a:t>
            </a:r>
            <a:r>
              <a:rPr lang="ko-KR" altLang="en-US" sz="1200" dirty="0"/>
              <a:t>여러 </a:t>
            </a:r>
            <a:r>
              <a:rPr lang="ko-KR" altLang="en-US" sz="1200" dirty="0" err="1"/>
              <a:t>결정트리를</a:t>
            </a:r>
            <a:r>
              <a:rPr lang="ko-KR" altLang="en-US" sz="1200" dirty="0"/>
              <a:t> 묶어 비선형 관계와 피처 조합을 잘 포착하면서도 변수 중요도를 통해 해석이 가능한 </a:t>
            </a:r>
            <a:r>
              <a:rPr lang="en-US" altLang="ko-KR" sz="1200" dirty="0" err="1"/>
              <a:t>RandomForest</a:t>
            </a:r>
            <a:r>
              <a:rPr lang="ko-KR" altLang="en-US" sz="1200" dirty="0"/>
              <a:t>를 기본 모델로 선택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79" y="3995926"/>
            <a:ext cx="8152938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</a:rPr>
              <a:t>• </a:t>
            </a:r>
            <a:r>
              <a:rPr lang="en-US" altLang="ko-KR" sz="1100" dirty="0" err="1">
                <a:solidFill>
                  <a:srgbClr val="000000"/>
                </a:solidFill>
              </a:rPr>
              <a:t>RandomForestClassifier</a:t>
            </a:r>
            <a:r>
              <a:rPr lang="ko-KR" altLang="en-US" sz="1100" dirty="0">
                <a:solidFill>
                  <a:srgbClr val="000000"/>
                </a:solidFill>
              </a:rPr>
              <a:t>는 여러 개의 </a:t>
            </a:r>
            <a:r>
              <a:rPr lang="ko-KR" altLang="en-US" sz="1100" dirty="0" err="1">
                <a:solidFill>
                  <a:srgbClr val="000000"/>
                </a:solidFill>
              </a:rPr>
              <a:t>결정트리를</a:t>
            </a:r>
            <a:r>
              <a:rPr lang="ko-KR" altLang="en-US" sz="1100" dirty="0">
                <a:solidFill>
                  <a:srgbClr val="000000"/>
                </a:solidFill>
              </a:rPr>
              <a:t> 서로 다른 데이터 조각에 학습시킨 뒤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</a:rPr>
              <a:t>다수결 투표로 최종 예측을 내는 트리 기반 앙상블 모델</a:t>
            </a:r>
            <a:endParaRPr lang="en-US" altLang="ko-KR" sz="1100" dirty="0">
              <a:solidFill>
                <a:srgbClr val="000000"/>
              </a:solidFill>
            </a:endParaRPr>
          </a:p>
          <a:p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• CPU / Memory / Disk I/O / Network I/O</a:t>
            </a:r>
            <a:r>
              <a:rPr lang="ko-KR" altLang="en-US" sz="1100" dirty="0">
                <a:solidFill>
                  <a:srgbClr val="000000"/>
                </a:solidFill>
              </a:rPr>
              <a:t>처럼 분포와 스케일이 </a:t>
            </a:r>
            <a:r>
              <a:rPr lang="ko-KR" altLang="en-US" sz="1100" dirty="0" err="1">
                <a:solidFill>
                  <a:srgbClr val="000000"/>
                </a:solidFill>
              </a:rPr>
              <a:t>제각각인</a:t>
            </a:r>
            <a:r>
              <a:rPr lang="ko-KR" altLang="en-US" sz="1100" dirty="0">
                <a:solidFill>
                  <a:srgbClr val="000000"/>
                </a:solidFill>
              </a:rPr>
              <a:t> 수치형 지표와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en-US" altLang="ko-KR" sz="1100" dirty="0" err="1">
                <a:solidFill>
                  <a:srgbClr val="000000"/>
                </a:solidFill>
              </a:rPr>
              <a:t>Workload_Type</a:t>
            </a:r>
            <a:r>
              <a:rPr lang="en-US" altLang="ko-KR" sz="1100" dirty="0">
                <a:solidFill>
                  <a:srgbClr val="000000"/>
                </a:solidFill>
              </a:rPr>
              <a:t> </a:t>
            </a:r>
            <a:r>
              <a:rPr lang="ko-KR" altLang="en-US" sz="1100" dirty="0">
                <a:solidFill>
                  <a:srgbClr val="000000"/>
                </a:solidFill>
              </a:rPr>
              <a:t>같은 범주형 피처가 섞인 표형</a:t>
            </a:r>
            <a:r>
              <a:rPr lang="en-US" altLang="ko-KR" sz="1100" dirty="0">
                <a:solidFill>
                  <a:srgbClr val="000000"/>
                </a:solidFill>
              </a:rPr>
              <a:t>(tabular) </a:t>
            </a:r>
            <a:r>
              <a:rPr lang="ko-KR" altLang="en-US" sz="1100" dirty="0">
                <a:solidFill>
                  <a:srgbClr val="000000"/>
                </a:solidFill>
              </a:rPr>
              <a:t>데이터에서 별도의 복잡한 스케일링 없이 비선형 경계를 잘 표현할 수 있다는 장점</a:t>
            </a:r>
            <a:endParaRPr lang="en-US" altLang="ko-KR" sz="1100" dirty="0">
              <a:solidFill>
                <a:srgbClr val="000000"/>
              </a:solidFill>
            </a:endParaRPr>
          </a:p>
          <a:p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• </a:t>
            </a:r>
            <a:r>
              <a:rPr lang="en-US" altLang="ko-KR" sz="1100" dirty="0" err="1">
                <a:solidFill>
                  <a:srgbClr val="000000"/>
                </a:solidFill>
              </a:rPr>
              <a:t>RandomForest</a:t>
            </a:r>
            <a:r>
              <a:rPr lang="ko-KR" altLang="en-US" sz="1100" dirty="0">
                <a:solidFill>
                  <a:srgbClr val="000000"/>
                </a:solidFill>
              </a:rPr>
              <a:t>는 필요할 경우 </a:t>
            </a:r>
            <a:r>
              <a:rPr lang="en-US" altLang="ko-KR" sz="1100" dirty="0" err="1">
                <a:solidFill>
                  <a:srgbClr val="000000"/>
                </a:solidFill>
              </a:rPr>
              <a:t>feature_importances</a:t>
            </a:r>
            <a:r>
              <a:rPr lang="en-US" altLang="ko-KR" sz="1100" dirty="0">
                <a:solidFill>
                  <a:srgbClr val="000000"/>
                </a:solidFill>
              </a:rPr>
              <a:t>_</a:t>
            </a:r>
            <a:r>
              <a:rPr lang="ko-KR" altLang="en-US" sz="1100" dirty="0">
                <a:solidFill>
                  <a:srgbClr val="000000"/>
                </a:solidFill>
              </a:rPr>
              <a:t>를 통해 “어떤 지표</a:t>
            </a:r>
            <a:r>
              <a:rPr lang="en-US" altLang="ko-KR" sz="1100" dirty="0">
                <a:solidFill>
                  <a:srgbClr val="000000"/>
                </a:solidFill>
              </a:rPr>
              <a:t>(</a:t>
            </a:r>
            <a:r>
              <a:rPr lang="ko-KR" altLang="en-US" sz="1100" dirty="0">
                <a:solidFill>
                  <a:srgbClr val="000000"/>
                </a:solidFill>
              </a:rPr>
              <a:t>예</a:t>
            </a:r>
            <a:r>
              <a:rPr lang="en-US" altLang="ko-KR" sz="1100" dirty="0">
                <a:solidFill>
                  <a:srgbClr val="000000"/>
                </a:solidFill>
              </a:rPr>
              <a:t>: </a:t>
            </a:r>
            <a:r>
              <a:rPr lang="en-US" altLang="ko-KR" sz="1100" dirty="0" err="1">
                <a:solidFill>
                  <a:srgbClr val="000000"/>
                </a:solidFill>
              </a:rPr>
              <a:t>CPU_Usage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en-US" altLang="ko-KR" sz="1100" dirty="0" err="1">
                <a:solidFill>
                  <a:srgbClr val="000000"/>
                </a:solidFill>
              </a:rPr>
              <a:t>Disk_IO</a:t>
            </a:r>
            <a:r>
              <a:rPr lang="en-US" altLang="ko-KR" sz="1100" dirty="0">
                <a:solidFill>
                  <a:srgbClr val="000000"/>
                </a:solidFill>
              </a:rPr>
              <a:t>)</a:t>
            </a:r>
            <a:r>
              <a:rPr lang="ko-KR" altLang="en-US" sz="1100" dirty="0">
                <a:solidFill>
                  <a:srgbClr val="000000"/>
                </a:solidFill>
              </a:rPr>
              <a:t>가 이상 탐지에 얼마나 </a:t>
            </a:r>
            <a:r>
              <a:rPr lang="ko-KR" altLang="en-US" sz="1100" dirty="0" err="1">
                <a:solidFill>
                  <a:srgbClr val="000000"/>
                </a:solidFill>
              </a:rPr>
              <a:t>기여하는지”를</a:t>
            </a:r>
            <a:r>
              <a:rPr lang="ko-KR" altLang="en-US" sz="1100" dirty="0">
                <a:solidFill>
                  <a:srgbClr val="000000"/>
                </a:solidFill>
              </a:rPr>
              <a:t> 확인할 수 있어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</a:rPr>
              <a:t>모델이 어떤 기준으로 이상을 판단하는지 해석하기에 비교적 용이함</a:t>
            </a:r>
            <a:r>
              <a:rPr lang="en-US" altLang="ko-KR" sz="1100" dirty="0">
                <a:solidFill>
                  <a:srgbClr val="000000"/>
                </a:solidFill>
              </a:rPr>
              <a:t>.</a:t>
            </a:r>
          </a:p>
          <a:p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• </a:t>
            </a:r>
            <a:r>
              <a:rPr lang="ko-KR" altLang="en-US" sz="1100" dirty="0">
                <a:solidFill>
                  <a:srgbClr val="000000"/>
                </a:solidFill>
              </a:rPr>
              <a:t>실무에서는 이렇게 나온 중요도 순위를 기준으로 </a:t>
            </a:r>
            <a:r>
              <a:rPr lang="en-US" altLang="ko-KR" sz="1100" dirty="0">
                <a:solidFill>
                  <a:srgbClr val="000000"/>
                </a:solidFill>
              </a:rPr>
              <a:t>CloudWatch </a:t>
            </a:r>
            <a:r>
              <a:rPr lang="ko-KR" altLang="en-US" sz="1100" dirty="0">
                <a:solidFill>
                  <a:srgbClr val="000000"/>
                </a:solidFill>
              </a:rPr>
              <a:t>대시보드에서 우선적으로 모니터링할 지표를 정하거나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</a:rPr>
              <a:t>특정 </a:t>
            </a:r>
            <a:r>
              <a:rPr lang="en-US" altLang="ko-KR" sz="1100" dirty="0" err="1">
                <a:solidFill>
                  <a:srgbClr val="000000"/>
                </a:solidFill>
              </a:rPr>
              <a:t>Workload_Type</a:t>
            </a:r>
            <a:r>
              <a:rPr lang="ko-KR" altLang="en-US" sz="1100" dirty="0">
                <a:solidFill>
                  <a:srgbClr val="000000"/>
                </a:solidFill>
              </a:rPr>
              <a:t>에 대해 “</a:t>
            </a:r>
            <a:r>
              <a:rPr lang="en-US" altLang="ko-KR" sz="1100" dirty="0">
                <a:solidFill>
                  <a:srgbClr val="000000"/>
                </a:solidFill>
              </a:rPr>
              <a:t>CPU </a:t>
            </a:r>
            <a:r>
              <a:rPr lang="ko-KR" altLang="en-US" sz="1100" dirty="0">
                <a:solidFill>
                  <a:srgbClr val="000000"/>
                </a:solidFill>
              </a:rPr>
              <a:t>피크 </a:t>
            </a:r>
            <a:r>
              <a:rPr lang="en-US" altLang="ko-KR" sz="1100" dirty="0">
                <a:solidFill>
                  <a:srgbClr val="000000"/>
                </a:solidFill>
              </a:rPr>
              <a:t>+ Disk IO </a:t>
            </a:r>
            <a:r>
              <a:rPr lang="ko-KR" altLang="en-US" sz="1100" dirty="0" err="1">
                <a:solidFill>
                  <a:srgbClr val="000000"/>
                </a:solidFill>
              </a:rPr>
              <a:t>급증”과</a:t>
            </a:r>
            <a:r>
              <a:rPr lang="ko-KR" altLang="en-US" sz="1100" dirty="0">
                <a:solidFill>
                  <a:srgbClr val="000000"/>
                </a:solidFill>
              </a:rPr>
              <a:t> 같은 패턴을 알람</a:t>
            </a:r>
            <a:r>
              <a:rPr lang="en-US" altLang="ko-KR" sz="1100" dirty="0">
                <a:solidFill>
                  <a:srgbClr val="000000"/>
                </a:solidFill>
              </a:rPr>
              <a:t>/</a:t>
            </a:r>
            <a:r>
              <a:rPr lang="ko-KR" altLang="en-US" sz="1100" dirty="0">
                <a:solidFill>
                  <a:srgbClr val="000000"/>
                </a:solidFill>
              </a:rPr>
              <a:t>룰로 옮기는 식으로 확장 적용 가능</a:t>
            </a:r>
            <a:endParaRPr lang="en-US" altLang="ko-KR" sz="1100" dirty="0">
              <a:solidFill>
                <a:srgbClr val="000000"/>
              </a:solidFill>
            </a:endParaRPr>
          </a:p>
          <a:p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• </a:t>
            </a:r>
            <a:r>
              <a:rPr lang="ko-KR" altLang="en-US" sz="1100" dirty="0">
                <a:solidFill>
                  <a:srgbClr val="000000"/>
                </a:solidFill>
              </a:rPr>
              <a:t>이상 비율이 약 </a:t>
            </a:r>
            <a:r>
              <a:rPr lang="en-US" altLang="ko-KR" sz="1100" dirty="0">
                <a:solidFill>
                  <a:srgbClr val="000000"/>
                </a:solidFill>
              </a:rPr>
              <a:t>8.7%</a:t>
            </a:r>
            <a:r>
              <a:rPr lang="ko-KR" altLang="en-US" sz="1100" dirty="0">
                <a:solidFill>
                  <a:srgbClr val="000000"/>
                </a:solidFill>
              </a:rPr>
              <a:t>로 낮은 불균형 데이터이기 때문에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en-US" altLang="ko-KR" sz="1100" dirty="0" err="1">
                <a:solidFill>
                  <a:srgbClr val="000000"/>
                </a:solidFill>
              </a:rPr>
              <a:t>class_weight</a:t>
            </a:r>
            <a:r>
              <a:rPr lang="en-US" altLang="ko-KR" sz="1100" dirty="0">
                <a:solidFill>
                  <a:srgbClr val="000000"/>
                </a:solidFill>
              </a:rPr>
              <a:t>='balanced'</a:t>
            </a:r>
            <a:r>
              <a:rPr lang="ko-KR" altLang="en-US" sz="1100" dirty="0">
                <a:solidFill>
                  <a:srgbClr val="000000"/>
                </a:solidFill>
              </a:rPr>
              <a:t>를 사용해 이상</a:t>
            </a:r>
            <a:r>
              <a:rPr lang="en-US" altLang="ko-KR" sz="1100" dirty="0">
                <a:solidFill>
                  <a:srgbClr val="000000"/>
                </a:solidFill>
              </a:rPr>
              <a:t>(1)</a:t>
            </a:r>
            <a:r>
              <a:rPr lang="ko-KR" altLang="en-US" sz="1100" dirty="0">
                <a:solidFill>
                  <a:srgbClr val="000000"/>
                </a:solidFill>
              </a:rPr>
              <a:t>을 잘못 예측했을 때 더 큰 </a:t>
            </a:r>
            <a:r>
              <a:rPr lang="ko-KR" altLang="en-US" sz="1100" dirty="0" err="1">
                <a:solidFill>
                  <a:srgbClr val="000000"/>
                </a:solidFill>
              </a:rPr>
              <a:t>패널티를</a:t>
            </a:r>
            <a:r>
              <a:rPr lang="ko-KR" altLang="en-US" sz="1100" dirty="0">
                <a:solidFill>
                  <a:srgbClr val="000000"/>
                </a:solidFill>
              </a:rPr>
              <a:t> 주도록 설정했습니다</a:t>
            </a:r>
            <a:r>
              <a:rPr lang="en-US" altLang="ko-KR" sz="1100" dirty="0">
                <a:solidFill>
                  <a:srgbClr val="000000"/>
                </a:solidFill>
              </a:rPr>
              <a:t>. </a:t>
            </a:r>
            <a:r>
              <a:rPr lang="ko-KR" altLang="en-US" sz="1100" dirty="0">
                <a:solidFill>
                  <a:srgbClr val="000000"/>
                </a:solidFill>
              </a:rPr>
              <a:t>덕분에 모델이 “거의 다 </a:t>
            </a:r>
            <a:r>
              <a:rPr lang="ko-KR" altLang="en-US" sz="1100" dirty="0" err="1">
                <a:solidFill>
                  <a:srgbClr val="000000"/>
                </a:solidFill>
              </a:rPr>
              <a:t>정상”만</a:t>
            </a:r>
            <a:r>
              <a:rPr lang="ko-KR" altLang="en-US" sz="1100" dirty="0">
                <a:solidFill>
                  <a:srgbClr val="000000"/>
                </a:solidFill>
              </a:rPr>
              <a:t> 예측하는 쪽으로 치우치는 것을 막고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</a:rPr>
              <a:t>이상 샘플을 적극적으로 잡도록 학습 방향을 유도</a:t>
            </a:r>
            <a:endParaRPr sz="11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613078"/>
              </p:ext>
            </p:extLst>
          </p:nvPr>
        </p:nvGraphicFramePr>
        <p:xfrm>
          <a:off x="640079" y="2125320"/>
          <a:ext cx="7863840" cy="1792551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471"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구분</a:t>
                      </a:r>
                      <a:endParaRPr sz="1000" b="1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코드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예시</a:t>
                      </a:r>
                      <a:endParaRPr sz="1000" b="1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471"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라이브러리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임포트</a:t>
                      </a:r>
                      <a:endParaRPr sz="1000" b="1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from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sklearn.ensemble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 import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RandomForestClassifier</a:t>
                      </a:r>
                      <a:endParaRPr lang="en-US" sz="1000" b="0" dirty="0">
                        <a:solidFill>
                          <a:srgbClr val="000000"/>
                        </a:solidFill>
                      </a:endParaRPr>
                    </a:p>
                    <a:p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from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sklearn.model_selection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 import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GridSearchCV</a:t>
                      </a:r>
                      <a:endParaRPr sz="1000" b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6"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모델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정의</a:t>
                      </a:r>
                      <a:endParaRPr sz="1000" b="1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</a:rPr>
                        <a:t>    model = </a:t>
                      </a:r>
                      <a:r>
                        <a:rPr lang="en-US" altLang="ko-KR" sz="1000" b="0" kern="1200" dirty="0" err="1">
                          <a:solidFill>
                            <a:schemeClr val="dk1"/>
                          </a:solidFill>
                          <a:effectLst/>
                        </a:rPr>
                        <a:t>RandomForestClassifier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</a:p>
                    <a:p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</a:rPr>
                        <a:t>        </a:t>
                      </a:r>
                      <a:r>
                        <a:rPr lang="en-US" altLang="ko-KR" sz="1000" b="0" kern="1200" dirty="0" err="1">
                          <a:solidFill>
                            <a:schemeClr val="dk1"/>
                          </a:solidFill>
                          <a:effectLst/>
                        </a:rPr>
                        <a:t>n_estimators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</a:rPr>
                        <a:t>=100,</a:t>
                      </a:r>
                    </a:p>
                    <a:p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</a:rPr>
                        <a:t>        </a:t>
                      </a:r>
                      <a:r>
                        <a:rPr lang="en-US" altLang="ko-KR" sz="1000" b="0" kern="1200" dirty="0" err="1">
                          <a:solidFill>
                            <a:schemeClr val="dk1"/>
                          </a:solidFill>
                          <a:effectLst/>
                        </a:rPr>
                        <a:t>random_state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</a:rPr>
                        <a:t>=RANDOM_STATE,</a:t>
                      </a:r>
                    </a:p>
                    <a:p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</a:rPr>
                        <a:t>        </a:t>
                      </a:r>
                      <a:r>
                        <a:rPr lang="en-US" altLang="ko-KR" sz="1000" b="0" kern="1200" dirty="0" err="1">
                          <a:solidFill>
                            <a:schemeClr val="dk1"/>
                          </a:solidFill>
                          <a:effectLst/>
                        </a:rPr>
                        <a:t>n_jobs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</a:rPr>
                        <a:t>=-1,</a:t>
                      </a:r>
                    </a:p>
                    <a:p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</a:rPr>
                        <a:t>        </a:t>
                      </a:r>
                      <a:r>
                        <a:rPr lang="en-US" altLang="ko-KR" sz="1000" b="0" kern="1200" dirty="0" err="1">
                          <a:solidFill>
                            <a:schemeClr val="dk1"/>
                          </a:solidFill>
                          <a:effectLst/>
                        </a:rPr>
                        <a:t>class_weight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</a:rPr>
                        <a:t>="balanced",</a:t>
                      </a:r>
                    </a:p>
                    <a:p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</a:rPr>
                        <a:t>    ) 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4</a:t>
            </a:r>
            <a:r>
              <a:rPr sz="2200" b="1" dirty="0">
                <a:solidFill>
                  <a:srgbClr val="FFFFFF"/>
                </a:solidFill>
              </a:rPr>
              <a:t>. </a:t>
            </a:r>
            <a:r>
              <a:rPr sz="2200" b="1" dirty="0" err="1">
                <a:solidFill>
                  <a:srgbClr val="FFFFFF"/>
                </a:solidFill>
              </a:rPr>
              <a:t>데이터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분리와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평가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기준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69871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 err="1">
                <a:solidFill>
                  <a:srgbClr val="000000"/>
                </a:solidFill>
              </a:rPr>
              <a:t>모델이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특정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기간·특정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패턴에만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과도하게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맞춰지지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않았는지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보기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위해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학습용</a:t>
            </a:r>
            <a:r>
              <a:rPr sz="1200" dirty="0">
                <a:solidFill>
                  <a:srgbClr val="000000"/>
                </a:solidFill>
              </a:rPr>
              <a:t>(Train)과 </a:t>
            </a:r>
            <a:r>
              <a:rPr sz="1200" dirty="0" err="1">
                <a:solidFill>
                  <a:srgbClr val="000000"/>
                </a:solidFill>
              </a:rPr>
              <a:t>평가용</a:t>
            </a:r>
            <a:r>
              <a:rPr sz="1200" dirty="0">
                <a:solidFill>
                  <a:srgbClr val="000000"/>
                </a:solidFill>
              </a:rPr>
              <a:t>(Test)을 </a:t>
            </a:r>
            <a:r>
              <a:rPr sz="1200" dirty="0" err="1">
                <a:solidFill>
                  <a:srgbClr val="000000"/>
                </a:solidFill>
              </a:rPr>
              <a:t>분리하고</a:t>
            </a:r>
            <a:r>
              <a:rPr sz="1200" dirty="0">
                <a:solidFill>
                  <a:srgbClr val="000000"/>
                </a:solidFill>
              </a:rPr>
              <a:t>,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sz="1200" dirty="0" err="1">
                <a:solidFill>
                  <a:srgbClr val="000000"/>
                </a:solidFill>
              </a:rPr>
              <a:t>이상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탐지에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적합한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평가지표를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명확히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정의한</a:t>
            </a:r>
            <a:r>
              <a:rPr sz="1200" dirty="0">
                <a:solidFill>
                  <a:srgbClr val="000000"/>
                </a:solidFill>
              </a:rPr>
              <a:t> 뒤 </a:t>
            </a:r>
            <a:r>
              <a:rPr sz="1200" dirty="0" err="1">
                <a:solidFill>
                  <a:srgbClr val="000000"/>
                </a:solidFill>
              </a:rPr>
              <a:t>이후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모든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결과를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같은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기준으로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비교</a:t>
            </a:r>
            <a:r>
              <a:rPr lang="ko-KR" altLang="en-US" sz="1200" dirty="0">
                <a:solidFill>
                  <a:srgbClr val="000000"/>
                </a:solidFill>
              </a:rPr>
              <a:t>함</a:t>
            </a:r>
            <a:r>
              <a:rPr lang="en-US" altLang="ko-KR" sz="1200" dirty="0">
                <a:solidFill>
                  <a:srgbClr val="000000"/>
                </a:solidFill>
              </a:rPr>
              <a:t>.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4029456"/>
            <a:ext cx="786384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</a:rPr>
              <a:t>• </a:t>
            </a:r>
            <a:r>
              <a:rPr lang="ko-KR" altLang="en-US" sz="1100" dirty="0">
                <a:solidFill>
                  <a:srgbClr val="000000"/>
                </a:solidFill>
              </a:rPr>
              <a:t>전체 데이터의 </a:t>
            </a:r>
            <a:r>
              <a:rPr lang="en-US" altLang="ko-KR" sz="1100" dirty="0">
                <a:solidFill>
                  <a:srgbClr val="000000"/>
                </a:solidFill>
              </a:rPr>
              <a:t>80%</a:t>
            </a:r>
            <a:r>
              <a:rPr lang="ko-KR" altLang="en-US" sz="1100" dirty="0">
                <a:solidFill>
                  <a:srgbClr val="000000"/>
                </a:solidFill>
              </a:rPr>
              <a:t>를 학습용</a:t>
            </a:r>
            <a:r>
              <a:rPr lang="en-US" altLang="ko-KR" sz="1100" dirty="0">
                <a:solidFill>
                  <a:srgbClr val="000000"/>
                </a:solidFill>
              </a:rPr>
              <a:t>(Train), 20%</a:t>
            </a:r>
            <a:r>
              <a:rPr lang="ko-KR" altLang="en-US" sz="1100" dirty="0">
                <a:solidFill>
                  <a:srgbClr val="000000"/>
                </a:solidFill>
              </a:rPr>
              <a:t>를 평가용</a:t>
            </a:r>
            <a:r>
              <a:rPr lang="en-US" altLang="ko-KR" sz="1100" dirty="0">
                <a:solidFill>
                  <a:srgbClr val="000000"/>
                </a:solidFill>
              </a:rPr>
              <a:t>(Test)</a:t>
            </a:r>
            <a:r>
              <a:rPr lang="ko-KR" altLang="en-US" sz="1100" dirty="0">
                <a:solidFill>
                  <a:srgbClr val="000000"/>
                </a:solidFill>
              </a:rPr>
              <a:t>으로 사용하고</a:t>
            </a:r>
            <a:r>
              <a:rPr lang="en-US" altLang="ko-KR" sz="1100" dirty="0">
                <a:solidFill>
                  <a:srgbClr val="000000"/>
                </a:solidFill>
              </a:rPr>
              <a:t>, stratify=y </a:t>
            </a:r>
            <a:r>
              <a:rPr lang="ko-KR" altLang="en-US" sz="1100" dirty="0">
                <a:solidFill>
                  <a:srgbClr val="000000"/>
                </a:solidFill>
              </a:rPr>
              <a:t>옵션으로 </a:t>
            </a:r>
            <a:r>
              <a:rPr lang="en-US" altLang="ko-KR" sz="1100" dirty="0">
                <a:solidFill>
                  <a:srgbClr val="000000"/>
                </a:solidFill>
              </a:rPr>
              <a:t>Train/Test </a:t>
            </a:r>
            <a:r>
              <a:rPr lang="ko-KR" altLang="en-US" sz="1100" dirty="0">
                <a:solidFill>
                  <a:srgbClr val="000000"/>
                </a:solidFill>
              </a:rPr>
              <a:t>양쪽에서 정상</a:t>
            </a:r>
            <a:r>
              <a:rPr lang="en-US" altLang="ko-KR" sz="1100" dirty="0">
                <a:solidFill>
                  <a:srgbClr val="000000"/>
                </a:solidFill>
              </a:rPr>
              <a:t>/</a:t>
            </a:r>
            <a:r>
              <a:rPr lang="ko-KR" altLang="en-US" sz="1100" dirty="0">
                <a:solidFill>
                  <a:srgbClr val="000000"/>
                </a:solidFill>
              </a:rPr>
              <a:t>이상 비율</a:t>
            </a:r>
            <a:r>
              <a:rPr lang="en-US" altLang="ko-KR" sz="1100" dirty="0">
                <a:solidFill>
                  <a:srgbClr val="000000"/>
                </a:solidFill>
              </a:rPr>
              <a:t>(</a:t>
            </a:r>
            <a:r>
              <a:rPr lang="ko-KR" altLang="en-US" sz="1100" dirty="0">
                <a:solidFill>
                  <a:srgbClr val="000000"/>
                </a:solidFill>
              </a:rPr>
              <a:t>약 </a:t>
            </a:r>
            <a:r>
              <a:rPr lang="en-US" altLang="ko-KR" sz="1100" dirty="0">
                <a:solidFill>
                  <a:srgbClr val="000000"/>
                </a:solidFill>
              </a:rPr>
              <a:t>91:9)</a:t>
            </a:r>
            <a:r>
              <a:rPr lang="ko-KR" altLang="en-US" sz="1100" dirty="0">
                <a:solidFill>
                  <a:srgbClr val="000000"/>
                </a:solidFill>
              </a:rPr>
              <a:t>을 동일하게 유지</a:t>
            </a:r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 → </a:t>
            </a:r>
            <a:r>
              <a:rPr lang="ko-KR" altLang="en-US" sz="1100" dirty="0">
                <a:solidFill>
                  <a:srgbClr val="000000"/>
                </a:solidFill>
              </a:rPr>
              <a:t>이렇게 하면 우연히 </a:t>
            </a:r>
            <a:r>
              <a:rPr lang="en-US" altLang="ko-KR" sz="1100" dirty="0">
                <a:solidFill>
                  <a:srgbClr val="000000"/>
                </a:solidFill>
              </a:rPr>
              <a:t>Train </a:t>
            </a:r>
            <a:r>
              <a:rPr lang="ko-KR" altLang="en-US" sz="1100" dirty="0">
                <a:solidFill>
                  <a:srgbClr val="000000"/>
                </a:solidFill>
              </a:rPr>
              <a:t>쪽에만 이상이 몰리거나 </a:t>
            </a:r>
            <a:r>
              <a:rPr lang="en-US" altLang="ko-KR" sz="1100" dirty="0">
                <a:solidFill>
                  <a:srgbClr val="000000"/>
                </a:solidFill>
              </a:rPr>
              <a:t>Test</a:t>
            </a:r>
            <a:r>
              <a:rPr lang="ko-KR" altLang="en-US" sz="1100" dirty="0">
                <a:solidFill>
                  <a:srgbClr val="000000"/>
                </a:solidFill>
              </a:rPr>
              <a:t>에 이상이 거의 없는 샘플이 만들어지는 상황을 줄일 수 있음</a:t>
            </a:r>
            <a:r>
              <a:rPr lang="en-US" altLang="ko-KR" sz="1100" dirty="0">
                <a:solidFill>
                  <a:srgbClr val="000000"/>
                </a:solidFill>
              </a:rPr>
              <a:t>.</a:t>
            </a:r>
          </a:p>
          <a:p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/>
              <a:t>• </a:t>
            </a:r>
            <a:r>
              <a:rPr lang="ko-KR" altLang="en-US" sz="1100" dirty="0"/>
              <a:t>모델이 </a:t>
            </a:r>
            <a:r>
              <a:rPr lang="en-US" altLang="ko-KR" sz="1100" dirty="0"/>
              <a:t>CPU/</a:t>
            </a:r>
            <a:r>
              <a:rPr lang="en-US" altLang="ko-KR" sz="1100" dirty="0" err="1"/>
              <a:t>Memory·Disk·Network</a:t>
            </a:r>
            <a:r>
              <a:rPr lang="en-US" altLang="ko-KR" sz="1100" dirty="0"/>
              <a:t> </a:t>
            </a:r>
            <a:r>
              <a:rPr lang="ko-KR" altLang="en-US" sz="1100" dirty="0"/>
              <a:t>등의 입력 피처로부터 </a:t>
            </a:r>
            <a:r>
              <a:rPr lang="en-US" altLang="ko-KR" sz="1100" dirty="0" err="1"/>
              <a:t>Anomaly_Label</a:t>
            </a:r>
            <a:r>
              <a:rPr lang="ko-KR" altLang="en-US" sz="1100" dirty="0"/>
              <a:t>을 예측하도록 하기 위해</a:t>
            </a:r>
            <a:r>
              <a:rPr lang="en-US" altLang="ko-KR" sz="1100" dirty="0"/>
              <a:t>, </a:t>
            </a:r>
            <a:r>
              <a:rPr lang="ko-KR" altLang="en-US" sz="1100" dirty="0"/>
              <a:t>학습에 사용되는 설명 변수</a:t>
            </a:r>
            <a:r>
              <a:rPr lang="en-US" altLang="ko-KR" sz="1100" dirty="0"/>
              <a:t>(X)</a:t>
            </a:r>
            <a:r>
              <a:rPr lang="ko-KR" altLang="en-US" sz="1100" dirty="0"/>
              <a:t>와 정답 역할을 하는 라벨</a:t>
            </a:r>
            <a:r>
              <a:rPr lang="en-US" altLang="ko-KR" sz="1100" dirty="0"/>
              <a:t>(y)</a:t>
            </a:r>
            <a:r>
              <a:rPr lang="ko-KR" altLang="en-US" sz="1100" dirty="0"/>
              <a:t>을 명확히 분리</a:t>
            </a:r>
            <a:endParaRPr lang="en-US" altLang="ko-KR" sz="1100" dirty="0">
              <a:solidFill>
                <a:srgbClr val="000000"/>
              </a:solidFill>
            </a:endParaRPr>
          </a:p>
          <a:p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• </a:t>
            </a:r>
            <a:r>
              <a:rPr lang="ko-KR" altLang="en-US" sz="1100" dirty="0">
                <a:solidFill>
                  <a:srgbClr val="000000"/>
                </a:solidFill>
              </a:rPr>
              <a:t>운영 관점에서는 “이상</a:t>
            </a:r>
            <a:r>
              <a:rPr lang="en-US" altLang="ko-KR" sz="1100" dirty="0">
                <a:solidFill>
                  <a:srgbClr val="000000"/>
                </a:solidFill>
              </a:rPr>
              <a:t>(1)</a:t>
            </a:r>
            <a:r>
              <a:rPr lang="ko-KR" altLang="en-US" sz="1100" dirty="0">
                <a:solidFill>
                  <a:srgbClr val="000000"/>
                </a:solidFill>
              </a:rPr>
              <a:t>을 얼마나 놓치지 </a:t>
            </a:r>
            <a:r>
              <a:rPr lang="ko-KR" altLang="en-US" sz="1100" dirty="0" err="1">
                <a:solidFill>
                  <a:srgbClr val="000000"/>
                </a:solidFill>
              </a:rPr>
              <a:t>않는가”가</a:t>
            </a:r>
            <a:r>
              <a:rPr lang="ko-KR" altLang="en-US" sz="1100" dirty="0">
                <a:solidFill>
                  <a:srgbClr val="000000"/>
                </a:solidFill>
              </a:rPr>
              <a:t> 더 중요하므로</a:t>
            </a:r>
            <a:r>
              <a:rPr lang="en-US" altLang="ko-KR" sz="1100" dirty="0">
                <a:solidFill>
                  <a:srgbClr val="000000"/>
                </a:solidFill>
              </a:rPr>
              <a:t>, Recall(1)·F1(1)</a:t>
            </a:r>
            <a:r>
              <a:rPr lang="ko-KR" altLang="en-US" sz="1100" dirty="0">
                <a:solidFill>
                  <a:srgbClr val="000000"/>
                </a:solidFill>
              </a:rPr>
              <a:t>을 핵심 지표로 사용</a:t>
            </a:r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 – Recall(1): </a:t>
            </a:r>
            <a:r>
              <a:rPr lang="ko-KR" altLang="en-US" sz="1100" dirty="0">
                <a:solidFill>
                  <a:srgbClr val="000000"/>
                </a:solidFill>
              </a:rPr>
              <a:t>실제 이상 중에서 모델이 잡아낸 비율</a:t>
            </a:r>
          </a:p>
          <a:p>
            <a:r>
              <a:rPr lang="ko-KR" altLang="en-US" sz="1100" dirty="0">
                <a:solidFill>
                  <a:srgbClr val="000000"/>
                </a:solidFill>
              </a:rPr>
              <a:t> </a:t>
            </a:r>
            <a:r>
              <a:rPr lang="en-US" altLang="ko-KR" sz="1100" dirty="0">
                <a:solidFill>
                  <a:srgbClr val="000000"/>
                </a:solidFill>
              </a:rPr>
              <a:t>– F1(1): </a:t>
            </a:r>
            <a:r>
              <a:rPr lang="ko-KR" altLang="en-US" sz="1100" dirty="0">
                <a:solidFill>
                  <a:srgbClr val="000000"/>
                </a:solidFill>
              </a:rPr>
              <a:t>이상에 대한 정밀도</a:t>
            </a:r>
            <a:r>
              <a:rPr lang="en-US" altLang="ko-KR" sz="1100" dirty="0">
                <a:solidFill>
                  <a:srgbClr val="000000"/>
                </a:solidFill>
              </a:rPr>
              <a:t>(Precision)</a:t>
            </a:r>
            <a:r>
              <a:rPr lang="ko-KR" altLang="en-US" sz="1100" dirty="0">
                <a:solidFill>
                  <a:srgbClr val="000000"/>
                </a:solidFill>
              </a:rPr>
              <a:t>와 </a:t>
            </a:r>
            <a:r>
              <a:rPr lang="ko-KR" altLang="en-US" sz="1100" dirty="0" err="1">
                <a:solidFill>
                  <a:srgbClr val="000000"/>
                </a:solidFill>
              </a:rPr>
              <a:t>재현율</a:t>
            </a:r>
            <a:r>
              <a:rPr lang="en-US" altLang="ko-KR" sz="1100" dirty="0">
                <a:solidFill>
                  <a:srgbClr val="000000"/>
                </a:solidFill>
              </a:rPr>
              <a:t>(Recall)</a:t>
            </a:r>
            <a:r>
              <a:rPr lang="ko-KR" altLang="en-US" sz="1100" dirty="0">
                <a:solidFill>
                  <a:srgbClr val="000000"/>
                </a:solidFill>
              </a:rPr>
              <a:t>을 함께 고려한 조화 평균</a:t>
            </a:r>
          </a:p>
          <a:p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• </a:t>
            </a:r>
            <a:r>
              <a:rPr lang="en-US" altLang="ko-KR" sz="1100" dirty="0" err="1">
                <a:solidFill>
                  <a:srgbClr val="000000"/>
                </a:solidFill>
              </a:rPr>
              <a:t>classification_report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en-US" altLang="ko-KR" sz="1100" dirty="0" err="1">
                <a:solidFill>
                  <a:srgbClr val="000000"/>
                </a:solidFill>
              </a:rPr>
              <a:t>confusion_matrix</a:t>
            </a:r>
            <a:r>
              <a:rPr lang="en-US" altLang="ko-KR" sz="1100" dirty="0">
                <a:solidFill>
                  <a:srgbClr val="000000"/>
                </a:solidFill>
              </a:rPr>
              <a:t>(TP/TN/FP/FN </a:t>
            </a:r>
            <a:r>
              <a:rPr lang="ko-KR" altLang="en-US" sz="1100" dirty="0">
                <a:solidFill>
                  <a:srgbClr val="000000"/>
                </a:solidFill>
              </a:rPr>
              <a:t>개수를 한눈에 보는 행렬</a:t>
            </a:r>
            <a:r>
              <a:rPr lang="en-US" altLang="ko-KR" sz="1100" dirty="0">
                <a:solidFill>
                  <a:srgbClr val="000000"/>
                </a:solidFill>
              </a:rPr>
              <a:t>), </a:t>
            </a:r>
            <a:r>
              <a:rPr lang="en-US" altLang="ko-KR" sz="1100" dirty="0" err="1">
                <a:solidFill>
                  <a:srgbClr val="000000"/>
                </a:solidFill>
              </a:rPr>
              <a:t>roc_auc_score</a:t>
            </a:r>
            <a:r>
              <a:rPr lang="en-US" altLang="ko-KR" sz="1100" dirty="0">
                <a:solidFill>
                  <a:srgbClr val="000000"/>
                </a:solidFill>
              </a:rPr>
              <a:t>(ROC </a:t>
            </a:r>
            <a:r>
              <a:rPr lang="ko-KR" altLang="en-US" sz="1100" dirty="0">
                <a:solidFill>
                  <a:srgbClr val="000000"/>
                </a:solidFill>
              </a:rPr>
              <a:t>곡선 아래 면적</a:t>
            </a:r>
            <a:r>
              <a:rPr lang="en-US" altLang="ko-KR" sz="1100" dirty="0">
                <a:solidFill>
                  <a:srgbClr val="000000"/>
                </a:solidFill>
              </a:rPr>
              <a:t>: </a:t>
            </a:r>
            <a:r>
              <a:rPr lang="ko-KR" altLang="en-US" sz="1100" dirty="0">
                <a:solidFill>
                  <a:srgbClr val="000000"/>
                </a:solidFill>
              </a:rPr>
              <a:t>다양한 </a:t>
            </a:r>
            <a:r>
              <a:rPr lang="ko-KR" altLang="en-US" sz="1100" dirty="0" err="1">
                <a:solidFill>
                  <a:srgbClr val="000000"/>
                </a:solidFill>
              </a:rPr>
              <a:t>임계값에서의</a:t>
            </a:r>
            <a:r>
              <a:rPr lang="ko-KR" altLang="en-US" sz="1100" dirty="0">
                <a:solidFill>
                  <a:srgbClr val="000000"/>
                </a:solidFill>
              </a:rPr>
              <a:t> </a:t>
            </a:r>
            <a:r>
              <a:rPr lang="en-US" altLang="ko-KR" sz="1100" dirty="0">
                <a:solidFill>
                  <a:srgbClr val="000000"/>
                </a:solidFill>
              </a:rPr>
              <a:t>TPR/FPR </a:t>
            </a:r>
            <a:r>
              <a:rPr lang="ko-KR" altLang="en-US" sz="1100" dirty="0">
                <a:solidFill>
                  <a:srgbClr val="000000"/>
                </a:solidFill>
              </a:rPr>
              <a:t>관계를 요약한 점수</a:t>
            </a:r>
            <a:r>
              <a:rPr lang="en-US" altLang="ko-KR" sz="1100" dirty="0">
                <a:solidFill>
                  <a:srgbClr val="000000"/>
                </a:solidFill>
              </a:rPr>
              <a:t>)</a:t>
            </a:r>
            <a:r>
              <a:rPr lang="ko-KR" altLang="en-US" sz="1100" dirty="0">
                <a:solidFill>
                  <a:srgbClr val="000000"/>
                </a:solidFill>
              </a:rPr>
              <a:t>를 함께 사용해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</a:rPr>
              <a:t>단일 숫자가 아니라 </a:t>
            </a:r>
            <a:r>
              <a:rPr lang="ko-KR" altLang="en-US" sz="1100" dirty="0" err="1">
                <a:solidFill>
                  <a:srgbClr val="000000"/>
                </a:solidFill>
              </a:rPr>
              <a:t>오분류</a:t>
            </a:r>
            <a:r>
              <a:rPr lang="ko-KR" altLang="en-US" sz="1100" dirty="0">
                <a:solidFill>
                  <a:srgbClr val="000000"/>
                </a:solidFill>
              </a:rPr>
              <a:t> 패턴과 </a:t>
            </a:r>
            <a:r>
              <a:rPr lang="ko-KR" altLang="en-US" sz="1100" dirty="0" err="1">
                <a:solidFill>
                  <a:srgbClr val="000000"/>
                </a:solidFill>
              </a:rPr>
              <a:t>임계값</a:t>
            </a:r>
            <a:r>
              <a:rPr lang="ko-KR" altLang="en-US" sz="1100" dirty="0">
                <a:solidFill>
                  <a:srgbClr val="000000"/>
                </a:solidFill>
              </a:rPr>
              <a:t> 변화까지 종합적으로 해석할 수 있도록 구성</a:t>
            </a:r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 – ROC(Receiver Operating Characteristic): </a:t>
            </a:r>
            <a:r>
              <a:rPr lang="ko-KR" altLang="en-US" sz="1100" dirty="0" err="1">
                <a:solidFill>
                  <a:srgbClr val="000000"/>
                </a:solidFill>
              </a:rPr>
              <a:t>임계값을</a:t>
            </a:r>
            <a:r>
              <a:rPr lang="ko-KR" altLang="en-US" sz="1100" dirty="0">
                <a:solidFill>
                  <a:srgbClr val="000000"/>
                </a:solidFill>
              </a:rPr>
              <a:t> 바꿔가며 거짓 </a:t>
            </a:r>
            <a:r>
              <a:rPr lang="ko-KR" altLang="en-US" sz="1100" dirty="0" err="1">
                <a:solidFill>
                  <a:srgbClr val="000000"/>
                </a:solidFill>
              </a:rPr>
              <a:t>양성률</a:t>
            </a:r>
            <a:r>
              <a:rPr lang="en-US" altLang="ko-KR" sz="1100" dirty="0">
                <a:solidFill>
                  <a:srgbClr val="000000"/>
                </a:solidFill>
              </a:rPr>
              <a:t>(FPR) </a:t>
            </a:r>
            <a:r>
              <a:rPr lang="ko-KR" altLang="en-US" sz="1100" dirty="0">
                <a:solidFill>
                  <a:srgbClr val="000000"/>
                </a:solidFill>
              </a:rPr>
              <a:t>대비 참 </a:t>
            </a:r>
            <a:r>
              <a:rPr lang="ko-KR" altLang="en-US" sz="1100" dirty="0" err="1">
                <a:solidFill>
                  <a:srgbClr val="000000"/>
                </a:solidFill>
              </a:rPr>
              <a:t>양성률</a:t>
            </a:r>
            <a:r>
              <a:rPr lang="en-US" altLang="ko-KR" sz="1100" dirty="0">
                <a:solidFill>
                  <a:srgbClr val="000000"/>
                </a:solidFill>
              </a:rPr>
              <a:t>(TPR)</a:t>
            </a:r>
            <a:r>
              <a:rPr lang="ko-KR" altLang="en-US" sz="1100" dirty="0">
                <a:solidFill>
                  <a:srgbClr val="000000"/>
                </a:solidFill>
              </a:rPr>
              <a:t>을 보는 곡선</a:t>
            </a:r>
            <a:endParaRPr sz="110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63352"/>
              </p:ext>
            </p:extLst>
          </p:nvPr>
        </p:nvGraphicFramePr>
        <p:xfrm>
          <a:off x="640080" y="1663392"/>
          <a:ext cx="7863840" cy="21945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코드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예시</a:t>
                      </a:r>
                      <a:endParaRPr sz="1000" b="1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입력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라벨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</a:rPr>
                        <a:t>분리</a:t>
                      </a:r>
                      <a:endParaRPr sz="1000" b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X = </a:t>
                      </a: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</a:rPr>
                        <a:t>pd.concat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([</a:t>
                      </a: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</a:rPr>
                        <a:t>df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[NUMERIC_FEATURE_COLS],</a:t>
                      </a:r>
                    </a:p>
                    <a:p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               </a:t>
                      </a: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</a:rPr>
                        <a:t>pd.get_dummies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</a:rPr>
                        <a:t>df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[CATEGORICAL_COLS], </a:t>
                      </a: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</a:rPr>
                        <a:t>drop_first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=True)], axis=1)</a:t>
                      </a:r>
                    </a:p>
                    <a:p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y = </a:t>
                      </a: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</a:rPr>
                        <a:t>df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["</a:t>
                      </a:r>
                      <a:r>
                        <a:rPr lang="en-US" altLang="ko-KR" sz="1000" b="0" dirty="0" err="1">
                          <a:solidFill>
                            <a:srgbClr val="000000"/>
                          </a:solidFill>
                        </a:rPr>
                        <a:t>Anomaly_Label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"]</a:t>
                      </a:r>
                      <a:endParaRPr sz="1000" b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Train/Test 분리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from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sklearn.model_selection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 import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train_test_split</a:t>
                      </a:r>
                      <a:endParaRPr lang="en-US" sz="1000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sz="1000" b="0" dirty="0">
                        <a:solidFill>
                          <a:srgbClr val="000000"/>
                        </a:solidFill>
                      </a:endParaRPr>
                    </a:p>
                    <a:p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X_train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X_test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y_train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y_test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 =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train_test_split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(</a:t>
                      </a:r>
                    </a:p>
                    <a:p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    X, y,</a:t>
                      </a:r>
                    </a:p>
                    <a:p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   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test_size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=0.2,</a:t>
                      </a:r>
                    </a:p>
                    <a:p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    </a:t>
                      </a:r>
                      <a:r>
                        <a:rPr lang="en-US" sz="1000" b="0" dirty="0" err="1">
                          <a:solidFill>
                            <a:srgbClr val="000000"/>
                          </a:solidFill>
                        </a:rPr>
                        <a:t>random_state</a:t>
                      </a:r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=42,</a:t>
                      </a:r>
                    </a:p>
                    <a:p>
                      <a:r>
                        <a:rPr lang="en-US" sz="1000" b="0" dirty="0">
                          <a:solidFill>
                            <a:srgbClr val="000000"/>
                          </a:solidFill>
                        </a:rPr>
                        <a:t>    stratify=y,  #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</a:rPr>
                        <a:t>정상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</a:rPr>
                        <a:t>이상 비율 유지</a:t>
                      </a:r>
                    </a:p>
                    <a:p>
                      <a:r>
                        <a:rPr lang="en-US" altLang="ko-KR" sz="1000" b="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sz="1000" b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5</a:t>
            </a:r>
            <a:r>
              <a:rPr sz="2200" b="1" dirty="0">
                <a:solidFill>
                  <a:srgbClr val="FFFFFF"/>
                </a:solidFill>
              </a:rPr>
              <a:t>. Baseline </a:t>
            </a:r>
            <a:r>
              <a:rPr sz="2200" b="1" dirty="0" err="1">
                <a:solidFill>
                  <a:srgbClr val="FFFFFF"/>
                </a:solidFill>
              </a:rPr>
              <a:t>학습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결과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1" y="82296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 err="1">
                <a:solidFill>
                  <a:srgbClr val="000000"/>
                </a:solidFill>
              </a:rPr>
              <a:t>최적화</a:t>
            </a:r>
            <a:r>
              <a:rPr sz="1200" dirty="0">
                <a:solidFill>
                  <a:srgbClr val="000000"/>
                </a:solidFill>
              </a:rPr>
              <a:t> 전 </a:t>
            </a:r>
            <a:r>
              <a:rPr sz="1200" dirty="0" err="1">
                <a:solidFill>
                  <a:srgbClr val="000000"/>
                </a:solidFill>
              </a:rPr>
              <a:t>기본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설정</a:t>
            </a:r>
            <a:r>
              <a:rPr sz="1200" dirty="0">
                <a:solidFill>
                  <a:srgbClr val="000000"/>
                </a:solidFill>
              </a:rPr>
              <a:t>(</a:t>
            </a:r>
            <a:r>
              <a:rPr sz="1200" dirty="0" err="1">
                <a:solidFill>
                  <a:srgbClr val="000000"/>
                </a:solidFill>
              </a:rPr>
              <a:t>RandomForest</a:t>
            </a:r>
            <a:r>
              <a:rPr sz="1200" dirty="0">
                <a:solidFill>
                  <a:srgbClr val="000000"/>
                </a:solidFill>
              </a:rPr>
              <a:t> + </a:t>
            </a:r>
            <a:r>
              <a:rPr sz="1200" dirty="0" err="1">
                <a:solidFill>
                  <a:srgbClr val="000000"/>
                </a:solidFill>
              </a:rPr>
              <a:t>class_weight</a:t>
            </a:r>
            <a:r>
              <a:rPr sz="1200" dirty="0">
                <a:solidFill>
                  <a:srgbClr val="000000"/>
                </a:solidFill>
              </a:rPr>
              <a:t>='balanced')</a:t>
            </a:r>
            <a:r>
              <a:rPr sz="1200" dirty="0" err="1">
                <a:solidFill>
                  <a:srgbClr val="000000"/>
                </a:solidFill>
              </a:rPr>
              <a:t>으로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학습한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Baseline_RF를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sz="1200" dirty="0">
                <a:solidFill>
                  <a:srgbClr val="000000"/>
                </a:solidFill>
              </a:rPr>
              <a:t>Test </a:t>
            </a:r>
            <a:r>
              <a:rPr sz="1200" dirty="0" err="1">
                <a:solidFill>
                  <a:srgbClr val="000000"/>
                </a:solidFill>
              </a:rPr>
              <a:t>데이터</a:t>
            </a:r>
            <a:r>
              <a:rPr sz="1200" dirty="0">
                <a:solidFill>
                  <a:srgbClr val="000000"/>
                </a:solidFill>
              </a:rPr>
              <a:t> 2,880건(</a:t>
            </a:r>
            <a:r>
              <a:rPr sz="1200" dirty="0" err="1">
                <a:solidFill>
                  <a:srgbClr val="000000"/>
                </a:solidFill>
              </a:rPr>
              <a:t>정상</a:t>
            </a:r>
            <a:r>
              <a:rPr sz="1200" dirty="0">
                <a:solidFill>
                  <a:srgbClr val="000000"/>
                </a:solidFill>
              </a:rPr>
              <a:t> 2,629 / </a:t>
            </a:r>
            <a:r>
              <a:rPr sz="1200" dirty="0" err="1">
                <a:solidFill>
                  <a:srgbClr val="000000"/>
                </a:solidFill>
              </a:rPr>
              <a:t>이상</a:t>
            </a:r>
            <a:r>
              <a:rPr sz="1200" dirty="0">
                <a:solidFill>
                  <a:srgbClr val="000000"/>
                </a:solidFill>
              </a:rPr>
              <a:t> 251)에 </a:t>
            </a:r>
            <a:r>
              <a:rPr sz="1200" dirty="0" err="1">
                <a:solidFill>
                  <a:srgbClr val="000000"/>
                </a:solidFill>
              </a:rPr>
              <a:t>적용하여</a:t>
            </a:r>
            <a:r>
              <a:rPr sz="1200" dirty="0">
                <a:solidFill>
                  <a:srgbClr val="000000"/>
                </a:solidFill>
              </a:rPr>
              <a:t>, </a:t>
            </a:r>
            <a:r>
              <a:rPr sz="1200" dirty="0" err="1">
                <a:solidFill>
                  <a:srgbClr val="000000"/>
                </a:solidFill>
              </a:rPr>
              <a:t>이후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비교의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기준이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되는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성능을</a:t>
            </a:r>
            <a:r>
              <a:rPr sz="1200" dirty="0">
                <a:solidFill>
                  <a:srgbClr val="000000"/>
                </a:solidFill>
              </a:rPr>
              <a:t> </a:t>
            </a:r>
            <a:r>
              <a:rPr sz="1200" dirty="0" err="1">
                <a:solidFill>
                  <a:srgbClr val="000000"/>
                </a:solidFill>
              </a:rPr>
              <a:t>먼저</a:t>
            </a:r>
            <a:r>
              <a:rPr sz="1200" dirty="0">
                <a:solidFill>
                  <a:srgbClr val="000000"/>
                </a:solidFill>
              </a:rPr>
              <a:t> 확</a:t>
            </a:r>
            <a:r>
              <a:rPr lang="ko-KR" altLang="en-US" sz="1200" dirty="0">
                <a:solidFill>
                  <a:srgbClr val="000000"/>
                </a:solidFill>
              </a:rPr>
              <a:t>인</a:t>
            </a:r>
            <a:r>
              <a:rPr sz="1200" dirty="0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326856"/>
              </p:ext>
            </p:extLst>
          </p:nvPr>
        </p:nvGraphicFramePr>
        <p:xfrm>
          <a:off x="640080" y="1774091"/>
          <a:ext cx="3291840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Precision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Recall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F1-score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338431"/>
              </p:ext>
            </p:extLst>
          </p:nvPr>
        </p:nvGraphicFramePr>
        <p:xfrm>
          <a:off x="4480559" y="1774091"/>
          <a:ext cx="3291840" cy="975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000000"/>
                          </a:solidFill>
                        </a:rPr>
                        <a:t>예측</a:t>
                      </a:r>
                      <a:r>
                        <a:rPr sz="1000" dirty="0">
                          <a:solidFill>
                            <a:srgbClr val="000000"/>
                          </a:solidFill>
                        </a:rPr>
                        <a:t>: </a:t>
                      </a:r>
                      <a:r>
                        <a:rPr sz="1000" dirty="0" err="1">
                          <a:solidFill>
                            <a:srgbClr val="000000"/>
                          </a:solidFill>
                        </a:rPr>
                        <a:t>정상</a:t>
                      </a:r>
                      <a:r>
                        <a:rPr sz="1000" dirty="0">
                          <a:solidFill>
                            <a:srgbClr val="000000"/>
                          </a:solidFill>
                        </a:rPr>
                        <a:t>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예측: 이상(1)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실제: 정상(0)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2,629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실제: 이상(1)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251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39" y="3438144"/>
            <a:ext cx="786384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</a:rPr>
              <a:t>• Baseline </a:t>
            </a:r>
            <a:r>
              <a:rPr lang="en-US" altLang="ko-KR" sz="1100" dirty="0" err="1">
                <a:solidFill>
                  <a:srgbClr val="000000"/>
                </a:solidFill>
              </a:rPr>
              <a:t>RandomForest</a:t>
            </a:r>
            <a:r>
              <a:rPr lang="en-US" altLang="ko-KR" sz="1100" dirty="0">
                <a:solidFill>
                  <a:srgbClr val="000000"/>
                </a:solidFill>
              </a:rPr>
              <a:t> </a:t>
            </a:r>
            <a:r>
              <a:rPr lang="ko-KR" altLang="en-US" sz="1100" dirty="0">
                <a:solidFill>
                  <a:srgbClr val="000000"/>
                </a:solidFill>
              </a:rPr>
              <a:t>모델은 </a:t>
            </a:r>
            <a:r>
              <a:rPr lang="en-US" altLang="ko-KR" sz="1100" dirty="0">
                <a:solidFill>
                  <a:srgbClr val="000000"/>
                </a:solidFill>
              </a:rPr>
              <a:t>Test </a:t>
            </a:r>
            <a:r>
              <a:rPr lang="ko-KR" altLang="en-US" sz="1100" dirty="0">
                <a:solidFill>
                  <a:srgbClr val="000000"/>
                </a:solidFill>
              </a:rPr>
              <a:t>데이터</a:t>
            </a:r>
            <a:r>
              <a:rPr lang="en-US" altLang="ko-KR" sz="1100" dirty="0">
                <a:solidFill>
                  <a:srgbClr val="000000"/>
                </a:solidFill>
              </a:rPr>
              <a:t>(</a:t>
            </a:r>
            <a:r>
              <a:rPr lang="ko-KR" altLang="en-US" sz="1100" dirty="0">
                <a:solidFill>
                  <a:srgbClr val="000000"/>
                </a:solidFill>
              </a:rPr>
              <a:t>정상 </a:t>
            </a:r>
            <a:r>
              <a:rPr lang="en-US" altLang="ko-KR" sz="1100" dirty="0">
                <a:solidFill>
                  <a:srgbClr val="000000"/>
                </a:solidFill>
              </a:rPr>
              <a:t>2,629</a:t>
            </a:r>
            <a:r>
              <a:rPr lang="ko-KR" altLang="en-US" sz="1100" dirty="0">
                <a:solidFill>
                  <a:srgbClr val="000000"/>
                </a:solidFill>
              </a:rPr>
              <a:t>건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</a:rPr>
              <a:t>이상 </a:t>
            </a:r>
            <a:r>
              <a:rPr lang="en-US" altLang="ko-KR" sz="1100" dirty="0">
                <a:solidFill>
                  <a:srgbClr val="000000"/>
                </a:solidFill>
              </a:rPr>
              <a:t>251</a:t>
            </a:r>
            <a:r>
              <a:rPr lang="ko-KR" altLang="en-US" sz="1100" dirty="0">
                <a:solidFill>
                  <a:srgbClr val="000000"/>
                </a:solidFill>
              </a:rPr>
              <a:t>건</a:t>
            </a:r>
            <a:r>
              <a:rPr lang="en-US" altLang="ko-KR" sz="1100" dirty="0">
                <a:solidFill>
                  <a:srgbClr val="000000"/>
                </a:solidFill>
              </a:rPr>
              <a:t>)</a:t>
            </a:r>
            <a:r>
              <a:rPr lang="ko-KR" altLang="en-US" sz="1100" dirty="0">
                <a:solidFill>
                  <a:srgbClr val="000000"/>
                </a:solidFill>
              </a:rPr>
              <a:t>에 대해 한 건도 틀리지 않고 모두 올바르게 분류</a:t>
            </a:r>
            <a:r>
              <a:rPr lang="en-US" altLang="ko-KR" sz="1100" dirty="0">
                <a:solidFill>
                  <a:srgbClr val="000000"/>
                </a:solidFill>
              </a:rPr>
              <a:t>.</a:t>
            </a:r>
          </a:p>
          <a:p>
            <a:r>
              <a:rPr lang="en-US" altLang="ko-KR" sz="1100" dirty="0">
                <a:solidFill>
                  <a:srgbClr val="000000"/>
                </a:solidFill>
              </a:rPr>
              <a:t> → Accuracy</a:t>
            </a:r>
            <a:r>
              <a:rPr lang="ko-KR" altLang="en-US" sz="1100" dirty="0">
                <a:solidFill>
                  <a:srgbClr val="000000"/>
                </a:solidFill>
              </a:rPr>
              <a:t>뿐 아니라 이상 클래스 기준 </a:t>
            </a:r>
            <a:r>
              <a:rPr lang="en-US" altLang="ko-KR" sz="1100" dirty="0">
                <a:solidFill>
                  <a:srgbClr val="000000"/>
                </a:solidFill>
              </a:rPr>
              <a:t>Precision·Recall·F1</a:t>
            </a:r>
            <a:r>
              <a:rPr lang="ko-KR" altLang="en-US" sz="1100" dirty="0">
                <a:solidFill>
                  <a:srgbClr val="000000"/>
                </a:solidFill>
              </a:rPr>
              <a:t>까지 모두 </a:t>
            </a:r>
            <a:r>
              <a:rPr lang="en-US" altLang="ko-KR" sz="1100" dirty="0">
                <a:solidFill>
                  <a:srgbClr val="000000"/>
                </a:solidFill>
              </a:rPr>
              <a:t>1.0</a:t>
            </a:r>
          </a:p>
          <a:p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• Confusion Matrix</a:t>
            </a:r>
            <a:r>
              <a:rPr lang="ko-KR" altLang="en-US" sz="1100" dirty="0">
                <a:solidFill>
                  <a:srgbClr val="000000"/>
                </a:solidFill>
              </a:rPr>
              <a:t>를 보면</a:t>
            </a:r>
            <a:r>
              <a:rPr lang="en-US" altLang="ko-KR" sz="1100" dirty="0">
                <a:solidFill>
                  <a:srgbClr val="000000"/>
                </a:solidFill>
              </a:rPr>
              <a:t>, 2,629</a:t>
            </a:r>
            <a:r>
              <a:rPr lang="ko-KR" altLang="en-US" sz="1100" dirty="0">
                <a:solidFill>
                  <a:srgbClr val="000000"/>
                </a:solidFill>
              </a:rPr>
              <a:t>건의 정상은 전부 정상으로</a:t>
            </a:r>
            <a:r>
              <a:rPr lang="en-US" altLang="ko-KR" sz="1100" dirty="0">
                <a:solidFill>
                  <a:srgbClr val="000000"/>
                </a:solidFill>
              </a:rPr>
              <a:t>, 251</a:t>
            </a:r>
            <a:r>
              <a:rPr lang="ko-KR" altLang="en-US" sz="1100" dirty="0">
                <a:solidFill>
                  <a:srgbClr val="000000"/>
                </a:solidFill>
              </a:rPr>
              <a:t>건의 이상은 전부 이상으로 분류되어 대각선만 채워진 형태를 보입니다</a:t>
            </a:r>
            <a:r>
              <a:rPr lang="en-US" altLang="ko-KR" sz="1100" dirty="0">
                <a:solidFill>
                  <a:srgbClr val="000000"/>
                </a:solidFill>
              </a:rPr>
              <a:t>.</a:t>
            </a:r>
          </a:p>
          <a:p>
            <a:r>
              <a:rPr lang="en-US" altLang="ko-KR" sz="1100" dirty="0">
                <a:solidFill>
                  <a:srgbClr val="000000"/>
                </a:solidFill>
              </a:rPr>
              <a:t> → </a:t>
            </a:r>
            <a:r>
              <a:rPr lang="ko-KR" altLang="en-US" sz="1100" dirty="0">
                <a:solidFill>
                  <a:srgbClr val="000000"/>
                </a:solidFill>
              </a:rPr>
              <a:t>쉽게 말해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</a:rPr>
              <a:t>이 데이터셋 범위 안에서는 모델이 정상</a:t>
            </a:r>
            <a:r>
              <a:rPr lang="en-US" altLang="ko-KR" sz="1100" dirty="0">
                <a:solidFill>
                  <a:srgbClr val="000000"/>
                </a:solidFill>
              </a:rPr>
              <a:t>/</a:t>
            </a:r>
            <a:r>
              <a:rPr lang="ko-KR" altLang="en-US" sz="1100" dirty="0">
                <a:solidFill>
                  <a:srgbClr val="000000"/>
                </a:solidFill>
              </a:rPr>
              <a:t>이상을 완전히 구분하고 있다는 뜻입니다</a:t>
            </a:r>
            <a:r>
              <a:rPr lang="en-US" altLang="ko-KR" sz="1100" dirty="0">
                <a:solidFill>
                  <a:srgbClr val="000000"/>
                </a:solidFill>
              </a:rPr>
              <a:t>.</a:t>
            </a:r>
          </a:p>
          <a:p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• </a:t>
            </a:r>
            <a:r>
              <a:rPr lang="ko-KR" altLang="en-US" sz="1100" dirty="0">
                <a:solidFill>
                  <a:srgbClr val="000000"/>
                </a:solidFill>
              </a:rPr>
              <a:t>이런 결과는 현재 데이터셋에서 정상 패턴과 이상 패턴이 피처 공간상 거의 완벽하게 떨어져 있어서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</a:rPr>
              <a:t>복잡한 튜닝 없이도 기본 </a:t>
            </a:r>
            <a:r>
              <a:rPr lang="en-US" altLang="ko-KR" sz="1100" dirty="0" err="1">
                <a:solidFill>
                  <a:srgbClr val="000000"/>
                </a:solidFill>
              </a:rPr>
              <a:t>RandomForest</a:t>
            </a:r>
            <a:r>
              <a:rPr lang="en-US" altLang="ko-KR" sz="1100" dirty="0">
                <a:solidFill>
                  <a:srgbClr val="000000"/>
                </a:solidFill>
              </a:rPr>
              <a:t> </a:t>
            </a:r>
            <a:r>
              <a:rPr lang="ko-KR" altLang="en-US" sz="1100" dirty="0">
                <a:solidFill>
                  <a:srgbClr val="000000"/>
                </a:solidFill>
              </a:rPr>
              <a:t>설정만으로 충분했다는 것을 의미합니다</a:t>
            </a:r>
            <a:r>
              <a:rPr lang="en-US" altLang="ko-KR" sz="1100" dirty="0">
                <a:solidFill>
                  <a:srgbClr val="000000"/>
                </a:solidFill>
              </a:rPr>
              <a:t>.</a:t>
            </a:r>
          </a:p>
          <a:p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• </a:t>
            </a:r>
            <a:r>
              <a:rPr lang="ko-KR" altLang="en-US" sz="1100" dirty="0">
                <a:solidFill>
                  <a:srgbClr val="000000"/>
                </a:solidFill>
              </a:rPr>
              <a:t>다만 실제 운영 환경의 </a:t>
            </a:r>
            <a:r>
              <a:rPr lang="en-US" altLang="ko-KR" sz="1100" dirty="0">
                <a:solidFill>
                  <a:srgbClr val="000000"/>
                </a:solidFill>
              </a:rPr>
              <a:t>CloudTrail·</a:t>
            </a:r>
            <a:r>
              <a:rPr lang="ko-KR" altLang="en-US" sz="1100" dirty="0">
                <a:solidFill>
                  <a:srgbClr val="000000"/>
                </a:solidFill>
              </a:rPr>
              <a:t>모니터링 로그에서는 노이즈와 예외 상황이 많기 때문에</a:t>
            </a:r>
            <a:r>
              <a:rPr lang="en-US" altLang="ko-KR" sz="1100" dirty="0">
                <a:solidFill>
                  <a:srgbClr val="000000"/>
                </a:solidFill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</a:rPr>
              <a:t>모든 지표가 </a:t>
            </a:r>
            <a:r>
              <a:rPr lang="en-US" altLang="ko-KR" sz="1100" dirty="0">
                <a:solidFill>
                  <a:srgbClr val="000000"/>
                </a:solidFill>
              </a:rPr>
              <a:t>1.0</a:t>
            </a:r>
            <a:r>
              <a:rPr lang="ko-KR" altLang="en-US" sz="1100" dirty="0">
                <a:solidFill>
                  <a:srgbClr val="000000"/>
                </a:solidFill>
              </a:rPr>
              <a:t>에 가깝게 나오는 경우는 거의 없음</a:t>
            </a:r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 → </a:t>
            </a:r>
            <a:r>
              <a:rPr lang="ko-KR" altLang="en-US" sz="1100" dirty="0">
                <a:solidFill>
                  <a:srgbClr val="000000"/>
                </a:solidFill>
              </a:rPr>
              <a:t>보통은 “이상 알람을 얼마나 줄일지</a:t>
            </a:r>
            <a:r>
              <a:rPr lang="en-US" altLang="ko-KR" sz="1100" dirty="0">
                <a:solidFill>
                  <a:srgbClr val="000000"/>
                </a:solidFill>
              </a:rPr>
              <a:t>(</a:t>
            </a:r>
            <a:r>
              <a:rPr lang="ko-KR" altLang="en-US" sz="1100" dirty="0" err="1">
                <a:solidFill>
                  <a:srgbClr val="000000"/>
                </a:solidFill>
              </a:rPr>
              <a:t>오탐</a:t>
            </a:r>
            <a:r>
              <a:rPr lang="ko-KR" altLang="en-US" sz="1100" dirty="0">
                <a:solidFill>
                  <a:srgbClr val="000000"/>
                </a:solidFill>
              </a:rPr>
              <a:t> 감소</a:t>
            </a:r>
            <a:r>
              <a:rPr lang="en-US" altLang="ko-KR" sz="1100" dirty="0">
                <a:solidFill>
                  <a:srgbClr val="000000"/>
                </a:solidFill>
              </a:rPr>
              <a:t>)”</a:t>
            </a:r>
            <a:r>
              <a:rPr lang="ko-KR" altLang="en-US" sz="1100" dirty="0">
                <a:solidFill>
                  <a:srgbClr val="000000"/>
                </a:solidFill>
              </a:rPr>
              <a:t>와 “이상을 얼마나 놓치지 않을지</a:t>
            </a:r>
            <a:r>
              <a:rPr lang="en-US" altLang="ko-KR" sz="1100" dirty="0">
                <a:solidFill>
                  <a:srgbClr val="000000"/>
                </a:solidFill>
              </a:rPr>
              <a:t>(</a:t>
            </a:r>
            <a:r>
              <a:rPr lang="ko-KR" altLang="en-US" sz="1100" dirty="0" err="1">
                <a:solidFill>
                  <a:srgbClr val="000000"/>
                </a:solidFill>
              </a:rPr>
              <a:t>미탐</a:t>
            </a:r>
            <a:r>
              <a:rPr lang="ko-KR" altLang="en-US" sz="1100" dirty="0">
                <a:solidFill>
                  <a:srgbClr val="000000"/>
                </a:solidFill>
              </a:rPr>
              <a:t> 감소</a:t>
            </a:r>
            <a:r>
              <a:rPr lang="en-US" altLang="ko-KR" sz="1100" dirty="0">
                <a:solidFill>
                  <a:srgbClr val="000000"/>
                </a:solidFill>
              </a:rPr>
              <a:t>)” </a:t>
            </a:r>
            <a:r>
              <a:rPr lang="ko-KR" altLang="en-US" sz="1100" dirty="0">
                <a:solidFill>
                  <a:srgbClr val="000000"/>
                </a:solidFill>
              </a:rPr>
              <a:t>사이에서 적절한 타협점</a:t>
            </a:r>
            <a:endParaRPr lang="en-US" altLang="ko-KR" sz="1100" dirty="0">
              <a:solidFill>
                <a:srgbClr val="000000"/>
              </a:solidFill>
            </a:endParaRPr>
          </a:p>
          <a:p>
            <a:endParaRPr lang="en-US" altLang="ko-KR" sz="1100" dirty="0">
              <a:solidFill>
                <a:srgbClr val="000000"/>
              </a:solidFill>
            </a:endParaRPr>
          </a:p>
          <a:p>
            <a:r>
              <a:rPr lang="en-US" altLang="ko-KR" sz="1100" dirty="0">
                <a:solidFill>
                  <a:srgbClr val="000000"/>
                </a:solidFill>
              </a:rPr>
              <a:t>• </a:t>
            </a:r>
            <a:r>
              <a:rPr lang="ko-KR" altLang="en-US" sz="1100" dirty="0">
                <a:solidFill>
                  <a:srgbClr val="000000"/>
                </a:solidFill>
              </a:rPr>
              <a:t>따라서 이번 결과는 “이 학습용 데이터셋 기준으로는 튜닝 여지가 거의 없을 정도로 문제가 </a:t>
            </a:r>
            <a:r>
              <a:rPr lang="ko-KR" altLang="en-US" sz="1100" dirty="0" err="1">
                <a:solidFill>
                  <a:srgbClr val="000000"/>
                </a:solidFill>
              </a:rPr>
              <a:t>단순하다”는</a:t>
            </a:r>
            <a:r>
              <a:rPr lang="ko-KR" altLang="en-US" sz="1100" dirty="0">
                <a:solidFill>
                  <a:srgbClr val="000000"/>
                </a:solidFill>
              </a:rPr>
              <a:t> 신호로 해석했고</a:t>
            </a:r>
            <a:r>
              <a:rPr lang="en-US" altLang="ko-KR" sz="1100" dirty="0">
                <a:solidFill>
                  <a:srgbClr val="000000"/>
                </a:solidFill>
              </a:rPr>
              <a:t>,</a:t>
            </a:r>
          </a:p>
          <a:p>
            <a:r>
              <a:rPr lang="en-US" altLang="ko-KR" sz="1100" dirty="0">
                <a:solidFill>
                  <a:srgbClr val="000000"/>
                </a:solidFill>
              </a:rPr>
              <a:t> </a:t>
            </a:r>
            <a:r>
              <a:rPr lang="ko-KR" altLang="en-US" sz="1100" dirty="0">
                <a:solidFill>
                  <a:srgbClr val="000000"/>
                </a:solidFill>
              </a:rPr>
              <a:t>향후 실제 </a:t>
            </a:r>
            <a:r>
              <a:rPr lang="en-US" altLang="ko-KR" sz="1100" dirty="0" err="1">
                <a:solidFill>
                  <a:srgbClr val="000000"/>
                </a:solidFill>
              </a:rPr>
              <a:t>CloudTrail·CloudWatch</a:t>
            </a:r>
            <a:r>
              <a:rPr lang="en-US" altLang="ko-KR" sz="1100" dirty="0">
                <a:solidFill>
                  <a:srgbClr val="000000"/>
                </a:solidFill>
              </a:rPr>
              <a:t> </a:t>
            </a:r>
            <a:r>
              <a:rPr lang="ko-KR" altLang="en-US" sz="1100" dirty="0">
                <a:solidFill>
                  <a:srgbClr val="000000"/>
                </a:solidFill>
              </a:rPr>
              <a:t>로그에 동일 파이프라인을 적용할 때는 별도의 검증과 추가 실험이 반드시 필요함</a:t>
            </a:r>
            <a:endParaRPr sz="11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6</a:t>
            </a:r>
            <a:r>
              <a:rPr sz="2200" b="1" dirty="0">
                <a:solidFill>
                  <a:srgbClr val="FFFFFF"/>
                </a:solidFill>
              </a:rPr>
              <a:t>. </a:t>
            </a:r>
            <a:r>
              <a:rPr sz="2200" b="1" dirty="0" err="1">
                <a:solidFill>
                  <a:srgbClr val="FFFFFF"/>
                </a:solidFill>
              </a:rPr>
              <a:t>GridSearchCV를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통한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모델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최적화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6139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000000"/>
                </a:solidFill>
              </a:rPr>
              <a:t>• Baseline </a:t>
            </a:r>
            <a:r>
              <a:rPr lang="en-US" altLang="ko-KR" sz="1200" dirty="0" err="1">
                <a:solidFill>
                  <a:srgbClr val="000000"/>
                </a:solidFill>
              </a:rPr>
              <a:t>RandomForest</a:t>
            </a:r>
            <a:r>
              <a:rPr lang="en-US" altLang="ko-KR" sz="1200" dirty="0">
                <a:solidFill>
                  <a:srgbClr val="000000"/>
                </a:solidFill>
              </a:rPr>
              <a:t> </a:t>
            </a:r>
            <a:r>
              <a:rPr lang="ko-KR" altLang="en-US" sz="1200" dirty="0">
                <a:solidFill>
                  <a:srgbClr val="000000"/>
                </a:solidFill>
              </a:rPr>
              <a:t>모델이 이미 </a:t>
            </a:r>
            <a:r>
              <a:rPr lang="en-US" altLang="ko-KR" sz="1200" dirty="0">
                <a:solidFill>
                  <a:srgbClr val="000000"/>
                </a:solidFill>
              </a:rPr>
              <a:t>Test </a:t>
            </a:r>
            <a:r>
              <a:rPr lang="ko-KR" altLang="en-US" sz="1200" dirty="0">
                <a:solidFill>
                  <a:srgbClr val="000000"/>
                </a:solidFill>
              </a:rPr>
              <a:t>셋에서 완전 분류에 가까운 성능을 보이지만</a:t>
            </a:r>
            <a:r>
              <a:rPr lang="en-US" altLang="ko-KR" sz="1200" dirty="0">
                <a:solidFill>
                  <a:srgbClr val="000000"/>
                </a:solidFill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</a:rPr>
              <a:t>실제 다른 데이터셋이나 운영 로그에 그대로 가져가 쓸 수 있도록 주요 </a:t>
            </a:r>
            <a:r>
              <a:rPr lang="ko-KR" altLang="en-US" sz="1200" dirty="0" err="1">
                <a:solidFill>
                  <a:srgbClr val="000000"/>
                </a:solidFill>
              </a:rPr>
              <a:t>하이퍼파라미터</a:t>
            </a:r>
            <a:r>
              <a:rPr lang="en-US" altLang="ko-KR" sz="1200" dirty="0">
                <a:solidFill>
                  <a:srgbClr val="000000"/>
                </a:solidFill>
              </a:rPr>
              <a:t>(</a:t>
            </a:r>
            <a:r>
              <a:rPr lang="ko-KR" altLang="en-US" sz="1200" dirty="0">
                <a:solidFill>
                  <a:srgbClr val="000000"/>
                </a:solidFill>
              </a:rPr>
              <a:t>트리 개수</a:t>
            </a:r>
            <a:r>
              <a:rPr lang="en-US" altLang="ko-KR" sz="1200" dirty="0">
                <a:solidFill>
                  <a:srgbClr val="000000"/>
                </a:solidFill>
              </a:rPr>
              <a:t>·</a:t>
            </a:r>
            <a:r>
              <a:rPr lang="ko-KR" altLang="en-US" sz="1200" dirty="0">
                <a:solidFill>
                  <a:srgbClr val="000000"/>
                </a:solidFill>
              </a:rPr>
              <a:t>깊이</a:t>
            </a:r>
            <a:r>
              <a:rPr lang="en-US" altLang="ko-KR" sz="1200" dirty="0">
                <a:solidFill>
                  <a:srgbClr val="000000"/>
                </a:solidFill>
              </a:rPr>
              <a:t>·</a:t>
            </a:r>
            <a:r>
              <a:rPr lang="ko-KR" altLang="en-US" sz="1200" dirty="0">
                <a:solidFill>
                  <a:srgbClr val="000000"/>
                </a:solidFill>
              </a:rPr>
              <a:t>분할 기준</a:t>
            </a:r>
            <a:r>
              <a:rPr lang="en-US" altLang="ko-KR" sz="1200" dirty="0">
                <a:solidFill>
                  <a:srgbClr val="000000"/>
                </a:solidFill>
              </a:rPr>
              <a:t>·</a:t>
            </a:r>
            <a:r>
              <a:rPr lang="ko-KR" altLang="en-US" sz="1200" dirty="0">
                <a:solidFill>
                  <a:srgbClr val="000000"/>
                </a:solidFill>
              </a:rPr>
              <a:t>리프 최소 표본 수</a:t>
            </a:r>
            <a:r>
              <a:rPr lang="en-US" altLang="ko-KR" sz="1200" dirty="0">
                <a:solidFill>
                  <a:srgbClr val="000000"/>
                </a:solidFill>
              </a:rPr>
              <a:t>)</a:t>
            </a:r>
            <a:r>
              <a:rPr lang="ko-KR" altLang="en-US" sz="1200" dirty="0">
                <a:solidFill>
                  <a:srgbClr val="000000"/>
                </a:solidFill>
              </a:rPr>
              <a:t>를 </a:t>
            </a:r>
            <a:r>
              <a:rPr lang="en-US" altLang="ko-KR" sz="1200" dirty="0" err="1">
                <a:solidFill>
                  <a:srgbClr val="000000"/>
                </a:solidFill>
              </a:rPr>
              <a:t>GridSearchCV</a:t>
            </a:r>
            <a:r>
              <a:rPr lang="ko-KR" altLang="en-US" sz="1200" dirty="0">
                <a:solidFill>
                  <a:srgbClr val="000000"/>
                </a:solidFill>
              </a:rPr>
              <a:t>로 체계적으로 탐색을 하였음</a:t>
            </a:r>
            <a:r>
              <a:rPr lang="en-US" altLang="ko-KR" sz="1200" dirty="0">
                <a:solidFill>
                  <a:srgbClr val="000000"/>
                </a:solidFill>
              </a:rPr>
              <a:t>.</a:t>
            </a:r>
          </a:p>
          <a:p>
            <a:endParaRPr lang="en-US" altLang="ko-KR" sz="1200" dirty="0">
              <a:solidFill>
                <a:srgbClr val="000000"/>
              </a:solidFill>
            </a:endParaRPr>
          </a:p>
          <a:p>
            <a:r>
              <a:rPr lang="en-US" altLang="ko-KR" sz="1200" dirty="0">
                <a:solidFill>
                  <a:srgbClr val="000000"/>
                </a:solidFill>
              </a:rPr>
              <a:t>-&gt; </a:t>
            </a:r>
            <a:r>
              <a:rPr lang="en-US" altLang="ko-KR" sz="1200" dirty="0" err="1"/>
              <a:t>GridSearchCV</a:t>
            </a:r>
            <a:r>
              <a:rPr lang="en-US" altLang="ko-KR" sz="1200" dirty="0"/>
              <a:t> : </a:t>
            </a:r>
            <a:r>
              <a:rPr lang="ko-KR" altLang="en-US" sz="1200" dirty="0"/>
              <a:t>여러 </a:t>
            </a:r>
            <a:r>
              <a:rPr lang="ko-KR" altLang="en-US" sz="1200" dirty="0" err="1"/>
              <a:t>하이퍼파라미터</a:t>
            </a:r>
            <a:r>
              <a:rPr lang="ko-KR" altLang="en-US" sz="1200" dirty="0"/>
              <a:t> 조합을 격자 형태로 만들고</a:t>
            </a:r>
            <a:r>
              <a:rPr lang="en-US" altLang="ko-KR" sz="1200" dirty="0"/>
              <a:t>, </a:t>
            </a:r>
            <a:r>
              <a:rPr lang="ko-KR" altLang="en-US" sz="1200" dirty="0"/>
              <a:t>각 조합을 교차검증으로 평가해 최적 조합을 골라주는 함수</a:t>
            </a:r>
            <a:endParaRPr lang="en-US" altLang="ko-KR" sz="1200" dirty="0">
              <a:solidFill>
                <a:srgbClr val="000000"/>
              </a:solidFill>
            </a:endParaRPr>
          </a:p>
          <a:p>
            <a:endParaRPr lang="en-US" altLang="ko-KR" sz="1200" dirty="0">
              <a:solidFill>
                <a:srgbClr val="000000"/>
              </a:solidFill>
            </a:endParaRPr>
          </a:p>
          <a:p>
            <a:r>
              <a:rPr lang="en-US" altLang="ko-KR" sz="1200" dirty="0"/>
              <a:t>• </a:t>
            </a:r>
            <a:r>
              <a:rPr lang="en-US" altLang="ko-KR" sz="1200" dirty="0" err="1"/>
              <a:t>GridSearchCV</a:t>
            </a:r>
            <a:r>
              <a:rPr lang="ko-KR" altLang="en-US" sz="1200" dirty="0"/>
              <a:t>에서는 </a:t>
            </a:r>
            <a:r>
              <a:rPr lang="en-US" altLang="ko-KR" sz="1200" dirty="0"/>
              <a:t>scoring="f1"</a:t>
            </a:r>
            <a:r>
              <a:rPr lang="ko-KR" altLang="en-US" sz="1200" dirty="0"/>
              <a:t>을 사용해</a:t>
            </a:r>
            <a:r>
              <a:rPr lang="en-US" altLang="ko-KR" sz="1200" dirty="0"/>
              <a:t>, Accuracy </a:t>
            </a:r>
            <a:r>
              <a:rPr lang="ko-KR" altLang="en-US" sz="1200" dirty="0"/>
              <a:t>대신 “이상</a:t>
            </a:r>
            <a:r>
              <a:rPr lang="en-US" altLang="ko-KR" sz="1200" dirty="0"/>
              <a:t>(1)</a:t>
            </a:r>
            <a:r>
              <a:rPr lang="ko-KR" altLang="en-US" sz="1200" dirty="0"/>
              <a:t>에 대한 </a:t>
            </a:r>
            <a:r>
              <a:rPr lang="en-US" altLang="ko-KR" sz="1200" dirty="0"/>
              <a:t>Precision</a:t>
            </a:r>
            <a:r>
              <a:rPr lang="ko-KR" altLang="en-US" sz="1200" dirty="0"/>
              <a:t>과 </a:t>
            </a:r>
            <a:r>
              <a:rPr lang="en-US" altLang="ko-KR" sz="1200" dirty="0"/>
              <a:t>Recall</a:t>
            </a:r>
            <a:r>
              <a:rPr lang="ko-KR" altLang="en-US" sz="1200" dirty="0"/>
              <a:t>을 동시에 높여주는 </a:t>
            </a:r>
            <a:r>
              <a:rPr lang="ko-KR" altLang="en-US" sz="1200" dirty="0" err="1"/>
              <a:t>조합”을</a:t>
            </a:r>
            <a:r>
              <a:rPr lang="ko-KR" altLang="en-US" sz="1200" dirty="0"/>
              <a:t> 고르도록 했습니다</a:t>
            </a:r>
            <a:r>
              <a:rPr lang="en-US" altLang="ko-KR" sz="1200" dirty="0"/>
              <a:t>. (</a:t>
            </a:r>
            <a:r>
              <a:rPr lang="ko-KR" altLang="en-US" sz="1200" dirty="0"/>
              <a:t>이상 탐지 성능을 기준으로 </a:t>
            </a:r>
            <a:r>
              <a:rPr lang="ko-KR" altLang="en-US" sz="1200" dirty="0" err="1"/>
              <a:t>하이퍼파라미터를</a:t>
            </a:r>
            <a:r>
              <a:rPr lang="ko-KR" altLang="en-US" sz="1200" dirty="0"/>
              <a:t> 튜닝</a:t>
            </a:r>
            <a:r>
              <a:rPr lang="en-US" altLang="ko-KR" sz="1200" dirty="0"/>
              <a:t>)</a:t>
            </a:r>
            <a:endParaRPr lang="en-US" altLang="ko-KR" sz="1200" dirty="0">
              <a:solidFill>
                <a:srgbClr val="0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548141"/>
              </p:ext>
            </p:extLst>
          </p:nvPr>
        </p:nvGraphicFramePr>
        <p:xfrm>
          <a:off x="640080" y="2988132"/>
          <a:ext cx="3291840" cy="1371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파라미터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탐색 값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예시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n_estimators</a:t>
                      </a:r>
                      <a:r>
                        <a:rPr lang="en-US" sz="11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[100, 200]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532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max_depth</a:t>
                      </a:r>
                      <a:r>
                        <a:rPr lang="en-US" sz="11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[None, 5, 10]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min_samples_split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[2, 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min_samples_leaf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[1, 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05144"/>
              </p:ext>
            </p:extLst>
          </p:nvPr>
        </p:nvGraphicFramePr>
        <p:xfrm>
          <a:off x="640080" y="4601629"/>
          <a:ext cx="3291840" cy="1554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값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예시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best_n_estimators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4013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best_max_depth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None (</a:t>
                      </a:r>
                      <a:r>
                        <a:rPr lang="ko-KR" altLang="en-US" sz="1100"/>
                        <a:t>제한 없음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best_min_samples_split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best_min_samples_leaf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best_cv_F1 (</a:t>
                      </a:r>
                      <a:r>
                        <a:rPr lang="ko-KR" altLang="en-US" sz="1100"/>
                        <a:t>이상 기준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4A981ED-AA04-F725-4651-030E323F7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745678"/>
              </p:ext>
            </p:extLst>
          </p:nvPr>
        </p:nvGraphicFramePr>
        <p:xfrm>
          <a:off x="4447032" y="2961564"/>
          <a:ext cx="3017521" cy="237352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017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688"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000000"/>
                          </a:solidFill>
                        </a:rPr>
                        <a:t>코드</a:t>
                      </a:r>
                      <a:r>
                        <a:rPr sz="1000" b="1" dirty="0">
                          <a:solidFill>
                            <a:srgbClr val="000000"/>
                          </a:solidFill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6"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from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sklearn.model_selection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 import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GridSearchCV</a:t>
                      </a:r>
                      <a:endParaRPr lang="en-US" altLang="ko-KR" sz="100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altLang="ko-KR" sz="1000" dirty="0">
                        <a:solidFill>
                          <a:srgbClr val="000000"/>
                        </a:solidFill>
                      </a:endParaRPr>
                    </a:p>
                    <a:p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grid =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GridSearchCV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(</a:t>
                      </a:r>
                    </a:p>
                    <a:p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    estimator=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base_model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,</a:t>
                      </a:r>
                    </a:p>
                    <a:p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   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param_grid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=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param_grid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,</a:t>
                      </a:r>
                    </a:p>
                    <a:p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    cv=3,</a:t>
                      </a:r>
                    </a:p>
                    <a:p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    scoring="f1",</a:t>
                      </a:r>
                    </a:p>
                    <a:p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   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n_jobs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=-1,</a:t>
                      </a:r>
                    </a:p>
                    <a:p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  <a:p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grid.fit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X_train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y_train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  <a:p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best_model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 =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</a:rPr>
                        <a:t>grid.best_estimator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</a:rPr>
                        <a:t>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7</a:t>
            </a:r>
            <a:r>
              <a:rPr sz="2200" b="1" dirty="0">
                <a:solidFill>
                  <a:srgbClr val="FFFFFF"/>
                </a:solidFill>
              </a:rPr>
              <a:t>. </a:t>
            </a:r>
            <a:r>
              <a:rPr sz="2200" b="1" dirty="0" err="1">
                <a:solidFill>
                  <a:srgbClr val="FFFFFF"/>
                </a:solidFill>
              </a:rPr>
              <a:t>최적화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전·후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성능</a:t>
            </a:r>
            <a:r>
              <a:rPr sz="2200" b="1" dirty="0">
                <a:solidFill>
                  <a:srgbClr val="FFFFFF"/>
                </a:solidFill>
              </a:rPr>
              <a:t> </a:t>
            </a:r>
            <a:r>
              <a:rPr sz="2200" b="1" dirty="0" err="1">
                <a:solidFill>
                  <a:srgbClr val="FFFFFF"/>
                </a:solidFill>
              </a:rPr>
              <a:t>비교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863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Baseline_RF</a:t>
            </a:r>
            <a:r>
              <a:rPr lang="ko-KR" altLang="en-US" sz="1200" dirty="0"/>
              <a:t>와 </a:t>
            </a:r>
            <a:r>
              <a:rPr lang="en-US" altLang="ko-KR" sz="1200" dirty="0" err="1"/>
              <a:t>GridSearchCV</a:t>
            </a:r>
            <a:r>
              <a:rPr lang="ko-KR" altLang="en-US" sz="1200" dirty="0"/>
              <a:t>로 튜닝한 </a:t>
            </a:r>
            <a:r>
              <a:rPr lang="en-US" altLang="ko-KR" sz="1200" dirty="0" err="1"/>
              <a:t>Optimized_RF</a:t>
            </a:r>
            <a:r>
              <a:rPr lang="ko-KR" altLang="en-US" sz="1200" dirty="0"/>
              <a:t>의 </a:t>
            </a:r>
            <a:r>
              <a:rPr lang="en-US" altLang="ko-KR" sz="1200" dirty="0"/>
              <a:t>Test </a:t>
            </a:r>
            <a:r>
              <a:rPr lang="ko-KR" altLang="en-US" sz="1200" dirty="0"/>
              <a:t>성능을 같은 데이터셋</a:t>
            </a:r>
            <a:r>
              <a:rPr lang="en-US" altLang="ko-KR" sz="1200" dirty="0"/>
              <a:t>·</a:t>
            </a:r>
            <a:r>
              <a:rPr lang="ko-KR" altLang="en-US" sz="1200" dirty="0"/>
              <a:t>같은 평가 지표로 나란히 비교하여</a:t>
            </a:r>
            <a:r>
              <a:rPr lang="en-US" altLang="ko-KR" sz="1200" dirty="0"/>
              <a:t>,</a:t>
            </a:r>
          </a:p>
          <a:p>
            <a:endParaRPr lang="en-US" altLang="ko-KR" sz="1200" dirty="0"/>
          </a:p>
          <a:p>
            <a:r>
              <a:rPr lang="ko-KR" altLang="en-US" sz="1200" dirty="0"/>
              <a:t>이번 데이터셋에서 </a:t>
            </a:r>
            <a:r>
              <a:rPr lang="ko-KR" altLang="en-US" sz="1200" dirty="0" err="1"/>
              <a:t>하이퍼파라미터</a:t>
            </a:r>
            <a:r>
              <a:rPr lang="ko-KR" altLang="en-US" sz="1200" dirty="0"/>
              <a:t> 최적화가 실제로 추가적인 이득을 주는지 확인 하였음</a:t>
            </a:r>
            <a:r>
              <a:rPr lang="en-US" altLang="ko-KR" sz="1200" dirty="0"/>
              <a:t>.</a:t>
            </a:r>
            <a:endParaRPr sz="1200" dirty="0">
              <a:solidFill>
                <a:srgbClr val="0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970156"/>
              </p:ext>
            </p:extLst>
          </p:nvPr>
        </p:nvGraphicFramePr>
        <p:xfrm>
          <a:off x="640080" y="1783919"/>
          <a:ext cx="3291840" cy="1280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000000"/>
                          </a:solidFill>
                        </a:rPr>
                        <a:t>지표</a:t>
                      </a:r>
                      <a:endParaRPr sz="10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Baseline_RF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Optimized_RF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Precision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Recall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F1-score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00000"/>
                          </a:solidFill>
                        </a:rP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8056" y="4418629"/>
            <a:ext cx="824788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• Baseline</a:t>
            </a:r>
            <a:r>
              <a:rPr lang="ko-KR" altLang="en-US" sz="1100" dirty="0"/>
              <a:t>과 </a:t>
            </a:r>
            <a:r>
              <a:rPr lang="en-US" altLang="ko-KR" sz="1100" dirty="0"/>
              <a:t>Optimized </a:t>
            </a:r>
            <a:r>
              <a:rPr lang="ko-KR" altLang="en-US" sz="1100" dirty="0"/>
              <a:t>모두 </a:t>
            </a:r>
            <a:r>
              <a:rPr lang="en-US" altLang="ko-KR" sz="1100" dirty="0"/>
              <a:t>Accuracy, Precision(1), Recall(1), F1(1), ROC_AUC</a:t>
            </a:r>
            <a:r>
              <a:rPr lang="ko-KR" altLang="en-US" sz="1100" dirty="0"/>
              <a:t>가 </a:t>
            </a:r>
            <a:r>
              <a:rPr lang="en-US" altLang="ko-KR" sz="1100" dirty="0"/>
              <a:t>1.0</a:t>
            </a:r>
            <a:r>
              <a:rPr lang="ko-KR" altLang="en-US" sz="1100" dirty="0"/>
              <a:t>으로 완전히 동일하게 나와</a:t>
            </a:r>
            <a:r>
              <a:rPr lang="en-US" altLang="ko-KR" sz="1100" dirty="0"/>
              <a:t>, </a:t>
            </a:r>
            <a:r>
              <a:rPr lang="ko-KR" altLang="en-US" sz="1100" dirty="0"/>
              <a:t>이 </a:t>
            </a:r>
            <a:r>
              <a:rPr lang="en-US" altLang="ko-KR" sz="1100" dirty="0"/>
              <a:t>Kaggle </a:t>
            </a:r>
            <a:r>
              <a:rPr lang="ko-KR" altLang="en-US" sz="1100" dirty="0"/>
              <a:t>데이터셋 범위에서는 </a:t>
            </a:r>
            <a:r>
              <a:rPr lang="ko-KR" altLang="en-US" sz="1100" dirty="0" err="1"/>
              <a:t>하이퍼파라미터</a:t>
            </a:r>
            <a:r>
              <a:rPr lang="ko-KR" altLang="en-US" sz="1100" dirty="0"/>
              <a:t> 튜닝이 수치적인 성능 향상을 만들 여지가 거의 없었음을 확인</a:t>
            </a:r>
            <a:endParaRPr lang="en-US" altLang="ko-KR" sz="1100" dirty="0"/>
          </a:p>
          <a:p>
            <a:endParaRPr lang="ko-KR" altLang="en-US" sz="1100" dirty="0"/>
          </a:p>
          <a:p>
            <a:r>
              <a:rPr lang="en-US" altLang="ko-KR" sz="1100" dirty="0"/>
              <a:t>• </a:t>
            </a:r>
            <a:r>
              <a:rPr lang="ko-KR" altLang="en-US" sz="1100" dirty="0"/>
              <a:t>이는 현재 데이터셋에서 정상과 이상 패턴이 피처 공간에서 이미 충분히 잘 분리돼 있어</a:t>
            </a:r>
            <a:r>
              <a:rPr lang="en-US" altLang="ko-KR" sz="1100" dirty="0"/>
              <a:t>, </a:t>
            </a:r>
            <a:r>
              <a:rPr lang="ko-KR" altLang="en-US" sz="1100" dirty="0"/>
              <a:t>기본 </a:t>
            </a:r>
            <a:r>
              <a:rPr lang="en-US" altLang="ko-KR" sz="1100" dirty="0" err="1"/>
              <a:t>RandomForest</a:t>
            </a:r>
            <a:r>
              <a:rPr lang="en-US" altLang="ko-KR" sz="1100" dirty="0"/>
              <a:t> </a:t>
            </a:r>
            <a:r>
              <a:rPr lang="ko-KR" altLang="en-US" sz="1100" dirty="0"/>
              <a:t>설정만으로도 문제를 사실상 완전히 해결할 수 있다는 신호로 볼 수 있다</a:t>
            </a:r>
            <a:r>
              <a:rPr lang="en-US" altLang="ko-KR" sz="1100" dirty="0"/>
              <a:t>.</a:t>
            </a:r>
          </a:p>
          <a:p>
            <a:endParaRPr lang="ko-KR" altLang="en-US" sz="1100" dirty="0"/>
          </a:p>
          <a:p>
            <a:r>
              <a:rPr lang="en-US" altLang="ko-KR" sz="1100" dirty="0"/>
              <a:t>• </a:t>
            </a:r>
            <a:r>
              <a:rPr lang="ko-KR" altLang="en-US" sz="1100" dirty="0"/>
              <a:t>반면 실제 운영 환경</a:t>
            </a:r>
            <a:r>
              <a:rPr lang="en-US" altLang="ko-KR" sz="1100" dirty="0"/>
              <a:t>(</a:t>
            </a:r>
            <a:r>
              <a:rPr lang="ko-KR" altLang="en-US" sz="1100" dirty="0"/>
              <a:t>여러 계정</a:t>
            </a:r>
            <a:r>
              <a:rPr lang="en-US" altLang="ko-KR" sz="1100" dirty="0"/>
              <a:t>·</a:t>
            </a:r>
            <a:r>
              <a:rPr lang="ko-KR" altLang="en-US" sz="1100" dirty="0" err="1"/>
              <a:t>리전</a:t>
            </a:r>
            <a:r>
              <a:rPr lang="en-US" altLang="ko-KR" sz="1100" dirty="0"/>
              <a:t>·</a:t>
            </a:r>
            <a:r>
              <a:rPr lang="ko-KR" altLang="en-US" sz="1100" dirty="0"/>
              <a:t>기간에 걸친 </a:t>
            </a:r>
            <a:r>
              <a:rPr lang="en-US" altLang="ko-KR" sz="1100" dirty="0"/>
              <a:t>CloudTrail·</a:t>
            </a:r>
            <a:r>
              <a:rPr lang="ko-KR" altLang="en-US" sz="1100" dirty="0"/>
              <a:t>모니터링 로그</a:t>
            </a:r>
            <a:r>
              <a:rPr lang="en-US" altLang="ko-KR" sz="1100" dirty="0"/>
              <a:t>)</a:t>
            </a:r>
            <a:r>
              <a:rPr lang="ko-KR" altLang="en-US" sz="1100" dirty="0"/>
              <a:t>에서는 노이즈와 예외 케이스 때문에 이렇게 모든 지표가 </a:t>
            </a:r>
            <a:r>
              <a:rPr lang="en-US" altLang="ko-KR" sz="1100" dirty="0"/>
              <a:t>1.0</a:t>
            </a:r>
            <a:r>
              <a:rPr lang="ko-KR" altLang="en-US" sz="1100" dirty="0"/>
              <a:t>에 수렴하는 경우는 거의 없으므로</a:t>
            </a:r>
            <a:r>
              <a:rPr lang="en-US" altLang="ko-KR" sz="1100" dirty="0"/>
              <a:t>, </a:t>
            </a:r>
            <a:r>
              <a:rPr lang="ko-KR" altLang="en-US" sz="1100" dirty="0"/>
              <a:t>보통은 </a:t>
            </a:r>
            <a:r>
              <a:rPr lang="en-US" altLang="ko-KR" sz="1100" dirty="0"/>
              <a:t>Baseline </a:t>
            </a:r>
            <a:r>
              <a:rPr lang="ko-KR" altLang="en-US" sz="1100" dirty="0"/>
              <a:t>설정을 먼저 운영에 시범 적용해 실제 알람 패턴과 노이즈 수준을 확인한 뒤</a:t>
            </a:r>
            <a:r>
              <a:rPr lang="en-US" altLang="ko-KR" sz="1100" dirty="0"/>
              <a:t>, </a:t>
            </a:r>
            <a:r>
              <a:rPr lang="ko-KR" altLang="en-US" sz="1100" dirty="0"/>
              <a:t>필요할 때 튜닝을 추가하는 방식이 더 현실적임을 확인하였음</a:t>
            </a:r>
            <a:r>
              <a:rPr lang="en-US" altLang="ko-KR" sz="1100" dirty="0"/>
              <a:t>.</a:t>
            </a:r>
          </a:p>
          <a:p>
            <a:endParaRPr lang="ko-KR" altLang="en-US" sz="1100" dirty="0"/>
          </a:p>
          <a:p>
            <a:r>
              <a:rPr lang="en-US" altLang="ko-KR" sz="1100" dirty="0"/>
              <a:t>• </a:t>
            </a:r>
            <a:r>
              <a:rPr lang="ko-KR" altLang="en-US" sz="1100" dirty="0"/>
              <a:t>이번 프로젝트에서 </a:t>
            </a:r>
            <a:r>
              <a:rPr lang="en-US" altLang="ko-KR" sz="1100" dirty="0" err="1"/>
              <a:t>GridSearchCV</a:t>
            </a:r>
            <a:r>
              <a:rPr lang="ko-KR" altLang="en-US" sz="1100" dirty="0"/>
              <a:t>는 “현재 데이터셋 성능을 더 올리기 위한 </a:t>
            </a:r>
            <a:r>
              <a:rPr lang="ko-KR" altLang="en-US" sz="1100" dirty="0" err="1"/>
              <a:t>도구”라기보다</a:t>
            </a:r>
            <a:r>
              <a:rPr lang="en-US" altLang="ko-KR" sz="1100" dirty="0"/>
              <a:t>, </a:t>
            </a:r>
            <a:r>
              <a:rPr lang="ko-KR" altLang="en-US" sz="1100" dirty="0"/>
              <a:t>향후 다른 </a:t>
            </a:r>
            <a:r>
              <a:rPr lang="ko-KR" altLang="en-US" sz="1100" dirty="0" err="1"/>
              <a:t>리전</a:t>
            </a:r>
            <a:r>
              <a:rPr lang="en-US" altLang="ko-KR" sz="1100" dirty="0"/>
              <a:t>·</a:t>
            </a:r>
            <a:r>
              <a:rPr lang="ko-KR" altLang="en-US" sz="1100" dirty="0"/>
              <a:t>계정</a:t>
            </a:r>
            <a:r>
              <a:rPr lang="en-US" altLang="ko-KR" sz="1100" dirty="0"/>
              <a:t>·</a:t>
            </a:r>
            <a:r>
              <a:rPr lang="ko-KR" altLang="en-US" sz="1100" dirty="0"/>
              <a:t>기간의 로그에 그대로 복사해 쓸 수 있는 </a:t>
            </a:r>
            <a:r>
              <a:rPr lang="ko-KR" altLang="en-US" sz="1100" dirty="0" err="1"/>
              <a:t>하이퍼파라미터</a:t>
            </a:r>
            <a:r>
              <a:rPr lang="ko-KR" altLang="en-US" sz="1100" dirty="0"/>
              <a:t> 튜닝 템플릿을 미리 만들어 둔 것이라고 생각 됨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04278"/>
              </p:ext>
            </p:extLst>
          </p:nvPr>
        </p:nvGraphicFramePr>
        <p:xfrm>
          <a:off x="4139184" y="1726846"/>
          <a:ext cx="4456176" cy="2458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8</a:t>
            </a:r>
            <a:r>
              <a:rPr sz="2200" b="1" dirty="0">
                <a:solidFill>
                  <a:srgbClr val="FFFFFF"/>
                </a:solidFill>
              </a:rPr>
              <a:t>. </a:t>
            </a:r>
            <a:r>
              <a:rPr sz="2200" b="1" dirty="0" err="1">
                <a:solidFill>
                  <a:srgbClr val="FFFFFF"/>
                </a:solidFill>
              </a:rPr>
              <a:t>결론</a:t>
            </a:r>
            <a:r>
              <a:rPr sz="2200" b="1" dirty="0">
                <a:solidFill>
                  <a:srgbClr val="FFFFFF"/>
                </a:solidFill>
              </a:rPr>
              <a:t> 및 </a:t>
            </a:r>
            <a:r>
              <a:rPr sz="2200" b="1" dirty="0" err="1">
                <a:solidFill>
                  <a:srgbClr val="FFFFFF"/>
                </a:solidFill>
              </a:rPr>
              <a:t>논의</a:t>
            </a:r>
            <a:endParaRPr sz="22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7473" y="1005840"/>
            <a:ext cx="82600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• </a:t>
            </a:r>
            <a:r>
              <a:rPr lang="ko-KR" altLang="en-US" sz="1200" dirty="0"/>
              <a:t>사용 데이터셋은 총 </a:t>
            </a:r>
            <a:r>
              <a:rPr lang="en-US" altLang="ko-KR" sz="1200" dirty="0"/>
              <a:t>14,400</a:t>
            </a:r>
            <a:r>
              <a:rPr lang="ko-KR" altLang="en-US" sz="1200" dirty="0"/>
              <a:t>건</a:t>
            </a:r>
            <a:r>
              <a:rPr lang="en-US" altLang="ko-KR" sz="1200" dirty="0"/>
              <a:t>(</a:t>
            </a:r>
            <a:r>
              <a:rPr lang="ko-KR" altLang="en-US" sz="1200" dirty="0"/>
              <a:t>정상 </a:t>
            </a:r>
            <a:r>
              <a:rPr lang="en-US" altLang="ko-KR" sz="1200" dirty="0"/>
              <a:t>13,143 / </a:t>
            </a:r>
            <a:r>
              <a:rPr lang="ko-KR" altLang="en-US" sz="1200" dirty="0"/>
              <a:t>이상 </a:t>
            </a:r>
            <a:r>
              <a:rPr lang="en-US" altLang="ko-KR" sz="1200" dirty="0"/>
              <a:t>1,257)</a:t>
            </a:r>
            <a:r>
              <a:rPr lang="ko-KR" altLang="en-US" sz="1200" dirty="0"/>
              <a:t>으로 이상 비율이 약 </a:t>
            </a:r>
            <a:r>
              <a:rPr lang="en-US" altLang="ko-KR" sz="1200" dirty="0"/>
              <a:t>8.7%</a:t>
            </a:r>
            <a:r>
              <a:rPr lang="ko-KR" altLang="en-US" sz="1200" dirty="0"/>
              <a:t>인 불균형 구조입니다</a:t>
            </a:r>
            <a:r>
              <a:rPr lang="en-US" altLang="ko-KR" sz="1200" dirty="0"/>
              <a:t>.</a:t>
            </a:r>
            <a:br>
              <a:rPr lang="ko-KR" altLang="en-US" sz="1200" dirty="0"/>
            </a:br>
            <a:r>
              <a:rPr lang="ko-KR" altLang="en-US" sz="1200" dirty="0"/>
              <a:t> → 그래서 </a:t>
            </a:r>
            <a:r>
              <a:rPr lang="en-US" altLang="ko-KR" sz="1200" dirty="0"/>
              <a:t>Accuracy</a:t>
            </a:r>
            <a:r>
              <a:rPr lang="ko-KR" altLang="en-US" sz="1200" dirty="0"/>
              <a:t>보다는 이상 클래스</a:t>
            </a:r>
            <a:r>
              <a:rPr lang="en-US" altLang="ko-KR" sz="1200" dirty="0"/>
              <a:t>(1)</a:t>
            </a:r>
            <a:r>
              <a:rPr lang="ko-KR" altLang="en-US" sz="1200" dirty="0"/>
              <a:t>에 대한 </a:t>
            </a:r>
            <a:r>
              <a:rPr lang="en-US" altLang="ko-KR" sz="1200" dirty="0"/>
              <a:t>Recall·F1, </a:t>
            </a:r>
            <a:r>
              <a:rPr lang="ko-KR" altLang="en-US" sz="1200" dirty="0"/>
              <a:t>그리고 혼동행렬을 핵심 지표로 삼아 모델을 평가했습니다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• CPU / Memory / Disk / Network </a:t>
            </a:r>
            <a:r>
              <a:rPr lang="ko-KR" altLang="en-US" sz="1200" dirty="0"/>
              <a:t>사용률의 분포</a:t>
            </a:r>
            <a:r>
              <a:rPr lang="en-US" altLang="ko-KR" sz="1200" dirty="0"/>
              <a:t>(describe·</a:t>
            </a:r>
            <a:r>
              <a:rPr lang="ko-KR" altLang="en-US" sz="1200" dirty="0"/>
              <a:t>히스토그램</a:t>
            </a:r>
            <a:r>
              <a:rPr lang="en-US" altLang="ko-KR" sz="1200" dirty="0"/>
              <a:t>)</a:t>
            </a:r>
            <a:r>
              <a:rPr lang="ko-KR" altLang="en-US" sz="1200" dirty="0"/>
              <a:t>를 보면</a:t>
            </a:r>
            <a:r>
              <a:rPr lang="en-US" altLang="ko-KR" sz="1200" dirty="0"/>
              <a:t>, </a:t>
            </a:r>
            <a:r>
              <a:rPr lang="ko-KR" altLang="en-US" sz="1200" dirty="0"/>
              <a:t>단순 </a:t>
            </a:r>
            <a:r>
              <a:rPr lang="ko-KR" altLang="en-US" sz="1200" dirty="0" err="1"/>
              <a:t>임계값</a:t>
            </a:r>
            <a:r>
              <a:rPr lang="ko-KR" altLang="en-US" sz="1200" dirty="0"/>
              <a:t> 한두 개로는 정상</a:t>
            </a:r>
            <a:r>
              <a:rPr lang="en-US" altLang="ko-KR" sz="1200" dirty="0"/>
              <a:t>/</a:t>
            </a:r>
            <a:r>
              <a:rPr lang="ko-KR" altLang="en-US" sz="1200" dirty="0"/>
              <a:t>이상을 깔끔하게 나누기 어려운 형태였고</a:t>
            </a:r>
            <a:r>
              <a:rPr lang="en-US" altLang="ko-KR" sz="1200" dirty="0"/>
              <a:t>, </a:t>
            </a:r>
            <a:r>
              <a:rPr lang="ko-KR" altLang="en-US" sz="1200" dirty="0"/>
              <a:t>에 따라 비선형 경계를 표현할 수 있고 수치형</a:t>
            </a:r>
            <a:r>
              <a:rPr lang="en-US" altLang="ko-KR" sz="1200" dirty="0"/>
              <a:t>·</a:t>
            </a:r>
            <a:r>
              <a:rPr lang="ko-KR" altLang="en-US" sz="1200" dirty="0"/>
              <a:t>범주형 피처가 섞인 표형 데이터에 강한 </a:t>
            </a:r>
            <a:r>
              <a:rPr lang="en-US" altLang="ko-KR" sz="1200" dirty="0" err="1"/>
              <a:t>RandomForest</a:t>
            </a:r>
            <a:r>
              <a:rPr lang="ko-KR" altLang="en-US" sz="1200" dirty="0"/>
              <a:t>를 모델로 선택했습니다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• </a:t>
            </a:r>
            <a:r>
              <a:rPr lang="en-US" altLang="ko-KR" sz="1200" dirty="0" err="1"/>
              <a:t>Baseline_RF</a:t>
            </a:r>
            <a:r>
              <a:rPr lang="ko-KR" altLang="en-US" sz="1200" dirty="0"/>
              <a:t>와 </a:t>
            </a:r>
            <a:r>
              <a:rPr lang="en-US" altLang="ko-KR" sz="1200" dirty="0" err="1"/>
              <a:t>GridSearchCV</a:t>
            </a:r>
            <a:r>
              <a:rPr lang="ko-KR" altLang="en-US" sz="1200" dirty="0"/>
              <a:t>로 튜닝한 </a:t>
            </a:r>
            <a:r>
              <a:rPr lang="en-US" altLang="ko-KR" sz="1200" dirty="0" err="1"/>
              <a:t>Optimized_RF</a:t>
            </a:r>
            <a:r>
              <a:rPr lang="en-US" altLang="ko-KR" sz="1200" dirty="0"/>
              <a:t> </a:t>
            </a:r>
            <a:r>
              <a:rPr lang="ko-KR" altLang="en-US" sz="1200" dirty="0"/>
              <a:t>모두 </a:t>
            </a:r>
            <a:r>
              <a:rPr lang="en-US" altLang="ko-KR" sz="1200" dirty="0"/>
              <a:t>Test </a:t>
            </a:r>
            <a:r>
              <a:rPr lang="ko-KR" altLang="en-US" sz="1200" dirty="0"/>
              <a:t>셋</a:t>
            </a:r>
            <a:r>
              <a:rPr lang="en-US" altLang="ko-KR" sz="1200" dirty="0"/>
              <a:t>(2,880</a:t>
            </a:r>
            <a:r>
              <a:rPr lang="ko-KR" altLang="en-US" sz="1200" dirty="0"/>
              <a:t>건</a:t>
            </a:r>
            <a:r>
              <a:rPr lang="en-US" altLang="ko-KR" sz="1200" dirty="0"/>
              <a:t>: </a:t>
            </a:r>
            <a:r>
              <a:rPr lang="ko-KR" altLang="en-US" sz="1200" dirty="0"/>
              <a:t>정상 </a:t>
            </a:r>
            <a:r>
              <a:rPr lang="en-US" altLang="ko-KR" sz="1200" dirty="0"/>
              <a:t>2,629 / </a:t>
            </a:r>
            <a:r>
              <a:rPr lang="ko-KR" altLang="en-US" sz="1200" dirty="0"/>
              <a:t>이상 </a:t>
            </a:r>
            <a:r>
              <a:rPr lang="en-US" altLang="ko-KR" sz="1200" dirty="0"/>
              <a:t>251)</a:t>
            </a:r>
            <a:r>
              <a:rPr lang="ko-KR" altLang="en-US" sz="1200" dirty="0"/>
              <a:t>에 대해 모든 지표가 </a:t>
            </a:r>
            <a:r>
              <a:rPr lang="en-US" altLang="ko-KR" sz="1200" dirty="0"/>
              <a:t>1.0</a:t>
            </a:r>
            <a:r>
              <a:rPr lang="ko-KR" altLang="en-US" sz="1200" dirty="0"/>
              <a:t>이며</a:t>
            </a:r>
            <a:r>
              <a:rPr lang="en-US" altLang="ko-KR" sz="1200" dirty="0"/>
              <a:t>, Confusion Matrix</a:t>
            </a:r>
            <a:r>
              <a:rPr lang="ko-KR" altLang="en-US" sz="1200" dirty="0"/>
              <a:t>도 </a:t>
            </a:r>
            <a:r>
              <a:rPr lang="en-US" altLang="ko-KR" sz="1200" dirty="0"/>
              <a:t>2,629</a:t>
            </a:r>
            <a:r>
              <a:rPr lang="ko-KR" altLang="en-US" sz="1200" dirty="0"/>
              <a:t>건 </a:t>
            </a:r>
            <a:r>
              <a:rPr lang="en-US" altLang="ko-KR" sz="1200" dirty="0"/>
              <a:t>TN / 251</a:t>
            </a:r>
            <a:r>
              <a:rPr lang="ko-KR" altLang="en-US" sz="1200" dirty="0"/>
              <a:t>건 </a:t>
            </a:r>
            <a:r>
              <a:rPr lang="en-US" altLang="ko-KR" sz="1200" dirty="0"/>
              <a:t>TP</a:t>
            </a:r>
            <a:r>
              <a:rPr lang="ko-KR" altLang="en-US" sz="1200" dirty="0"/>
              <a:t>만 있는 완전한 대각선 형태를 보여</a:t>
            </a:r>
            <a:r>
              <a:rPr lang="en-US" altLang="ko-KR" sz="1200" dirty="0"/>
              <a:t>, </a:t>
            </a:r>
            <a:r>
              <a:rPr lang="ko-KR" altLang="en-US" sz="1200" dirty="0"/>
              <a:t>이 데이터셋 범위에서는 완전 분류가 가능했습니다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• </a:t>
            </a:r>
            <a:r>
              <a:rPr lang="ko-KR" altLang="en-US" sz="1200" dirty="0"/>
              <a:t>이렇게 모든 지표가 </a:t>
            </a:r>
            <a:r>
              <a:rPr lang="en-US" altLang="ko-KR" sz="1200" dirty="0"/>
              <a:t>1.0</a:t>
            </a:r>
            <a:r>
              <a:rPr lang="ko-KR" altLang="en-US" sz="1200" dirty="0"/>
              <a:t>에 수렴하는 결과는</a:t>
            </a:r>
            <a:r>
              <a:rPr lang="en-US" altLang="ko-KR" sz="1200" dirty="0"/>
              <a:t>, </a:t>
            </a:r>
            <a:r>
              <a:rPr lang="ko-KR" altLang="en-US" sz="1200" dirty="0"/>
              <a:t>데이터셋이 학습</a:t>
            </a:r>
            <a:r>
              <a:rPr lang="en-US" altLang="ko-KR" sz="1200" dirty="0"/>
              <a:t>·</a:t>
            </a:r>
            <a:r>
              <a:rPr lang="ko-KR" altLang="en-US" sz="1200" dirty="0"/>
              <a:t>실험용으로 비교적 단순하게 설계되어 있거나</a:t>
            </a:r>
            <a:r>
              <a:rPr lang="en-US" altLang="ko-KR" sz="1200" dirty="0"/>
              <a:t>,</a:t>
            </a:r>
            <a:br>
              <a:rPr lang="ko-KR" altLang="en-US" sz="1200" dirty="0"/>
            </a:br>
            <a:r>
              <a:rPr lang="ko-KR" altLang="en-US" sz="1200" dirty="0"/>
              <a:t> 실제 운영 환경에 비해 피처 구성이 단순하다는 신호로 해석할 수 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실제 </a:t>
            </a:r>
            <a:r>
              <a:rPr lang="en-US" altLang="ko-KR" sz="1200" dirty="0"/>
              <a:t>AWS </a:t>
            </a:r>
            <a:r>
              <a:rPr lang="ko-KR" altLang="en-US" sz="1200" dirty="0"/>
              <a:t>환경에서는 계정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리전</a:t>
            </a:r>
            <a:r>
              <a:rPr lang="en-US" altLang="ko-KR" sz="1200" dirty="0"/>
              <a:t>·</a:t>
            </a:r>
            <a:r>
              <a:rPr lang="ko-KR" altLang="en-US" sz="1200" dirty="0"/>
              <a:t>시간대별로 더 복잡한 패턴과 노이즈가 존재해 이런 수치가 나오기 어렵습니다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• </a:t>
            </a:r>
            <a:r>
              <a:rPr lang="ko-KR" altLang="en-US" sz="1200" dirty="0"/>
              <a:t>실제 멀티 계정</a:t>
            </a:r>
            <a:r>
              <a:rPr lang="en-US" altLang="ko-KR" sz="1200" dirty="0"/>
              <a:t>·</a:t>
            </a:r>
            <a:r>
              <a:rPr lang="ko-KR" altLang="en-US" sz="1200" dirty="0"/>
              <a:t>멀티 </a:t>
            </a:r>
            <a:r>
              <a:rPr lang="ko-KR" altLang="en-US" sz="1200" dirty="0" err="1"/>
              <a:t>리전</a:t>
            </a:r>
            <a:r>
              <a:rPr lang="ko-KR" altLang="en-US" sz="1200" dirty="0"/>
              <a:t> </a:t>
            </a:r>
            <a:r>
              <a:rPr lang="en-US" altLang="ko-KR" sz="1200" dirty="0"/>
              <a:t>CloudTrail / </a:t>
            </a:r>
            <a:r>
              <a:rPr lang="ko-KR" altLang="en-US" sz="1200" dirty="0"/>
              <a:t>모니터링 로그에 적용할 때는</a:t>
            </a:r>
            <a:r>
              <a:rPr lang="en-US" altLang="ko-KR" sz="1200" dirty="0"/>
              <a:t>, </a:t>
            </a:r>
            <a:r>
              <a:rPr lang="ko-KR" altLang="en-US" sz="1200" dirty="0"/>
              <a:t>기간별</a:t>
            </a:r>
            <a:r>
              <a:rPr lang="en-US" altLang="ko-KR" sz="1200" dirty="0"/>
              <a:t>·</a:t>
            </a:r>
            <a:r>
              <a:rPr lang="ko-KR" altLang="en-US" sz="1200" dirty="0"/>
              <a:t>계정별</a:t>
            </a:r>
            <a:r>
              <a:rPr lang="en-US" altLang="ko-KR" sz="1200" dirty="0"/>
              <a:t>·</a:t>
            </a:r>
            <a:r>
              <a:rPr lang="ko-KR" altLang="en-US" sz="1200" dirty="0"/>
              <a:t>리전별로 데이터를 나눠 교차검증을 수행하고</a:t>
            </a:r>
            <a:r>
              <a:rPr lang="en-US" altLang="ko-KR" sz="1200" dirty="0"/>
              <a:t>, </a:t>
            </a:r>
            <a:r>
              <a:rPr lang="ko-KR" altLang="en-US" sz="1200" dirty="0"/>
              <a:t>노이즈</a:t>
            </a:r>
            <a:r>
              <a:rPr lang="en-US" altLang="ko-KR" sz="1200" dirty="0"/>
              <a:t>·</a:t>
            </a:r>
            <a:r>
              <a:rPr lang="ko-KR" altLang="en-US" sz="1200" dirty="0"/>
              <a:t>예외 케이스를 포함한 추가 실험을 통해 새로운 패턴에도 일반화되는지 반드시 검증해야 합니다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• </a:t>
            </a:r>
            <a:r>
              <a:rPr lang="ko-KR" altLang="en-US" sz="1200" dirty="0"/>
              <a:t>이번 프로젝트의 의미는 “하나의 </a:t>
            </a:r>
            <a:r>
              <a:rPr lang="en-US" altLang="ko-KR" sz="1200" dirty="0"/>
              <a:t>Cloud Anomaly </a:t>
            </a:r>
            <a:r>
              <a:rPr lang="ko-KR" altLang="en-US" sz="1200" dirty="0"/>
              <a:t>데이터셋 </a:t>
            </a:r>
            <a:r>
              <a:rPr lang="ko-KR" altLang="en-US" sz="1200" dirty="0" err="1"/>
              <a:t>실험”을</a:t>
            </a:r>
            <a:r>
              <a:rPr lang="ko-KR" altLang="en-US" sz="1200" dirty="0"/>
              <a:t> 넘어서</a:t>
            </a:r>
            <a:r>
              <a:rPr lang="en-US" altLang="ko-KR" sz="1200" dirty="0"/>
              <a:t>, Cloud </a:t>
            </a:r>
            <a:r>
              <a:rPr lang="ko-KR" altLang="en-US" sz="1200" dirty="0"/>
              <a:t>로그를 가져와 </a:t>
            </a:r>
            <a:r>
              <a:rPr lang="ko-KR" altLang="en-US" sz="1200" dirty="0" err="1"/>
              <a:t>전처리</a:t>
            </a:r>
            <a:r>
              <a:rPr lang="ko-KR" altLang="en-US" sz="1200" dirty="0"/>
              <a:t> → 학습 → 평가 → 엑셀 리포트</a:t>
            </a:r>
            <a:r>
              <a:rPr lang="en-US" altLang="ko-KR" sz="1200" dirty="0"/>
              <a:t>(</a:t>
            </a:r>
            <a:r>
              <a:rPr lang="ko-KR" altLang="en-US" sz="1200" dirty="0"/>
              <a:t>지표</a:t>
            </a:r>
            <a:r>
              <a:rPr lang="en-US" altLang="ko-KR" sz="1200" dirty="0"/>
              <a:t>·</a:t>
            </a:r>
            <a:r>
              <a:rPr lang="ko-KR" altLang="en-US" sz="1200" dirty="0"/>
              <a:t>차트</a:t>
            </a:r>
            <a:r>
              <a:rPr lang="en-US" altLang="ko-KR" sz="1200" dirty="0"/>
              <a:t>)</a:t>
            </a:r>
            <a:r>
              <a:rPr lang="ko-KR" altLang="en-US" sz="1200" dirty="0"/>
              <a:t>까지 이어지는 </a:t>
            </a:r>
            <a:r>
              <a:rPr lang="en-US" altLang="ko-KR" sz="1200" dirty="0"/>
              <a:t>end-to-end </a:t>
            </a:r>
            <a:r>
              <a:rPr lang="ko-KR" altLang="en-US" sz="1200" dirty="0"/>
              <a:t>파이프라인과 </a:t>
            </a:r>
            <a:r>
              <a:rPr lang="en-US" altLang="ko-KR" sz="1200" dirty="0" err="1"/>
              <a:t>GridSearchCV</a:t>
            </a:r>
            <a:r>
              <a:rPr lang="en-US" altLang="ko-KR" sz="1200" dirty="0"/>
              <a:t> </a:t>
            </a:r>
            <a:r>
              <a:rPr lang="ko-KR" altLang="en-US" sz="1200" dirty="0"/>
              <a:t>기반 튜닝 절차를 템플릿 형태로 만들어</a:t>
            </a:r>
            <a:r>
              <a:rPr lang="en-US" altLang="ko-KR" sz="1200" dirty="0"/>
              <a:t>, </a:t>
            </a:r>
            <a:r>
              <a:rPr lang="ko-KR" altLang="en-US" sz="1200" dirty="0"/>
              <a:t>실제 운영 </a:t>
            </a:r>
            <a:r>
              <a:rPr lang="en-US" altLang="ko-KR" sz="1200" dirty="0"/>
              <a:t>CloudTrail/</a:t>
            </a:r>
            <a:r>
              <a:rPr lang="ko-KR" altLang="en-US" sz="1200" dirty="0"/>
              <a:t>모니터링 환경에도 재사용 가능한 이상 탐지 </a:t>
            </a:r>
            <a:r>
              <a:rPr lang="en-US" altLang="ko-KR" sz="1200" dirty="0"/>
              <a:t>ML </a:t>
            </a:r>
            <a:r>
              <a:rPr lang="ko-KR" altLang="en-US" sz="1200" dirty="0"/>
              <a:t>분석 틀을 준비했다는 데 있습니다</a:t>
            </a:r>
            <a:r>
              <a:rPr lang="en-US" altLang="ko-KR" sz="12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2325</Words>
  <Application>Microsoft Office PowerPoint</Application>
  <PresentationFormat>화면 슬라이드 쇼(4:3)</PresentationFormat>
  <Paragraphs>221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timegate28</cp:lastModifiedBy>
  <cp:revision>22</cp:revision>
  <dcterms:created xsi:type="dcterms:W3CDTF">2013-01-27T09:14:16Z</dcterms:created>
  <dcterms:modified xsi:type="dcterms:W3CDTF">2025-12-10T13:43:25Z</dcterms:modified>
  <cp:category/>
</cp:coreProperties>
</file>
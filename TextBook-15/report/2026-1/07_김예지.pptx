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CB81"/>
    <a:srgbClr val="594022"/>
    <a:srgbClr val="BAB96A"/>
    <a:srgbClr val="AD824C"/>
    <a:srgbClr val="E1EB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BEDBC2-6364-771D-863F-EB22A14D8CC5}" v="71" dt="2026-06-10T07:00:50.016"/>
    <p1510:client id="{5FC2DFB7-E7FC-CBD9-62DB-FF5F8542A363}" v="136" dt="2026-06-09T08:17:27.5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971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3982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62341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196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3469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02725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5682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9606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6493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05130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3956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66825D-2B69-4989-8861-A6901ABADB6C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6743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EBB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9EF7E-D047-44A6-DAFA-CDB2DA3D1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047" y="174625"/>
            <a:ext cx="11928299" cy="664744"/>
          </a:xfrm>
        </p:spPr>
        <p:txBody>
          <a:bodyPr/>
          <a:lstStyle/>
          <a:p>
            <a:r>
              <a:rPr lang="ko-KR" altLang="en-US" sz="3200" b="1" dirty="0">
                <a:solidFill>
                  <a:srgbClr val="594022"/>
                </a:solidFill>
                <a:ea typeface="+mj-lt"/>
                <a:cs typeface="+mj-lt"/>
              </a:rPr>
              <a:t>단일</a:t>
            </a:r>
            <a:r>
              <a:rPr lang="en-US" sz="3200" b="1" dirty="0">
                <a:solidFill>
                  <a:srgbClr val="594022"/>
                </a:solidFill>
                <a:ea typeface="+mj-lt"/>
                <a:cs typeface="+mj-lt"/>
              </a:rPr>
              <a:t> </a:t>
            </a:r>
            <a:r>
              <a:rPr lang="en-US" sz="3200" b="1" dirty="0" err="1">
                <a:solidFill>
                  <a:srgbClr val="594022"/>
                </a:solidFill>
                <a:ea typeface="+mj-lt"/>
                <a:cs typeface="+mj-lt"/>
              </a:rPr>
              <a:t>LightGBM</a:t>
            </a:r>
            <a:r>
              <a:rPr lang="en-US" altLang="ko-KR" sz="3200" b="1" dirty="0">
                <a:solidFill>
                  <a:srgbClr val="594022"/>
                </a:solidFill>
                <a:ea typeface="+mj-lt"/>
                <a:cs typeface="+mj-lt"/>
              </a:rPr>
              <a:t> </a:t>
            </a:r>
            <a:r>
              <a:rPr lang="ko-KR" altLang="en-US" sz="3200" b="1" dirty="0">
                <a:solidFill>
                  <a:srgbClr val="594022"/>
                </a:solidFill>
                <a:ea typeface="+mj-lt"/>
                <a:cs typeface="+mj-lt"/>
              </a:rPr>
              <a:t>구조</a:t>
            </a:r>
            <a:r>
              <a:rPr lang="en-US" altLang="ko-KR" sz="3200" b="1" dirty="0">
                <a:solidFill>
                  <a:srgbClr val="594022"/>
                </a:solidFill>
                <a:ea typeface="+mj-lt"/>
                <a:cs typeface="+mj-lt"/>
              </a:rPr>
              <a:t> </a:t>
            </a:r>
            <a:r>
              <a:rPr lang="ko-KR" altLang="en-US" sz="3200" b="1" dirty="0">
                <a:solidFill>
                  <a:srgbClr val="594022"/>
                </a:solidFill>
                <a:ea typeface="+mj-lt"/>
                <a:cs typeface="+mj-lt"/>
              </a:rPr>
              <a:t>최적화를</a:t>
            </a:r>
            <a:r>
              <a:rPr lang="en-US" altLang="ko-KR" sz="3200" b="1" dirty="0">
                <a:solidFill>
                  <a:srgbClr val="594022"/>
                </a:solidFill>
                <a:ea typeface="+mj-lt"/>
                <a:cs typeface="+mj-lt"/>
              </a:rPr>
              <a:t> </a:t>
            </a:r>
            <a:r>
              <a:rPr lang="ko-KR" altLang="en-US" sz="3200" b="1" dirty="0">
                <a:solidFill>
                  <a:srgbClr val="594022"/>
                </a:solidFill>
                <a:ea typeface="+mj-lt"/>
                <a:cs typeface="+mj-lt"/>
              </a:rPr>
              <a:t>통한</a:t>
            </a:r>
            <a:r>
              <a:rPr lang="en-US" altLang="ko-KR" sz="3200" b="1" dirty="0">
                <a:solidFill>
                  <a:srgbClr val="594022"/>
                </a:solidFill>
                <a:ea typeface="+mj-lt"/>
                <a:cs typeface="+mj-lt"/>
              </a:rPr>
              <a:t> </a:t>
            </a:r>
            <a:r>
              <a:rPr lang="ko-KR" altLang="en-US" sz="3200" b="1" dirty="0">
                <a:solidFill>
                  <a:srgbClr val="594022"/>
                </a:solidFill>
                <a:ea typeface="+mj-lt"/>
                <a:cs typeface="+mj-lt"/>
              </a:rPr>
              <a:t>시계열</a:t>
            </a:r>
            <a:r>
              <a:rPr lang="en-US" altLang="ko-KR" sz="3200" b="1" dirty="0">
                <a:solidFill>
                  <a:srgbClr val="594022"/>
                </a:solidFill>
                <a:ea typeface="+mj-lt"/>
                <a:cs typeface="+mj-lt"/>
              </a:rPr>
              <a:t> </a:t>
            </a:r>
            <a:r>
              <a:rPr lang="ko-KR" altLang="en-US" sz="3200" b="1" dirty="0">
                <a:solidFill>
                  <a:srgbClr val="594022"/>
                </a:solidFill>
                <a:ea typeface="+mj-lt"/>
                <a:cs typeface="+mj-lt"/>
              </a:rPr>
              <a:t>혈당</a:t>
            </a:r>
            <a:r>
              <a:rPr lang="en-US" altLang="ko-KR" sz="3200" b="1" dirty="0">
                <a:solidFill>
                  <a:srgbClr val="594022"/>
                </a:solidFill>
                <a:ea typeface="+mj-lt"/>
                <a:cs typeface="+mj-lt"/>
              </a:rPr>
              <a:t> </a:t>
            </a:r>
            <a:r>
              <a:rPr lang="ko-KR" altLang="en-US" sz="3200" b="1" dirty="0">
                <a:solidFill>
                  <a:srgbClr val="594022"/>
                </a:solidFill>
                <a:ea typeface="+mj-lt"/>
                <a:cs typeface="+mj-lt"/>
              </a:rPr>
              <a:t>예측 사례</a:t>
            </a:r>
            <a:r>
              <a:rPr lang="en-US" altLang="ko-KR" sz="3200" b="1" dirty="0">
                <a:solidFill>
                  <a:srgbClr val="594022"/>
                </a:solidFill>
                <a:ea typeface="+mj-lt"/>
                <a:cs typeface="+mj-lt"/>
              </a:rPr>
              <a:t> </a:t>
            </a:r>
            <a:r>
              <a:rPr lang="ko-KR" altLang="en-US" sz="3200" b="1" dirty="0">
                <a:solidFill>
                  <a:srgbClr val="594022"/>
                </a:solidFill>
                <a:ea typeface="+mj-lt"/>
                <a:cs typeface="+mj-lt"/>
              </a:rPr>
              <a:t>리뷰</a:t>
            </a:r>
            <a:endParaRPr lang="en-US" sz="3200" b="1">
              <a:solidFill>
                <a:srgbClr val="594022"/>
              </a:solidFill>
              <a:ea typeface="맑은 고딕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9DE054-9F27-795B-E6C5-FAFDD67F71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369911"/>
            <a:ext cx="5891961" cy="4337731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ko-KR" sz="1400">
                <a:solidFill>
                  <a:srgbClr val="594022"/>
                </a:solidFill>
                <a:ea typeface="+mn-lt"/>
                <a:cs typeface="+mn-lt"/>
              </a:rPr>
              <a:t>1. </a:t>
            </a:r>
            <a:r>
              <a:rPr lang="en-US" altLang="ko-KR" sz="1400">
                <a:solidFill>
                  <a:srgbClr val="594022"/>
                </a:solidFill>
                <a:ea typeface="+mn-lt"/>
                <a:cs typeface="+mn-lt"/>
              </a:rPr>
              <a:t>Feature</a:t>
            </a:r>
            <a:r>
              <a:rPr lang="ko-KR" altLang="en-US" sz="1400" dirty="0">
                <a:solidFill>
                  <a:srgbClr val="594022"/>
                </a:solidFill>
                <a:ea typeface="+mn-lt"/>
                <a:cs typeface="+mn-lt"/>
              </a:rPr>
              <a:t> </a:t>
            </a:r>
            <a:r>
              <a:rPr lang="en-US" altLang="ko-KR" sz="1400">
                <a:solidFill>
                  <a:srgbClr val="594022"/>
                </a:solidFill>
                <a:ea typeface="+mn-lt"/>
                <a:cs typeface="+mn-lt"/>
              </a:rPr>
              <a:t>Engineering</a:t>
            </a:r>
            <a:endParaRPr lang="en-US" altLang="ko-KR" sz="1400">
              <a:solidFill>
                <a:srgbClr val="594022"/>
              </a:solidFill>
              <a:ea typeface="맑은 고딕"/>
            </a:endParaRPr>
          </a:p>
          <a:p>
            <a:pPr marL="457200" indent="0">
              <a:lnSpc>
                <a:spcPct val="120000"/>
              </a:lnSpc>
            </a:pPr>
            <a:r>
              <a:rPr lang="ko-KR" altLang="en-US" sz="1400" dirty="0">
                <a:solidFill>
                  <a:srgbClr val="594022"/>
                </a:solidFill>
                <a:ea typeface="+mn-lt"/>
                <a:cs typeface="+mn-lt"/>
              </a:rPr>
              <a:t> </a:t>
            </a:r>
            <a:r>
              <a:rPr lang="ko-KR" sz="1400">
                <a:solidFill>
                  <a:srgbClr val="594022"/>
                </a:solidFill>
                <a:ea typeface="+mn-lt"/>
                <a:cs typeface="+mn-lt"/>
              </a:rPr>
              <a:t>직전 30분 혈당 시차(Lag) 변수화</a:t>
            </a:r>
            <a:endParaRPr lang="ko-KR" sz="1400">
              <a:solidFill>
                <a:srgbClr val="594022"/>
              </a:solidFill>
              <a:ea typeface="맑은 고딕"/>
            </a:endParaRPr>
          </a:p>
          <a:p>
            <a:pPr marL="457200" indent="0">
              <a:lnSpc>
                <a:spcPct val="120000"/>
              </a:lnSpc>
            </a:pPr>
            <a:r>
              <a:rPr lang="ko-KR" sz="1400">
                <a:solidFill>
                  <a:srgbClr val="594022"/>
                </a:solidFill>
                <a:ea typeface="+mn-lt"/>
                <a:cs typeface="+mn-lt"/>
              </a:rPr>
              <a:t> 최근 1시간 인슐린 및 탄수화물 변수 집중</a:t>
            </a:r>
            <a:endParaRPr lang="ko-KR" sz="1400">
              <a:solidFill>
                <a:srgbClr val="594022"/>
              </a:solidFill>
              <a:ea typeface="맑은 고딕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ko-KR" sz="1400">
                <a:solidFill>
                  <a:srgbClr val="594022"/>
                </a:solidFill>
                <a:ea typeface="+mn-lt"/>
                <a:cs typeface="+mn-lt"/>
              </a:rPr>
              <a:t>2. </a:t>
            </a:r>
            <a:r>
              <a:rPr lang="en-US" altLang="ko-KR" sz="1400">
                <a:solidFill>
                  <a:srgbClr val="594022"/>
                </a:solidFill>
                <a:ea typeface="+mn-lt"/>
                <a:cs typeface="+mn-lt"/>
              </a:rPr>
              <a:t>Target</a:t>
            </a:r>
            <a:r>
              <a:rPr lang="ko-KR" altLang="en-US" sz="1400" dirty="0">
                <a:solidFill>
                  <a:srgbClr val="594022"/>
                </a:solidFill>
                <a:ea typeface="+mn-lt"/>
                <a:cs typeface="+mn-lt"/>
              </a:rPr>
              <a:t> </a:t>
            </a:r>
            <a:r>
              <a:rPr lang="en-US" altLang="ko-KR" sz="1400">
                <a:solidFill>
                  <a:srgbClr val="594022"/>
                </a:solidFill>
                <a:ea typeface="+mn-lt"/>
                <a:cs typeface="+mn-lt"/>
              </a:rPr>
              <a:t>Encoding</a:t>
            </a:r>
            <a:endParaRPr lang="ko-KR" sz="1400">
              <a:solidFill>
                <a:srgbClr val="594022"/>
              </a:solidFill>
              <a:ea typeface="맑은 고딕"/>
            </a:endParaRPr>
          </a:p>
          <a:p>
            <a:pPr marL="457200" indent="0">
              <a:lnSpc>
                <a:spcPct val="120000"/>
              </a:lnSpc>
            </a:pPr>
            <a:r>
              <a:rPr lang="ko-KR" sz="1400">
                <a:solidFill>
                  <a:srgbClr val="594022"/>
                </a:solidFill>
                <a:ea typeface="+mn-lt"/>
                <a:cs typeface="+mn-lt"/>
              </a:rPr>
              <a:t> 평균(Mean), 표준편차, 왜도, 첨도</a:t>
            </a:r>
            <a:endParaRPr lang="ko-KR" sz="1400">
              <a:solidFill>
                <a:srgbClr val="594022"/>
              </a:solidFill>
              <a:ea typeface="맑은 고딕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ko-KR" sz="1400">
                <a:solidFill>
                  <a:srgbClr val="594022"/>
                </a:solidFill>
                <a:ea typeface="+mn-lt"/>
                <a:cs typeface="+mn-lt"/>
              </a:rPr>
              <a:t>3. </a:t>
            </a:r>
            <a:r>
              <a:rPr lang="en-US" altLang="ko-KR" sz="1400">
                <a:solidFill>
                  <a:srgbClr val="594022"/>
                </a:solidFill>
                <a:ea typeface="+mn-lt"/>
                <a:cs typeface="+mn-lt"/>
              </a:rPr>
              <a:t>Custom</a:t>
            </a:r>
            <a:r>
              <a:rPr lang="ko-KR" altLang="en-US" sz="1400" dirty="0">
                <a:solidFill>
                  <a:srgbClr val="594022"/>
                </a:solidFill>
                <a:ea typeface="+mn-lt"/>
                <a:cs typeface="+mn-lt"/>
              </a:rPr>
              <a:t> </a:t>
            </a:r>
            <a:r>
              <a:rPr lang="en-US" altLang="ko-KR" sz="1400">
                <a:solidFill>
                  <a:srgbClr val="594022"/>
                </a:solidFill>
                <a:ea typeface="+mn-lt"/>
                <a:cs typeface="+mn-lt"/>
              </a:rPr>
              <a:t>Cross</a:t>
            </a:r>
            <a:r>
              <a:rPr lang="ko-KR" altLang="en-US" sz="1400" dirty="0">
                <a:solidFill>
                  <a:srgbClr val="594022"/>
                </a:solidFill>
                <a:ea typeface="+mn-lt"/>
                <a:cs typeface="+mn-lt"/>
              </a:rPr>
              <a:t> </a:t>
            </a:r>
            <a:r>
              <a:rPr lang="en-US" altLang="ko-KR" sz="1400">
                <a:solidFill>
                  <a:srgbClr val="594022"/>
                </a:solidFill>
                <a:ea typeface="+mn-lt"/>
                <a:cs typeface="+mn-lt"/>
              </a:rPr>
              <a:t>Validation</a:t>
            </a:r>
            <a:endParaRPr lang="ko-KR" sz="1400">
              <a:solidFill>
                <a:srgbClr val="594022"/>
              </a:solidFill>
              <a:ea typeface="맑은 고딕"/>
            </a:endParaRPr>
          </a:p>
          <a:p>
            <a:pPr marL="457200" indent="0">
              <a:lnSpc>
                <a:spcPct val="120000"/>
              </a:lnSpc>
            </a:pPr>
            <a:r>
              <a:rPr lang="ko-KR" altLang="en-US" sz="1400">
                <a:solidFill>
                  <a:srgbClr val="594022"/>
                </a:solidFill>
                <a:ea typeface="+mn-lt"/>
                <a:cs typeface="+mn-lt"/>
              </a:rPr>
              <a:t> 시계열 확장 윈도우 검증</a:t>
            </a:r>
            <a:endParaRPr lang="ko-KR" sz="1400">
              <a:solidFill>
                <a:srgbClr val="594022"/>
              </a:solidFill>
              <a:ea typeface="맑은 고딕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ko-KR" sz="1400">
                <a:solidFill>
                  <a:srgbClr val="594022"/>
                </a:solidFill>
                <a:ea typeface="+mn-lt"/>
                <a:cs typeface="+mn-lt"/>
              </a:rPr>
              <a:t>4. </a:t>
            </a:r>
            <a:r>
              <a:rPr lang="en-US" altLang="ko-KR" sz="1400">
                <a:solidFill>
                  <a:srgbClr val="594022"/>
                </a:solidFill>
                <a:ea typeface="+mn-lt"/>
                <a:cs typeface="+mn-lt"/>
              </a:rPr>
              <a:t>Time</a:t>
            </a:r>
            <a:r>
              <a:rPr lang="ko-KR" altLang="en-US" sz="1400" dirty="0">
                <a:solidFill>
                  <a:srgbClr val="594022"/>
                </a:solidFill>
                <a:ea typeface="+mn-lt"/>
                <a:cs typeface="+mn-lt"/>
              </a:rPr>
              <a:t> </a:t>
            </a:r>
            <a:r>
              <a:rPr lang="en-US" altLang="ko-KR" sz="1400">
                <a:solidFill>
                  <a:srgbClr val="594022"/>
                </a:solidFill>
                <a:ea typeface="+mn-lt"/>
                <a:cs typeface="+mn-lt"/>
              </a:rPr>
              <a:t>&amp;</a:t>
            </a:r>
            <a:r>
              <a:rPr lang="ko-KR" altLang="en-US" sz="1400" dirty="0">
                <a:solidFill>
                  <a:srgbClr val="594022"/>
                </a:solidFill>
                <a:ea typeface="+mn-lt"/>
                <a:cs typeface="+mn-lt"/>
              </a:rPr>
              <a:t> </a:t>
            </a:r>
            <a:r>
              <a:rPr lang="en-US" altLang="ko-KR" sz="1400">
                <a:solidFill>
                  <a:srgbClr val="594022"/>
                </a:solidFill>
                <a:ea typeface="+mn-lt"/>
                <a:cs typeface="+mn-lt"/>
              </a:rPr>
              <a:t>Sampling</a:t>
            </a:r>
            <a:r>
              <a:rPr lang="ko-KR" altLang="en-US" sz="1400" dirty="0">
                <a:solidFill>
                  <a:srgbClr val="594022"/>
                </a:solidFill>
                <a:ea typeface="+mn-lt"/>
                <a:cs typeface="+mn-lt"/>
              </a:rPr>
              <a:t> </a:t>
            </a:r>
            <a:r>
              <a:rPr lang="en-US" altLang="ko-KR" sz="1400">
                <a:solidFill>
                  <a:srgbClr val="594022"/>
                </a:solidFill>
                <a:ea typeface="+mn-lt"/>
                <a:cs typeface="+mn-lt"/>
              </a:rPr>
              <a:t>Features</a:t>
            </a:r>
            <a:endParaRPr lang="ko-KR" altLang="en-US" sz="1400">
              <a:solidFill>
                <a:srgbClr val="594022"/>
              </a:solidFill>
              <a:ea typeface="맑은 고딕" panose="020B0503020000020004" pitchFamily="34" charset="-127"/>
              <a:cs typeface="+mn-lt"/>
            </a:endParaRPr>
          </a:p>
          <a:p>
            <a:pPr marL="457200" indent="0">
              <a:lnSpc>
                <a:spcPct val="120000"/>
              </a:lnSpc>
            </a:pPr>
            <a:r>
              <a:rPr lang="ko-KR" altLang="en-US" sz="1400" dirty="0">
                <a:solidFill>
                  <a:srgbClr val="594022"/>
                </a:solidFill>
                <a:ea typeface="+mn-lt"/>
                <a:cs typeface="+mn-lt"/>
              </a:rPr>
              <a:t> </a:t>
            </a:r>
            <a:r>
              <a:rPr lang="ko-KR" sz="1400">
                <a:solidFill>
                  <a:srgbClr val="594022"/>
                </a:solidFill>
                <a:ea typeface="+mn-lt"/>
                <a:cs typeface="+mn-lt"/>
              </a:rPr>
              <a:t>시간 축 삼각함수 변환 및 Gap Indicator 추가</a:t>
            </a:r>
            <a:endParaRPr lang="ko-KR" sz="1400">
              <a:solidFill>
                <a:srgbClr val="594022"/>
              </a:solidFill>
              <a:ea typeface="맑은 고딕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ko-KR" sz="1400">
                <a:solidFill>
                  <a:srgbClr val="594022"/>
                </a:solidFill>
                <a:ea typeface="+mn-lt"/>
                <a:cs typeface="+mn-lt"/>
              </a:rPr>
              <a:t>5. </a:t>
            </a:r>
            <a:r>
              <a:rPr lang="en-US" altLang="ko-KR" sz="1400">
                <a:solidFill>
                  <a:srgbClr val="594022"/>
                </a:solidFill>
                <a:ea typeface="+mn-lt"/>
                <a:cs typeface="+mn-lt"/>
              </a:rPr>
              <a:t>Hyperparameter</a:t>
            </a:r>
            <a:r>
              <a:rPr lang="ko-KR" altLang="en-US" sz="1400" dirty="0">
                <a:solidFill>
                  <a:srgbClr val="594022"/>
                </a:solidFill>
                <a:ea typeface="+mn-lt"/>
                <a:cs typeface="+mn-lt"/>
              </a:rPr>
              <a:t> </a:t>
            </a:r>
            <a:r>
              <a:rPr lang="en-US" altLang="ko-KR" sz="1400">
                <a:solidFill>
                  <a:srgbClr val="594022"/>
                </a:solidFill>
                <a:ea typeface="+mn-lt"/>
                <a:cs typeface="+mn-lt"/>
              </a:rPr>
              <a:t>Tuning</a:t>
            </a:r>
            <a:endParaRPr lang="en-US" sz="1400">
              <a:solidFill>
                <a:srgbClr val="594022"/>
              </a:solidFill>
              <a:ea typeface="맑은 고딕" panose="020F0502020204030204"/>
            </a:endParaRPr>
          </a:p>
          <a:p>
            <a:pPr marL="457200" indent="0">
              <a:lnSpc>
                <a:spcPct val="120000"/>
              </a:lnSpc>
            </a:pPr>
            <a:r>
              <a:rPr lang="ko-KR" altLang="en-US" sz="1400" dirty="0">
                <a:solidFill>
                  <a:srgbClr val="594022"/>
                </a:solidFill>
                <a:ea typeface="+mn-lt"/>
                <a:cs typeface="+mn-lt"/>
              </a:rPr>
              <a:t> </a:t>
            </a:r>
            <a:r>
              <a:rPr lang="ko-KR" sz="1400">
                <a:solidFill>
                  <a:srgbClr val="594022"/>
                </a:solidFill>
                <a:ea typeface="+mn-lt"/>
                <a:cs typeface="+mn-lt"/>
              </a:rPr>
              <a:t>Optuna 자동 탐색 및 n_estimators 1.5배 확대</a:t>
            </a:r>
            <a:endParaRPr lang="ko-KR" sz="1400">
              <a:solidFill>
                <a:srgbClr val="594022"/>
              </a:solidFill>
              <a:ea typeface="맑은 고딕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3177C0-27C4-90B8-1624-0495582BF988}"/>
              </a:ext>
            </a:extLst>
          </p:cNvPr>
          <p:cNvSpPr txBox="1"/>
          <p:nvPr/>
        </p:nvSpPr>
        <p:spPr>
          <a:xfrm>
            <a:off x="6215789" y="1941287"/>
            <a:ext cx="330200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2000">
                <a:solidFill>
                  <a:srgbClr val="594022"/>
                </a:solidFill>
                <a:ea typeface="맑은 고딕"/>
              </a:rPr>
              <a:t>핵심 최적화 기법</a:t>
            </a:r>
            <a:endParaRPr lang="en-US" sz="2000">
              <a:solidFill>
                <a:srgbClr val="594022"/>
              </a:solidFill>
              <a:ea typeface="맑은 고딕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FA9AA3-45F0-D871-506B-68C24F30978A}"/>
              </a:ext>
            </a:extLst>
          </p:cNvPr>
          <p:cNvSpPr txBox="1"/>
          <p:nvPr/>
        </p:nvSpPr>
        <p:spPr>
          <a:xfrm>
            <a:off x="122465" y="1034143"/>
            <a:ext cx="11933463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Wingdings"/>
              <a:buChar char="§"/>
            </a:pPr>
            <a:r>
              <a:rPr lang="ko-KR" altLang="en-US" sz="2000">
                <a:solidFill>
                  <a:srgbClr val="594022"/>
                </a:solidFill>
                <a:ea typeface="+mn-lt"/>
                <a:cs typeface="+mn-lt"/>
              </a:rPr>
              <a:t>대회</a:t>
            </a:r>
            <a:r>
              <a:rPr lang="en-US" altLang="ko-KR" sz="2000" dirty="0">
                <a:solidFill>
                  <a:srgbClr val="594022"/>
                </a:solidFill>
                <a:ea typeface="+mn-lt"/>
                <a:cs typeface="+mn-lt"/>
              </a:rPr>
              <a:t> </a:t>
            </a:r>
            <a:r>
              <a:rPr lang="ko-KR" altLang="en-US" sz="2000" dirty="0">
                <a:solidFill>
                  <a:srgbClr val="594022"/>
                </a:solidFill>
                <a:ea typeface="+mn-lt"/>
                <a:cs typeface="+mn-lt"/>
              </a:rPr>
              <a:t>배경</a:t>
            </a:r>
            <a:r>
              <a:rPr lang="en-US" sz="2000" dirty="0">
                <a:solidFill>
                  <a:srgbClr val="594022"/>
                </a:solidFill>
                <a:ea typeface="+mn-lt"/>
                <a:cs typeface="+mn-lt"/>
              </a:rPr>
              <a:t>:</a:t>
            </a:r>
            <a:r>
              <a:rPr lang="en-US" altLang="ko-KR" sz="2000" dirty="0">
                <a:solidFill>
                  <a:srgbClr val="594022"/>
                </a:solidFill>
                <a:ea typeface="+mn-lt"/>
                <a:cs typeface="+mn-lt"/>
              </a:rPr>
              <a:t> </a:t>
            </a:r>
            <a:r>
              <a:rPr lang="ko-KR" altLang="en-US" sz="2000" dirty="0">
                <a:solidFill>
                  <a:srgbClr val="594022"/>
                </a:solidFill>
                <a:ea typeface="+mn-lt"/>
                <a:cs typeface="+mn-lt"/>
              </a:rPr>
              <a:t>제</a:t>
            </a:r>
            <a:r>
              <a:rPr lang="en-US" sz="2000" dirty="0">
                <a:solidFill>
                  <a:srgbClr val="594022"/>
                </a:solidFill>
                <a:ea typeface="+mn-lt"/>
                <a:cs typeface="+mn-lt"/>
              </a:rPr>
              <a:t>1</a:t>
            </a:r>
            <a:r>
              <a:rPr lang="ko-KR" altLang="en-US" sz="2000" dirty="0">
                <a:solidFill>
                  <a:srgbClr val="594022"/>
                </a:solidFill>
                <a:ea typeface="+mn-lt"/>
                <a:cs typeface="+mn-lt"/>
              </a:rPr>
              <a:t>형</a:t>
            </a:r>
            <a:r>
              <a:rPr lang="en-US" altLang="ko-KR" sz="2000" dirty="0">
                <a:solidFill>
                  <a:srgbClr val="594022"/>
                </a:solidFill>
                <a:ea typeface="+mn-lt"/>
                <a:cs typeface="+mn-lt"/>
              </a:rPr>
              <a:t> </a:t>
            </a:r>
            <a:r>
              <a:rPr lang="ko-KR" altLang="en-US" sz="2000" dirty="0">
                <a:solidFill>
                  <a:srgbClr val="594022"/>
                </a:solidFill>
                <a:ea typeface="+mn-lt"/>
                <a:cs typeface="+mn-lt"/>
              </a:rPr>
              <a:t>당뇨병</a:t>
            </a:r>
            <a:r>
              <a:rPr lang="en-US" altLang="ko-KR" sz="2000" dirty="0">
                <a:solidFill>
                  <a:srgbClr val="594022"/>
                </a:solidFill>
                <a:ea typeface="+mn-lt"/>
                <a:cs typeface="+mn-lt"/>
              </a:rPr>
              <a:t> </a:t>
            </a:r>
            <a:r>
              <a:rPr lang="ko-KR" altLang="en-US" sz="2000" dirty="0">
                <a:solidFill>
                  <a:srgbClr val="594022"/>
                </a:solidFill>
                <a:ea typeface="+mn-lt"/>
                <a:cs typeface="+mn-lt"/>
              </a:rPr>
              <a:t>환자의</a:t>
            </a:r>
            <a:r>
              <a:rPr lang="en-US" altLang="ko-KR" sz="2000" dirty="0">
                <a:solidFill>
                  <a:srgbClr val="594022"/>
                </a:solidFill>
                <a:ea typeface="+mn-lt"/>
                <a:cs typeface="+mn-lt"/>
              </a:rPr>
              <a:t> </a:t>
            </a:r>
            <a:r>
              <a:rPr lang="ko-KR" altLang="en-US" sz="2000" dirty="0">
                <a:solidFill>
                  <a:srgbClr val="594022"/>
                </a:solidFill>
                <a:ea typeface="+mn-lt"/>
                <a:cs typeface="+mn-lt"/>
              </a:rPr>
              <a:t>생체</a:t>
            </a:r>
            <a:r>
              <a:rPr lang="en-US" altLang="ko-KR" sz="2000" dirty="0">
                <a:solidFill>
                  <a:srgbClr val="594022"/>
                </a:solidFill>
                <a:ea typeface="+mn-lt"/>
                <a:cs typeface="+mn-lt"/>
              </a:rPr>
              <a:t> </a:t>
            </a:r>
            <a:r>
              <a:rPr lang="ko-KR" altLang="en-US" sz="2000" dirty="0">
                <a:solidFill>
                  <a:srgbClr val="594022"/>
                </a:solidFill>
                <a:ea typeface="+mn-lt"/>
                <a:cs typeface="+mn-lt"/>
              </a:rPr>
              <a:t>데이터를</a:t>
            </a:r>
            <a:r>
              <a:rPr lang="en-US" altLang="ko-KR" sz="2000" dirty="0">
                <a:solidFill>
                  <a:srgbClr val="594022"/>
                </a:solidFill>
                <a:ea typeface="+mn-lt"/>
                <a:cs typeface="+mn-lt"/>
              </a:rPr>
              <a:t> </a:t>
            </a:r>
            <a:r>
              <a:rPr lang="ko-KR" altLang="en-US" sz="2000" dirty="0">
                <a:solidFill>
                  <a:srgbClr val="594022"/>
                </a:solidFill>
                <a:ea typeface="+mn-lt"/>
                <a:cs typeface="+mn-lt"/>
              </a:rPr>
              <a:t>활용한</a:t>
            </a:r>
            <a:r>
              <a:rPr lang="en-US" sz="2000" dirty="0">
                <a:solidFill>
                  <a:srgbClr val="594022"/>
                </a:solidFill>
                <a:ea typeface="+mn-lt"/>
                <a:cs typeface="+mn-lt"/>
              </a:rPr>
              <a:t> 1</a:t>
            </a:r>
            <a:r>
              <a:rPr lang="ko-KR" altLang="en-US" sz="2000" dirty="0">
                <a:solidFill>
                  <a:srgbClr val="594022"/>
                </a:solidFill>
                <a:ea typeface="+mn-lt"/>
                <a:cs typeface="+mn-lt"/>
              </a:rPr>
              <a:t>시간</a:t>
            </a:r>
            <a:r>
              <a:rPr lang="en-US" altLang="ko-KR" sz="2000" dirty="0">
                <a:solidFill>
                  <a:srgbClr val="594022"/>
                </a:solidFill>
                <a:ea typeface="+mn-lt"/>
                <a:cs typeface="+mn-lt"/>
              </a:rPr>
              <a:t> </a:t>
            </a:r>
            <a:r>
              <a:rPr lang="ko-KR" altLang="en-US" sz="2000" dirty="0">
                <a:solidFill>
                  <a:srgbClr val="594022"/>
                </a:solidFill>
                <a:ea typeface="+mn-lt"/>
                <a:cs typeface="+mn-lt"/>
              </a:rPr>
              <a:t>후</a:t>
            </a:r>
            <a:r>
              <a:rPr lang="en-US" altLang="ko-KR" sz="2000" dirty="0">
                <a:solidFill>
                  <a:srgbClr val="594022"/>
                </a:solidFill>
                <a:ea typeface="+mn-lt"/>
                <a:cs typeface="+mn-lt"/>
              </a:rPr>
              <a:t> </a:t>
            </a:r>
            <a:r>
              <a:rPr lang="ko-KR" altLang="en-US" sz="2000" dirty="0">
                <a:solidFill>
                  <a:srgbClr val="594022"/>
                </a:solidFill>
                <a:ea typeface="+mn-lt"/>
                <a:cs typeface="+mn-lt"/>
              </a:rPr>
              <a:t>미래</a:t>
            </a:r>
            <a:r>
              <a:rPr lang="en-US" altLang="ko-KR" sz="2000" dirty="0">
                <a:solidFill>
                  <a:srgbClr val="594022"/>
                </a:solidFill>
                <a:ea typeface="+mn-lt"/>
                <a:cs typeface="+mn-lt"/>
              </a:rPr>
              <a:t> </a:t>
            </a:r>
            <a:r>
              <a:rPr lang="ko-KR" altLang="en-US" sz="2000" dirty="0">
                <a:solidFill>
                  <a:srgbClr val="594022"/>
                </a:solidFill>
                <a:ea typeface="+mn-lt"/>
                <a:cs typeface="+mn-lt"/>
              </a:rPr>
              <a:t>혈당</a:t>
            </a:r>
            <a:r>
              <a:rPr lang="en-US" altLang="ko-KR" sz="2000" dirty="0">
                <a:solidFill>
                  <a:srgbClr val="594022"/>
                </a:solidFill>
                <a:ea typeface="+mn-lt"/>
                <a:cs typeface="+mn-lt"/>
              </a:rPr>
              <a:t> </a:t>
            </a:r>
            <a:r>
              <a:rPr lang="ko-KR" altLang="en-US" sz="2000" dirty="0">
                <a:solidFill>
                  <a:srgbClr val="594022"/>
                </a:solidFill>
                <a:ea typeface="+mn-lt"/>
                <a:cs typeface="+mn-lt"/>
              </a:rPr>
              <a:t>예측</a:t>
            </a:r>
            <a:r>
              <a:rPr lang="en-US" sz="2000" dirty="0">
                <a:solidFill>
                  <a:srgbClr val="594022"/>
                </a:solidFill>
                <a:ea typeface="+mn-lt"/>
                <a:cs typeface="+mn-lt"/>
              </a:rPr>
              <a:t> </a:t>
            </a:r>
            <a:endParaRPr lang="en-US">
              <a:solidFill>
                <a:srgbClr val="594022"/>
              </a:solidFill>
              <a:ea typeface="맑은 고딕" panose="020F0502020204030204"/>
            </a:endParaRPr>
          </a:p>
          <a:p>
            <a:pPr marL="342900" indent="-342900">
              <a:buFont typeface="Wingdings"/>
              <a:buChar char="§"/>
            </a:pPr>
            <a:r>
              <a:rPr lang="ko-KR" altLang="en-US" sz="2000">
                <a:solidFill>
                  <a:srgbClr val="594022"/>
                </a:solidFill>
                <a:ea typeface="+mn-lt"/>
                <a:cs typeface="+mn-lt"/>
              </a:rPr>
              <a:t>종합</a:t>
            </a:r>
            <a:r>
              <a:rPr lang="en-US" altLang="ko-KR" sz="2000" dirty="0">
                <a:solidFill>
                  <a:srgbClr val="594022"/>
                </a:solidFill>
                <a:ea typeface="+mn-lt"/>
                <a:cs typeface="+mn-lt"/>
              </a:rPr>
              <a:t> </a:t>
            </a:r>
            <a:r>
              <a:rPr lang="ko-KR" altLang="en-US" sz="2000" dirty="0">
                <a:solidFill>
                  <a:srgbClr val="594022"/>
                </a:solidFill>
                <a:ea typeface="+mn-lt"/>
                <a:cs typeface="+mn-lt"/>
              </a:rPr>
              <a:t>성과</a:t>
            </a:r>
            <a:r>
              <a:rPr lang="en-US" sz="2000" dirty="0">
                <a:solidFill>
                  <a:srgbClr val="594022"/>
                </a:solidFill>
                <a:ea typeface="+mn-lt"/>
                <a:cs typeface="+mn-lt"/>
              </a:rPr>
              <a:t>: Private Leaderboard Score 2.3615 (</a:t>
            </a:r>
            <a:r>
              <a:rPr lang="ko-KR" altLang="en-US" sz="2000" dirty="0">
                <a:solidFill>
                  <a:srgbClr val="594022"/>
                </a:solidFill>
                <a:ea typeface="+mn-lt"/>
                <a:cs typeface="+mn-lt"/>
              </a:rPr>
              <a:t>최종</a:t>
            </a:r>
            <a:r>
              <a:rPr lang="en-US" altLang="ko-KR" sz="2000" dirty="0">
                <a:solidFill>
                  <a:srgbClr val="594022"/>
                </a:solidFill>
                <a:ea typeface="+mn-lt"/>
                <a:cs typeface="+mn-lt"/>
              </a:rPr>
              <a:t> </a:t>
            </a:r>
            <a:r>
              <a:rPr lang="ko-KR" altLang="en-US" sz="2000" dirty="0">
                <a:solidFill>
                  <a:srgbClr val="594022"/>
                </a:solidFill>
                <a:ea typeface="+mn-lt"/>
                <a:cs typeface="+mn-lt"/>
              </a:rPr>
              <a:t>종합</a:t>
            </a:r>
            <a:r>
              <a:rPr lang="en-US" sz="2000" dirty="0">
                <a:solidFill>
                  <a:srgbClr val="594022"/>
                </a:solidFill>
                <a:ea typeface="+mn-lt"/>
                <a:cs typeface="+mn-lt"/>
              </a:rPr>
              <a:t> 1</a:t>
            </a:r>
            <a:r>
              <a:rPr lang="ko-KR" altLang="en-US" sz="2000" dirty="0">
                <a:solidFill>
                  <a:srgbClr val="594022"/>
                </a:solidFill>
                <a:ea typeface="+mn-lt"/>
                <a:cs typeface="+mn-lt"/>
              </a:rPr>
              <a:t>위</a:t>
            </a:r>
            <a:r>
              <a:rPr lang="en-US" altLang="ko-KR" sz="2000" dirty="0">
                <a:solidFill>
                  <a:srgbClr val="594022"/>
                </a:solidFill>
                <a:ea typeface="+mn-lt"/>
                <a:cs typeface="+mn-lt"/>
              </a:rPr>
              <a:t> </a:t>
            </a:r>
            <a:r>
              <a:rPr lang="ko-KR" altLang="en-US" sz="2000" dirty="0">
                <a:solidFill>
                  <a:srgbClr val="594022"/>
                </a:solidFill>
                <a:ea typeface="+mn-lt"/>
                <a:cs typeface="+mn-lt"/>
              </a:rPr>
              <a:t>우승</a:t>
            </a:r>
            <a:r>
              <a:rPr lang="en-US" sz="2000" dirty="0">
                <a:solidFill>
                  <a:srgbClr val="594022"/>
                </a:solidFill>
                <a:ea typeface="+mn-lt"/>
                <a:cs typeface="+mn-lt"/>
              </a:rPr>
              <a:t> /</a:t>
            </a:r>
            <a:r>
              <a:rPr lang="en-US" altLang="ko-KR" sz="2000" dirty="0">
                <a:solidFill>
                  <a:srgbClr val="594022"/>
                </a:solidFill>
                <a:ea typeface="+mn-lt"/>
                <a:cs typeface="+mn-lt"/>
              </a:rPr>
              <a:t> </a:t>
            </a:r>
            <a:r>
              <a:rPr lang="ko-KR" altLang="en-US" sz="2000" dirty="0">
                <a:solidFill>
                  <a:srgbClr val="594022"/>
                </a:solidFill>
                <a:ea typeface="+mn-lt"/>
                <a:cs typeface="+mn-lt"/>
              </a:rPr>
              <a:t>앙상블</a:t>
            </a:r>
            <a:r>
              <a:rPr lang="en-US" altLang="ko-KR" sz="2000" dirty="0">
                <a:solidFill>
                  <a:srgbClr val="594022"/>
                </a:solidFill>
                <a:ea typeface="+mn-lt"/>
                <a:cs typeface="+mn-lt"/>
              </a:rPr>
              <a:t> </a:t>
            </a:r>
            <a:r>
              <a:rPr lang="ko-KR" altLang="en-US" sz="2000" dirty="0">
                <a:solidFill>
                  <a:srgbClr val="594022"/>
                </a:solidFill>
                <a:ea typeface="+mn-lt"/>
                <a:cs typeface="+mn-lt"/>
              </a:rPr>
              <a:t>배제</a:t>
            </a:r>
            <a:r>
              <a:rPr lang="en-US" sz="2000" dirty="0">
                <a:solidFill>
                  <a:srgbClr val="594022"/>
                </a:solidFill>
                <a:ea typeface="+mn-lt"/>
                <a:cs typeface="+mn-lt"/>
              </a:rPr>
              <a:t>)</a:t>
            </a:r>
            <a:endParaRPr lang="en-US" sz="2000">
              <a:solidFill>
                <a:srgbClr val="594022"/>
              </a:solidFill>
              <a:ea typeface="맑은 고딕"/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5958EC8B-0E50-88C6-8765-1C347172F549}"/>
              </a:ext>
            </a:extLst>
          </p:cNvPr>
          <p:cNvCxnSpPr/>
          <p:nvPr/>
        </p:nvCxnSpPr>
        <p:spPr>
          <a:xfrm flipV="1">
            <a:off x="0" y="838526"/>
            <a:ext cx="12181416" cy="21166"/>
          </a:xfrm>
          <a:prstGeom prst="straightConnector1">
            <a:avLst/>
          </a:prstGeom>
          <a:ln>
            <a:solidFill>
              <a:srgbClr val="CCCB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EA2AA1C-1191-BB2C-9404-3A121C933DE5}"/>
              </a:ext>
            </a:extLst>
          </p:cNvPr>
          <p:cNvCxnSpPr>
            <a:cxnSpLocks/>
          </p:cNvCxnSpPr>
          <p:nvPr/>
        </p:nvCxnSpPr>
        <p:spPr>
          <a:xfrm flipV="1">
            <a:off x="137583" y="2351942"/>
            <a:ext cx="12181416" cy="21166"/>
          </a:xfrm>
          <a:prstGeom prst="straightConnector1">
            <a:avLst/>
          </a:prstGeom>
          <a:ln>
            <a:solidFill>
              <a:srgbClr val="CCCB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42DD21F-029E-D3C1-066F-BE77CE3588E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25047" y="1986495"/>
            <a:ext cx="6051060" cy="472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8925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테마</vt:lpstr>
      <vt:lpstr>단일 LightGBM 구조 최적화를 통한 시계열 혈당 예측 사례 리뷰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106</cp:revision>
  <dcterms:created xsi:type="dcterms:W3CDTF">2026-06-09T07:18:46Z</dcterms:created>
  <dcterms:modified xsi:type="dcterms:W3CDTF">2026-06-10T07:01:08Z</dcterms:modified>
</cp:coreProperties>
</file>
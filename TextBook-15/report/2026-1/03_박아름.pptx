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8288000" cy="10287000"/>
  <p:notesSz cx="6858000" cy="9144000"/>
  <p:embeddedFontLst>
    <p:embeddedFont>
      <p:font typeface="Arimo" panose="020B0600000101010101" charset="0"/>
      <p:regular r:id="rId6"/>
    </p:embeddedFont>
    <p:embeddedFont>
      <p:font typeface="HY견고딕" panose="02030600000101010101" pitchFamily="18" charset="-127"/>
      <p:regular r:id="rId7"/>
    </p:embeddedFont>
    <p:embeddedFont>
      <p:font typeface="Noto Sans" panose="020B0502040504020204" pitchFamily="34" charset="0"/>
      <p:regular r:id="rId8"/>
    </p:embeddedFont>
    <p:embeddedFont>
      <p:font typeface="Noto Sans Bold" panose="020B0600000101010101" charset="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viewProps" Target="viewProps.xml"/><Relationship Id="rId5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09.06.2026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안녕하세요. 인공지능전공 202576624 박아름입니다.</a:t>
            </a:r>
          </a:p>
          <a:p>
            <a:endParaRPr lang="en-US"/>
          </a:p>
          <a:p>
            <a:r>
              <a:rPr lang="en-US"/>
              <a:t>Kaggle 은행 고객 이탈 예측 대회에서, 한 분석가가 올린 노트북을 골라서 리뷰해봤습니다.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먼저 전체 분석 흐름입니다.</a:t>
            </a:r>
          </a:p>
          <a:p>
            <a:endParaRPr lang="en-US"/>
          </a:p>
          <a:p>
            <a:r>
              <a:rPr lang="en-US"/>
              <a:t>이 분석은 크게 6단계로 진행되었습니다.</a:t>
            </a:r>
          </a:p>
          <a:p>
            <a:endParaRPr lang="en-US"/>
          </a:p>
          <a:p>
            <a:r>
              <a:rPr lang="en-US"/>
              <a:t>첫 번째는 문제 정의입니다.</a:t>
            </a:r>
          </a:p>
          <a:p>
            <a:endParaRPr lang="en-US"/>
          </a:p>
          <a:p>
            <a:r>
              <a:rPr lang="en-US"/>
              <a:t>이 과제는 은행 고객이 이탈할지, 이탈하지 않을지를 예측하는 이진분류 문제입니다.</a:t>
            </a:r>
          </a:p>
          <a:p>
            <a:endParaRPr lang="en-US"/>
          </a:p>
          <a:p>
            <a:r>
              <a:rPr lang="en-US"/>
              <a:t>대회에서 사용하는 평가지표는 ROC-AUC이고, 학습 데이터는 약 16만 5천 행 규모입니다.</a:t>
            </a:r>
          </a:p>
          <a:p>
            <a:endParaRPr lang="en-US"/>
          </a:p>
          <a:p>
            <a:r>
              <a:rPr lang="en-US"/>
              <a:t>두 번째는 EDA, 즉 탐색적 데이터 분석입니다.</a:t>
            </a:r>
          </a:p>
          <a:p>
            <a:endParaRPr lang="en-US"/>
          </a:p>
          <a:p>
            <a:r>
              <a:rPr lang="en-US"/>
              <a:t>분석 과정에서 결측치와 중복값을 먼저 확인했는데, 둘 다 0건이었습니다.</a:t>
            </a:r>
          </a:p>
          <a:p>
            <a:endParaRPr lang="en-US"/>
          </a:p>
          <a:p>
            <a:r>
              <a:rPr lang="en-US"/>
              <a:t>이후 주요 변수별 분포를 시각화하고, 변수들 사이의 상관관계도 함께 분석했습니다.</a:t>
            </a:r>
          </a:p>
          <a:p>
            <a:endParaRPr lang="en-US"/>
          </a:p>
          <a:p>
            <a:r>
              <a:rPr lang="en-US"/>
              <a:t>세 번째는 전처리와 피처 엔지니어링입니다.</a:t>
            </a:r>
          </a:p>
          <a:p>
            <a:endParaRPr lang="en-US"/>
          </a:p>
          <a:p>
            <a:r>
              <a:rPr lang="en-US"/>
              <a:t>수치형 변수에는 MinMax 스케일링을 적용했고, 범주형 변수에는 One-Hot 인코딩을 적용했습니다.</a:t>
            </a:r>
          </a:p>
          <a:p>
            <a:endParaRPr lang="en-US"/>
          </a:p>
          <a:p>
            <a:r>
              <a:rPr lang="en-US"/>
              <a:t>또 고객 이름과 같은 텍스트 정보는 TF-IDF로 벡터화한 뒤, SVD를 통해 3차원으로 축소했습니다.</a:t>
            </a:r>
          </a:p>
          <a:p>
            <a:endParaRPr lang="en-US"/>
          </a:p>
          <a:p>
            <a:r>
              <a:rPr lang="en-US"/>
              <a:t>여기에 도메인 지식을 반영한 파생변수 4종도 추가했습니다.</a:t>
            </a:r>
          </a:p>
          <a:p>
            <a:endParaRPr lang="en-US"/>
          </a:p>
          <a:p>
            <a:r>
              <a:rPr lang="en-US"/>
              <a:t>네 번째는 모델링과 튜닝입니다.</a:t>
            </a:r>
          </a:p>
          <a:p>
            <a:endParaRPr lang="en-US"/>
          </a:p>
          <a:p>
            <a:r>
              <a:rPr lang="en-US"/>
              <a:t>LightGBM은 총 9종의 주요 하이퍼파라미터를 설정했고, CatBoost는 범주형 변수를 내부 알고리즘에서 자동으로 처리하도록 활용했습니다.</a:t>
            </a:r>
          </a:p>
          <a:p>
            <a:endParaRPr lang="en-US"/>
          </a:p>
          <a:p>
            <a:r>
              <a:rPr lang="en-US"/>
              <a:t>다섯 번째는 교차검증입니다.</a:t>
            </a:r>
          </a:p>
          <a:p>
            <a:endParaRPr lang="en-US"/>
          </a:p>
          <a:p>
            <a:r>
              <a:rPr lang="en-US"/>
              <a:t>클래스 비율이 유지되도록 StratifiedKFold를 사용했고, LightGBM은 10-fold, CatBoost는 5-fold로 설계했습니다.</a:t>
            </a:r>
          </a:p>
          <a:p>
            <a:endParaRPr lang="en-US"/>
          </a:p>
          <a:p>
            <a:r>
              <a:rPr lang="en-US"/>
              <a:t>각 Fold에서 나온 예측값을 평균내면서 모델의 분산을 줄이는 효과를 얻었습니다.</a:t>
            </a:r>
          </a:p>
          <a:p>
            <a:endParaRPr lang="en-US"/>
          </a:p>
          <a:p>
            <a:r>
              <a:rPr lang="en-US"/>
              <a:t>마지막 여섯 번째는 최종 평가입니다.</a:t>
            </a:r>
          </a:p>
          <a:p>
            <a:endParaRPr lang="en-US"/>
          </a:p>
          <a:p>
            <a:r>
              <a:rPr lang="en-US"/>
              <a:t>최종 ROC-AUC는 약 0.8945를 달성했습니다.</a:t>
            </a:r>
          </a:p>
          <a:p>
            <a:endParaRPr lang="en-US"/>
          </a:p>
          <a:p>
            <a:r>
              <a:rPr lang="en-US"/>
              <a:t>다만 이 점수에는 뒤에서 설명드릴 Override 보정 트릭이 포함되어 있기 때문에, 점수 자체만 보고 모델이 우수하다고 판단하기는 어렵습니다.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다음으로는 핵심 최적화 기법과 결과 요약, 한계점을 말씀드리겠습니다.</a:t>
            </a:r>
          </a:p>
          <a:p>
            <a:endParaRPr lang="en-US"/>
          </a:p>
          <a:p>
            <a:r>
              <a:rPr lang="en-US"/>
              <a:t>먼저 피처 엔지니어링에서 인상적이었던 부분은 TF-IDF와 SVD입니다.</a:t>
            </a:r>
          </a:p>
          <a:p>
            <a:r>
              <a:rPr lang="en-US"/>
              <a:t>보통 고객 이름은 제외하는 경우가 많은데, 이 코드에서는 이름을 텍스트처럼 벡터화하고 3차원으로 압축해서 모델이 활용하도록 했습니다.</a:t>
            </a:r>
          </a:p>
          <a:p>
            <a:r>
              <a:rPr lang="en-US"/>
              <a:t>여기에 Senior, 활성카드회원, 가입기간과 상품 수 비율 같은 도메인 파생변수도 추가했습니다.</a:t>
            </a:r>
          </a:p>
          <a:p>
            <a:r>
              <a:rPr lang="en-US"/>
              <a:t>모델링에서는 LightGBM의 주요 파라미터를 세밀하게 튜닝했고, CatBoost는 범주형 변수를 자동으로 처리하는 장점을 활용했습니다.</a:t>
            </a:r>
          </a:p>
          <a:p>
            <a:r>
              <a:rPr lang="en-US"/>
              <a:t>교차검증은 StratifiedKFold를 사용해 클래스 비율을 유지했고, Fold별 예측값을 평균내서 분산을 줄였습니다.</a:t>
            </a:r>
          </a:p>
          <a:p>
            <a:r>
              <a:rPr lang="en-US"/>
              <a:t>다만 중요한 한계가 세 가지 있었습니다.</a:t>
            </a:r>
          </a:p>
          <a:p>
            <a:r>
              <a:rPr lang="en-US"/>
              <a:t>첫째, 테스트셋에 실제 정답 라벨을 붙여 예측을 보정한 데이터 누수 문제가 있었습니다.</a:t>
            </a:r>
          </a:p>
          <a:p>
            <a:r>
              <a:rPr lang="en-US"/>
              <a:t>둘째, 테스트 데이터에 스케일러를 다시 fit_transform해서 테스트 분포가 전처리에 반영되는 오류가 있었습니다.</a:t>
            </a:r>
          </a:p>
          <a:p>
            <a:r>
              <a:rPr lang="en-US"/>
              <a:t>셋째, CatBoost AUC를 저장해야 하는 부분에서 LightGBM 점수를 저장한 버그가 있었습니다.</a:t>
            </a:r>
          </a:p>
          <a:p>
            <a:r>
              <a:rPr lang="en-US"/>
              <a:t>그래서 "두 모델의 성능이 비슷하다"는 결론도 실제로는 코드 버그로 인한 착시일 수 있습니다.</a:t>
            </a:r>
          </a:p>
          <a:p>
            <a:endParaRPr lang="en-US"/>
          </a:p>
          <a:p>
            <a:r>
              <a:rPr lang="en-US"/>
              <a:t>[마무리] — 약 0:15</a:t>
            </a:r>
          </a:p>
          <a:p>
            <a:r>
              <a:rPr lang="en-US"/>
              <a:t>정리하면, 이 노트북은 텍스트 압축, 파생변수 생성, 튜닝, 앙상블까지 기법적으로는 잘 구성된 사례입니다.</a:t>
            </a:r>
          </a:p>
          <a:p>
            <a:r>
              <a:rPr lang="en-US"/>
              <a:t>하지만 데이터 누수와 코드 버그가 함께 있었기 때문에, 높은 점수가 항상 좋은 모델을 의미하지는 않는다는 것, 그리고 코드 한 줄 실수가 분석 결론 전체를 바꿀 수 있다는 점을 보여줍니다.</a:t>
            </a:r>
          </a:p>
          <a:p>
            <a:r>
              <a:rPr lang="en-US"/>
              <a:t>이상으로 발표를 마치겠습니다. 감사합니다.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jpe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11" Type="http://schemas.openxmlformats.org/officeDocument/2006/relationships/image" Target="../media/image10.svg"/><Relationship Id="rId5" Type="http://schemas.openxmlformats.org/officeDocument/2006/relationships/image" Target="../media/image5.svg"/><Relationship Id="rId10" Type="http://schemas.openxmlformats.org/officeDocument/2006/relationships/hyperlink" Target="https://www.kaggle.com/code/abdmental01/bank-churn-lightgbm-and-catboost-0-8945" TargetMode="External"/><Relationship Id="rId4" Type="http://schemas.openxmlformats.org/officeDocument/2006/relationships/image" Target="../media/image4.svg"/><Relationship Id="rId9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17508255" y="363173"/>
            <a:ext cx="90727" cy="403229"/>
          </a:xfrm>
          <a:custGeom>
            <a:avLst/>
            <a:gdLst/>
            <a:ahLst/>
            <a:cxnLst/>
            <a:rect l="l" t="t" r="r" b="b"/>
            <a:pathLst>
              <a:path w="90727" h="403229">
                <a:moveTo>
                  <a:pt x="0" y="0"/>
                </a:moveTo>
                <a:lnTo>
                  <a:pt x="90727" y="0"/>
                </a:lnTo>
                <a:lnTo>
                  <a:pt x="90727" y="403229"/>
                </a:lnTo>
                <a:lnTo>
                  <a:pt x="0" y="4032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9969879"/>
            <a:ext cx="18288000" cy="317121"/>
            <a:chOff x="0" y="0"/>
            <a:chExt cx="4816593" cy="8352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83522"/>
            </a:xfrm>
            <a:custGeom>
              <a:avLst/>
              <a:gdLst/>
              <a:ahLst/>
              <a:cxnLst/>
              <a:rect l="l" t="t" r="r" b="b"/>
              <a:pathLst>
                <a:path w="4816592" h="83522">
                  <a:moveTo>
                    <a:pt x="0" y="0"/>
                  </a:moveTo>
                  <a:lnTo>
                    <a:pt x="4816592" y="0"/>
                  </a:lnTo>
                  <a:lnTo>
                    <a:pt x="4816592" y="83522"/>
                  </a:lnTo>
                  <a:lnTo>
                    <a:pt x="0" y="83522"/>
                  </a:lnTo>
                  <a:close/>
                </a:path>
              </a:pathLst>
            </a:custGeom>
            <a:solidFill>
              <a:srgbClr val="2E745F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4816593" cy="1120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33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833916" y="3311022"/>
            <a:ext cx="4064220" cy="4064220"/>
          </a:xfrm>
          <a:custGeom>
            <a:avLst/>
            <a:gdLst/>
            <a:ahLst/>
            <a:cxnLst/>
            <a:rect l="l" t="t" r="r" b="b"/>
            <a:pathLst>
              <a:path w="4064220" h="4064220">
                <a:moveTo>
                  <a:pt x="0" y="0"/>
                </a:moveTo>
                <a:lnTo>
                  <a:pt x="4064220" y="0"/>
                </a:lnTo>
                <a:lnTo>
                  <a:pt x="4064220" y="4064220"/>
                </a:lnTo>
                <a:lnTo>
                  <a:pt x="0" y="40642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7" name="TextBox 7"/>
          <p:cNvSpPr txBox="1"/>
          <p:nvPr/>
        </p:nvSpPr>
        <p:spPr>
          <a:xfrm>
            <a:off x="5173564" y="4835200"/>
            <a:ext cx="11938577" cy="453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02"/>
              </a:lnSpc>
            </a:pPr>
            <a:r>
              <a:rPr lang="en-US" sz="2700" b="1" spc="-122" dirty="0">
                <a:solidFill>
                  <a:srgbClr val="000000">
                    <a:alpha val="93725"/>
                  </a:srgbClr>
                </a:solidFill>
                <a:latin typeface="+mj-ea"/>
                <a:ea typeface="+mj-ea"/>
                <a:cs typeface="JASO Sans Bold"/>
                <a:sym typeface="JASO Sans Bold"/>
              </a:rPr>
              <a:t>Kaggle Bank Churn </a:t>
            </a:r>
            <a:r>
              <a:rPr lang="en-US" sz="2700" b="1" spc="-122" dirty="0" err="1">
                <a:solidFill>
                  <a:srgbClr val="000000">
                    <a:alpha val="93725"/>
                  </a:srgbClr>
                </a:solidFill>
                <a:latin typeface="+mj-ea"/>
                <a:ea typeface="+mj-ea"/>
                <a:cs typeface="JASO Sans Bold"/>
                <a:sym typeface="JASO Sans Bold"/>
              </a:rPr>
              <a:t>고객</a:t>
            </a:r>
            <a:r>
              <a:rPr lang="en-US" sz="2700" b="1" spc="-122" dirty="0">
                <a:solidFill>
                  <a:srgbClr val="000000">
                    <a:alpha val="93725"/>
                  </a:srgbClr>
                </a:solidFill>
                <a:latin typeface="+mj-ea"/>
                <a:ea typeface="+mj-ea"/>
                <a:cs typeface="JASO Sans Bold"/>
                <a:sym typeface="JASO Sans Bold"/>
              </a:rPr>
              <a:t> </a:t>
            </a:r>
            <a:r>
              <a:rPr lang="en-US" sz="2700" b="1" spc="-122" dirty="0" err="1">
                <a:solidFill>
                  <a:srgbClr val="000000">
                    <a:alpha val="93725"/>
                  </a:srgbClr>
                </a:solidFill>
                <a:latin typeface="+mj-ea"/>
                <a:ea typeface="+mj-ea"/>
                <a:cs typeface="JASO Sans Bold"/>
                <a:sym typeface="JASO Sans Bold"/>
              </a:rPr>
              <a:t>이탈</a:t>
            </a:r>
            <a:r>
              <a:rPr lang="en-US" sz="2700" b="1" spc="-122" dirty="0">
                <a:solidFill>
                  <a:srgbClr val="000000">
                    <a:alpha val="93725"/>
                  </a:srgbClr>
                </a:solidFill>
                <a:latin typeface="+mj-ea"/>
                <a:ea typeface="+mj-ea"/>
                <a:cs typeface="JASO Sans Bold"/>
                <a:sym typeface="JASO Sans Bold"/>
              </a:rPr>
              <a:t> </a:t>
            </a:r>
            <a:r>
              <a:rPr lang="en-US" sz="2700" b="1" spc="-122" dirty="0" err="1">
                <a:solidFill>
                  <a:srgbClr val="000000">
                    <a:alpha val="93725"/>
                  </a:srgbClr>
                </a:solidFill>
                <a:latin typeface="+mj-ea"/>
                <a:ea typeface="+mj-ea"/>
                <a:cs typeface="JASO Sans Bold"/>
                <a:sym typeface="JASO Sans Bold"/>
              </a:rPr>
              <a:t>예측</a:t>
            </a:r>
            <a:r>
              <a:rPr lang="en-US" sz="2700" b="1" spc="-122" dirty="0">
                <a:solidFill>
                  <a:srgbClr val="000000">
                    <a:alpha val="93725"/>
                  </a:srgbClr>
                </a:solidFill>
                <a:latin typeface="+mj-ea"/>
                <a:ea typeface="+mj-ea"/>
                <a:cs typeface="JASO Sans Bold"/>
                <a:sym typeface="JASO Sans Bold"/>
              </a:rPr>
              <a:t>: </a:t>
            </a:r>
            <a:r>
              <a:rPr lang="en-US" sz="2700" b="1" spc="-122" dirty="0" err="1">
                <a:solidFill>
                  <a:srgbClr val="000000">
                    <a:alpha val="93725"/>
                  </a:srgbClr>
                </a:solidFill>
                <a:latin typeface="+mj-ea"/>
                <a:ea typeface="+mj-ea"/>
                <a:cs typeface="JASO Sans Bold"/>
                <a:sym typeface="JASO Sans Bold"/>
              </a:rPr>
              <a:t>LightGBM</a:t>
            </a:r>
            <a:r>
              <a:rPr lang="en-US" sz="2700" b="1" spc="-122" dirty="0">
                <a:solidFill>
                  <a:srgbClr val="000000">
                    <a:alpha val="93725"/>
                  </a:srgbClr>
                </a:solidFill>
                <a:latin typeface="+mj-ea"/>
                <a:ea typeface="+mj-ea"/>
                <a:cs typeface="JASO Sans Bold"/>
                <a:sym typeface="JASO Sans Bold"/>
              </a:rPr>
              <a:t> &amp; </a:t>
            </a:r>
            <a:r>
              <a:rPr lang="en-US" sz="2700" b="1" spc="-122" dirty="0" err="1">
                <a:solidFill>
                  <a:srgbClr val="000000">
                    <a:alpha val="93725"/>
                  </a:srgbClr>
                </a:solidFill>
                <a:latin typeface="+mj-ea"/>
                <a:ea typeface="+mj-ea"/>
                <a:cs typeface="JASO Sans Bold"/>
                <a:sym typeface="JASO Sans Bold"/>
              </a:rPr>
              <a:t>CatBoost</a:t>
            </a:r>
            <a:r>
              <a:rPr lang="en-US" sz="2700" b="1" spc="-122" dirty="0">
                <a:solidFill>
                  <a:srgbClr val="000000">
                    <a:alpha val="93725"/>
                  </a:srgbClr>
                </a:solidFill>
                <a:latin typeface="+mj-ea"/>
                <a:ea typeface="+mj-ea"/>
                <a:cs typeface="JASO Sans Bold"/>
                <a:sym typeface="JASO Sans Bold"/>
              </a:rPr>
              <a:t> </a:t>
            </a:r>
            <a:r>
              <a:rPr lang="en-US" sz="2700" b="1" spc="-122" dirty="0" err="1">
                <a:solidFill>
                  <a:srgbClr val="000000">
                    <a:alpha val="93725"/>
                  </a:srgbClr>
                </a:solidFill>
                <a:latin typeface="+mj-ea"/>
                <a:ea typeface="+mj-ea"/>
                <a:cs typeface="JASO Sans Bold"/>
                <a:sym typeface="JASO Sans Bold"/>
              </a:rPr>
              <a:t>최적화</a:t>
            </a:r>
            <a:r>
              <a:rPr lang="en-US" sz="2700" b="1" spc="-122" dirty="0">
                <a:solidFill>
                  <a:srgbClr val="000000">
                    <a:alpha val="93725"/>
                  </a:srgbClr>
                </a:solidFill>
                <a:latin typeface="+mj-ea"/>
                <a:ea typeface="+mj-ea"/>
                <a:cs typeface="JASO Sans Bold"/>
                <a:sym typeface="JASO Sans Bold"/>
              </a:rPr>
              <a:t> </a:t>
            </a:r>
            <a:r>
              <a:rPr lang="en-US" sz="2700" b="1" spc="-122" dirty="0" err="1">
                <a:solidFill>
                  <a:srgbClr val="000000">
                    <a:alpha val="93725"/>
                  </a:srgbClr>
                </a:solidFill>
                <a:latin typeface="+mj-ea"/>
                <a:ea typeface="+mj-ea"/>
                <a:cs typeface="JASO Sans Bold"/>
                <a:sym typeface="JASO Sans Bold"/>
              </a:rPr>
              <a:t>기법</a:t>
            </a:r>
            <a:r>
              <a:rPr lang="en-US" sz="2700" b="1" spc="-122" dirty="0">
                <a:solidFill>
                  <a:srgbClr val="000000">
                    <a:alpha val="93725"/>
                  </a:srgbClr>
                </a:solidFill>
                <a:latin typeface="+mj-ea"/>
                <a:ea typeface="+mj-ea"/>
                <a:cs typeface="JASO Sans Bold"/>
                <a:sym typeface="JASO Sans Bold"/>
              </a:rPr>
              <a:t> </a:t>
            </a:r>
            <a:r>
              <a:rPr lang="en-US" sz="2700" b="1" spc="-122" dirty="0" err="1">
                <a:solidFill>
                  <a:srgbClr val="000000">
                    <a:alpha val="93725"/>
                  </a:srgbClr>
                </a:solidFill>
                <a:latin typeface="+mj-ea"/>
                <a:ea typeface="+mj-ea"/>
                <a:cs typeface="JASO Sans Bold"/>
                <a:sym typeface="JASO Sans Bold"/>
              </a:rPr>
              <a:t>리뷰</a:t>
            </a:r>
            <a:endParaRPr lang="en-US" sz="2700" b="1" spc="-122" dirty="0">
              <a:solidFill>
                <a:srgbClr val="000000">
                  <a:alpha val="93725"/>
                </a:srgbClr>
              </a:solidFill>
              <a:latin typeface="+mj-ea"/>
              <a:ea typeface="+mj-ea"/>
              <a:cs typeface="JASO Sans Bold"/>
              <a:sym typeface="JASO Sans Bold"/>
            </a:endParaRPr>
          </a:p>
        </p:txBody>
      </p:sp>
      <p:sp>
        <p:nvSpPr>
          <p:cNvPr id="8" name="TextBox 8"/>
          <p:cNvSpPr txBox="1"/>
          <p:nvPr/>
        </p:nvSpPr>
        <p:spPr>
          <a:xfrm rot="-18144">
            <a:off x="5176201" y="3566282"/>
            <a:ext cx="12227313" cy="9902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815"/>
              </a:lnSpc>
            </a:pPr>
            <a:r>
              <a:rPr lang="en-US" sz="6600" b="1" spc="-359" dirty="0" err="1">
                <a:solidFill>
                  <a:srgbClr val="2E745F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JASO Sans Heavy"/>
                <a:sym typeface="JASO Sans Heavy"/>
              </a:rPr>
              <a:t>머신러닝</a:t>
            </a:r>
            <a:r>
              <a:rPr lang="en-US" sz="6600" b="1" spc="-359" dirty="0">
                <a:solidFill>
                  <a:srgbClr val="2E745F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JASO Sans Heavy"/>
                <a:sym typeface="JASO Sans Heavy"/>
              </a:rPr>
              <a:t> </a:t>
            </a:r>
            <a:r>
              <a:rPr lang="en-US" sz="6600" b="1" spc="-359" dirty="0" err="1">
                <a:solidFill>
                  <a:srgbClr val="2E745F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JASO Sans Heavy"/>
                <a:sym typeface="JASO Sans Heavy"/>
              </a:rPr>
              <a:t>모델의</a:t>
            </a:r>
            <a:r>
              <a:rPr lang="en-US" sz="6600" b="1" spc="-359" dirty="0">
                <a:solidFill>
                  <a:srgbClr val="2E745F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JASO Sans Heavy"/>
                <a:sym typeface="JASO Sans Heavy"/>
              </a:rPr>
              <a:t> </a:t>
            </a:r>
            <a:r>
              <a:rPr lang="en-US" sz="6600" b="1" spc="-359" dirty="0" err="1">
                <a:solidFill>
                  <a:srgbClr val="2E745F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JASO Sans Heavy"/>
                <a:sym typeface="JASO Sans Heavy"/>
              </a:rPr>
              <a:t>최적화</a:t>
            </a:r>
            <a:r>
              <a:rPr lang="en-US" sz="6600" b="1" spc="-359" dirty="0">
                <a:solidFill>
                  <a:srgbClr val="2E745F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JASO Sans Heavy"/>
                <a:sym typeface="JASO Sans Heavy"/>
              </a:rPr>
              <a:t> </a:t>
            </a:r>
            <a:r>
              <a:rPr lang="en-US" sz="6600" b="1" spc="-359" dirty="0" err="1">
                <a:solidFill>
                  <a:srgbClr val="2E745F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JASO Sans Heavy"/>
                <a:sym typeface="JASO Sans Heavy"/>
              </a:rPr>
              <a:t>사례</a:t>
            </a:r>
            <a:r>
              <a:rPr lang="en-US" sz="6600" b="1" spc="-359" dirty="0">
                <a:solidFill>
                  <a:srgbClr val="2E745F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JASO Sans Heavy"/>
                <a:sym typeface="JASO Sans Heavy"/>
              </a:rPr>
              <a:t> </a:t>
            </a:r>
            <a:r>
              <a:rPr lang="en-US" sz="6600" b="1" spc="-359" dirty="0" err="1">
                <a:solidFill>
                  <a:srgbClr val="2E745F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JASO Sans Heavy"/>
                <a:sym typeface="JASO Sans Heavy"/>
              </a:rPr>
              <a:t>발표</a:t>
            </a:r>
            <a:endParaRPr lang="en-US" sz="6600" b="1" spc="-359" dirty="0">
              <a:solidFill>
                <a:srgbClr val="2E745F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JASO Sans Heavy"/>
              <a:sym typeface="JASO Sans Heavy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5173564" y="5735375"/>
            <a:ext cx="10657449" cy="444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655"/>
              </a:lnSpc>
              <a:spcBef>
                <a:spcPct val="0"/>
              </a:spcBef>
            </a:pPr>
            <a:r>
              <a:rPr lang="en-US" sz="2611" spc="-187" dirty="0" err="1">
                <a:solidFill>
                  <a:srgbClr val="000000"/>
                </a:solidFill>
                <a:latin typeface="+mj-ea"/>
                <a:ea typeface="+mj-ea"/>
                <a:cs typeface="JASO Sans"/>
                <a:sym typeface="JASO Sans"/>
              </a:rPr>
              <a:t>건국대학교</a:t>
            </a:r>
            <a:r>
              <a:rPr lang="en-US" sz="2611" spc="-187" dirty="0">
                <a:solidFill>
                  <a:srgbClr val="000000"/>
                </a:solidFill>
                <a:latin typeface="+mj-ea"/>
                <a:ea typeface="+mj-ea"/>
                <a:cs typeface="JASO Sans"/>
                <a:sym typeface="JASO Sans"/>
              </a:rPr>
              <a:t> </a:t>
            </a:r>
            <a:r>
              <a:rPr lang="en-US" sz="2611" spc="-187" dirty="0" err="1">
                <a:solidFill>
                  <a:srgbClr val="000000"/>
                </a:solidFill>
                <a:latin typeface="+mj-ea"/>
                <a:ea typeface="+mj-ea"/>
                <a:cs typeface="JASO Sans"/>
                <a:sym typeface="JASO Sans"/>
              </a:rPr>
              <a:t>정보통신대학원</a:t>
            </a:r>
            <a:r>
              <a:rPr lang="en-US" sz="2611" spc="-187" dirty="0">
                <a:solidFill>
                  <a:srgbClr val="000000"/>
                </a:solidFill>
                <a:latin typeface="+mj-ea"/>
                <a:ea typeface="+mj-ea"/>
                <a:cs typeface="JASO Sans"/>
                <a:sym typeface="JASO Sans"/>
              </a:rPr>
              <a:t> │ </a:t>
            </a:r>
            <a:r>
              <a:rPr lang="en-US" sz="2611" spc="-187" dirty="0" err="1">
                <a:solidFill>
                  <a:srgbClr val="000000"/>
                </a:solidFill>
                <a:latin typeface="+mj-ea"/>
                <a:ea typeface="+mj-ea"/>
                <a:cs typeface="JASO Sans"/>
                <a:sym typeface="JASO Sans"/>
              </a:rPr>
              <a:t>머신러닝</a:t>
            </a:r>
            <a:r>
              <a:rPr lang="en-US" sz="2611" spc="-187" dirty="0">
                <a:solidFill>
                  <a:srgbClr val="000000"/>
                </a:solidFill>
                <a:latin typeface="+mj-ea"/>
                <a:ea typeface="+mj-ea"/>
                <a:cs typeface="JASO Sans"/>
                <a:sym typeface="JASO Sans"/>
              </a:rPr>
              <a:t> </a:t>
            </a:r>
            <a:r>
              <a:rPr lang="en-US" sz="2611" spc="-187" dirty="0" err="1">
                <a:solidFill>
                  <a:srgbClr val="000000"/>
                </a:solidFill>
                <a:latin typeface="+mj-ea"/>
                <a:ea typeface="+mj-ea"/>
                <a:cs typeface="JASO Sans"/>
                <a:sym typeface="JASO Sans"/>
              </a:rPr>
              <a:t>기반의</a:t>
            </a:r>
            <a:r>
              <a:rPr lang="en-US" sz="2611" spc="-187" dirty="0">
                <a:solidFill>
                  <a:srgbClr val="000000"/>
                </a:solidFill>
                <a:latin typeface="+mj-ea"/>
                <a:ea typeface="+mj-ea"/>
                <a:cs typeface="JASO Sans"/>
                <a:sym typeface="JASO Sans"/>
              </a:rPr>
              <a:t> </a:t>
            </a:r>
            <a:r>
              <a:rPr lang="en-US" sz="2611" spc="-187" dirty="0" err="1">
                <a:solidFill>
                  <a:srgbClr val="000000"/>
                </a:solidFill>
                <a:latin typeface="+mj-ea"/>
                <a:ea typeface="+mj-ea"/>
                <a:cs typeface="JASO Sans"/>
                <a:sym typeface="JASO Sans"/>
              </a:rPr>
              <a:t>연구방법론</a:t>
            </a:r>
            <a:endParaRPr lang="en-US" sz="2611" spc="-187" dirty="0">
              <a:solidFill>
                <a:srgbClr val="000000"/>
              </a:solidFill>
              <a:latin typeface="+mj-ea"/>
              <a:ea typeface="+mj-ea"/>
              <a:cs typeface="JASO Sans"/>
              <a:sym typeface="JASO San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5173564" y="6328662"/>
            <a:ext cx="7071422" cy="444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55"/>
              </a:lnSpc>
            </a:pPr>
            <a:r>
              <a:rPr lang="en-US" sz="2611" dirty="0" err="1">
                <a:solidFill>
                  <a:srgbClr val="000000"/>
                </a:solidFill>
                <a:latin typeface="+mj-ea"/>
                <a:ea typeface="+mj-ea"/>
                <a:cs typeface="JASO Sans"/>
                <a:sym typeface="JASO Sans"/>
              </a:rPr>
              <a:t>인공지능전공</a:t>
            </a:r>
            <a:r>
              <a:rPr lang="en-US" sz="2611" dirty="0">
                <a:solidFill>
                  <a:srgbClr val="000000"/>
                </a:solidFill>
                <a:latin typeface="+mj-ea"/>
                <a:ea typeface="+mj-ea"/>
                <a:cs typeface="JASO Sans"/>
                <a:sym typeface="JASO Sans"/>
              </a:rPr>
              <a:t> 202576624 박아름</a:t>
            </a:r>
          </a:p>
        </p:txBody>
      </p:sp>
      <p:sp>
        <p:nvSpPr>
          <p:cNvPr id="11" name="AutoShape 11"/>
          <p:cNvSpPr/>
          <p:nvPr/>
        </p:nvSpPr>
        <p:spPr>
          <a:xfrm>
            <a:off x="5173575" y="5560499"/>
            <a:ext cx="12031270" cy="0"/>
          </a:xfrm>
          <a:prstGeom prst="line">
            <a:avLst/>
          </a:prstGeom>
          <a:ln w="19050" cap="flat">
            <a:solidFill>
              <a:srgbClr val="2E745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619755"/>
            <a:chOff x="0" y="0"/>
            <a:chExt cx="24402453" cy="21596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2159635"/>
            </a:xfrm>
            <a:custGeom>
              <a:avLst/>
              <a:gdLst/>
              <a:ahLst/>
              <a:cxnLst/>
              <a:rect l="l" t="t" r="r" b="b"/>
              <a:pathLst>
                <a:path w="24402414" h="2159635">
                  <a:moveTo>
                    <a:pt x="0" y="0"/>
                  </a:moveTo>
                  <a:lnTo>
                    <a:pt x="24402414" y="0"/>
                  </a:lnTo>
                  <a:lnTo>
                    <a:pt x="24402414" y="2159635"/>
                  </a:lnTo>
                  <a:lnTo>
                    <a:pt x="0" y="2159635"/>
                  </a:lnTo>
                  <a:close/>
                </a:path>
              </a:pathLst>
            </a:custGeom>
            <a:solidFill>
              <a:srgbClr val="2E745F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98434" y="276734"/>
            <a:ext cx="13177657" cy="863975"/>
            <a:chOff x="0" y="0"/>
            <a:chExt cx="17570209" cy="115196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7570207" cy="1151966"/>
            </a:xfrm>
            <a:custGeom>
              <a:avLst/>
              <a:gdLst/>
              <a:ahLst/>
              <a:cxnLst/>
              <a:rect l="l" t="t" r="r" b="b"/>
              <a:pathLst>
                <a:path w="17570207" h="1151966">
                  <a:moveTo>
                    <a:pt x="0" y="0"/>
                  </a:moveTo>
                  <a:lnTo>
                    <a:pt x="17570207" y="0"/>
                  </a:lnTo>
                  <a:lnTo>
                    <a:pt x="17570207" y="1151966"/>
                  </a:lnTo>
                  <a:lnTo>
                    <a:pt x="0" y="115196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1725" b="-27266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17570209" cy="11710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863"/>
                </a:lnSpc>
              </a:pPr>
              <a:r>
                <a:rPr lang="en-US" sz="4053" b="1" dirty="0" err="1">
                  <a:solidFill>
                    <a:srgbClr val="FFFFFF"/>
                  </a:solidFill>
                  <a:latin typeface="+mj-ea"/>
                  <a:ea typeface="+mj-ea"/>
                  <a:cs typeface="Arimo Bold"/>
                  <a:sym typeface="Arimo Bold"/>
                </a:rPr>
                <a:t>머신러닝</a:t>
              </a:r>
              <a:r>
                <a:rPr lang="en-US" sz="4053" b="1" dirty="0">
                  <a:solidFill>
                    <a:srgbClr val="FFFFFF"/>
                  </a:solidFill>
                  <a:latin typeface="+mj-ea"/>
                  <a:ea typeface="+mj-ea"/>
                  <a:cs typeface="Arimo Bold"/>
                  <a:sym typeface="Arimo Bold"/>
                </a:rPr>
                <a:t> </a:t>
              </a:r>
              <a:r>
                <a:rPr lang="en-US" sz="4053" b="1" dirty="0" err="1">
                  <a:solidFill>
                    <a:srgbClr val="FFFFFF"/>
                  </a:solidFill>
                  <a:latin typeface="+mj-ea"/>
                  <a:ea typeface="+mj-ea"/>
                  <a:cs typeface="Arimo Bold"/>
                  <a:sym typeface="Arimo Bold"/>
                </a:rPr>
                <a:t>모델</a:t>
              </a:r>
              <a:r>
                <a:rPr lang="en-US" sz="4053" b="1" dirty="0">
                  <a:solidFill>
                    <a:srgbClr val="FFFFFF"/>
                  </a:solidFill>
                  <a:latin typeface="+mj-ea"/>
                  <a:ea typeface="+mj-ea"/>
                  <a:cs typeface="Arimo Bold"/>
                  <a:sym typeface="Arimo Bold"/>
                </a:rPr>
                <a:t> </a:t>
              </a:r>
              <a:r>
                <a:rPr lang="en-US" sz="4053" b="1" dirty="0" err="1">
                  <a:solidFill>
                    <a:srgbClr val="FFFFFF"/>
                  </a:solidFill>
                  <a:latin typeface="+mj-ea"/>
                  <a:ea typeface="+mj-ea"/>
                  <a:cs typeface="Arimo Bold"/>
                  <a:sym typeface="Arimo Bold"/>
                </a:rPr>
                <a:t>전체</a:t>
              </a:r>
              <a:r>
                <a:rPr lang="en-US" sz="4053" b="1" dirty="0">
                  <a:solidFill>
                    <a:srgbClr val="FFFFFF"/>
                  </a:solidFill>
                  <a:latin typeface="+mj-ea"/>
                  <a:ea typeface="+mj-ea"/>
                  <a:cs typeface="Arimo Bold"/>
                  <a:sym typeface="Arimo Bold"/>
                </a:rPr>
                <a:t> </a:t>
              </a:r>
              <a:r>
                <a:rPr lang="en-US" sz="4053" b="1" dirty="0" err="1">
                  <a:solidFill>
                    <a:srgbClr val="FFFFFF"/>
                  </a:solidFill>
                  <a:latin typeface="+mj-ea"/>
                  <a:ea typeface="+mj-ea"/>
                  <a:cs typeface="Arimo Bold"/>
                  <a:sym typeface="Arimo Bold"/>
                </a:rPr>
                <a:t>분석</a:t>
              </a:r>
              <a:r>
                <a:rPr lang="en-US" sz="4053" b="1" dirty="0">
                  <a:solidFill>
                    <a:srgbClr val="FFFFFF"/>
                  </a:solidFill>
                  <a:latin typeface="+mj-ea"/>
                  <a:ea typeface="+mj-ea"/>
                  <a:cs typeface="Arimo Bold"/>
                  <a:sym typeface="Arimo Bold"/>
                </a:rPr>
                <a:t> </a:t>
              </a:r>
              <a:r>
                <a:rPr lang="en-US" sz="4053" b="1" dirty="0" err="1">
                  <a:solidFill>
                    <a:srgbClr val="FFFFFF"/>
                  </a:solidFill>
                  <a:latin typeface="+mj-ea"/>
                  <a:ea typeface="+mj-ea"/>
                  <a:cs typeface="Arimo Bold"/>
                  <a:sym typeface="Arimo Bold"/>
                </a:rPr>
                <a:t>흐름</a:t>
              </a:r>
              <a:endParaRPr lang="en-US" sz="4053" b="1" dirty="0">
                <a:solidFill>
                  <a:srgbClr val="FFFFFF"/>
                </a:solidFill>
                <a:latin typeface="+mj-ea"/>
                <a:ea typeface="+mj-ea"/>
                <a:cs typeface="Arimo Bold"/>
                <a:sym typeface="Arimo Bold"/>
              </a:endParaRP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10786" y="2120323"/>
            <a:ext cx="17066428" cy="851057"/>
            <a:chOff x="0" y="0"/>
            <a:chExt cx="22755238" cy="1134743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3938956" cy="1134743"/>
              <a:chOff x="0" y="0"/>
              <a:chExt cx="3938956" cy="1134743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3938905" cy="1134615"/>
              </a:xfrm>
              <a:custGeom>
                <a:avLst/>
                <a:gdLst/>
                <a:ahLst/>
                <a:cxnLst/>
                <a:rect l="l" t="t" r="r" b="b"/>
                <a:pathLst>
                  <a:path w="3938905" h="1134615">
                    <a:moveTo>
                      <a:pt x="0" y="0"/>
                    </a:moveTo>
                    <a:lnTo>
                      <a:pt x="3541776" y="0"/>
                    </a:lnTo>
                    <a:lnTo>
                      <a:pt x="3938905" y="567308"/>
                    </a:lnTo>
                    <a:lnTo>
                      <a:pt x="3541776" y="1134615"/>
                    </a:lnTo>
                    <a:lnTo>
                      <a:pt x="0" y="1134615"/>
                    </a:lnTo>
                    <a:lnTo>
                      <a:pt x="397129" y="567308"/>
                    </a:lnTo>
                    <a:close/>
                  </a:path>
                </a:pathLst>
              </a:custGeom>
              <a:solidFill>
                <a:srgbClr val="56AF94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19050"/>
                <a:ext cx="3938956" cy="115379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11"/>
                  </a:lnSpc>
                </a:pPr>
                <a:r>
                  <a:rPr lang="en-US" sz="2176" b="1" dirty="0">
                    <a:solidFill>
                      <a:srgbClr val="FFFFFF"/>
                    </a:solidFill>
                    <a:latin typeface="+mj-ea"/>
                    <a:ea typeface="+mj-ea"/>
                    <a:cs typeface="Arimo Bold"/>
                    <a:sym typeface="Arimo Bold"/>
                  </a:rPr>
                  <a:t>① </a:t>
                </a:r>
                <a:r>
                  <a:rPr lang="en-US" sz="2176" b="1" dirty="0" err="1">
                    <a:solidFill>
                      <a:srgbClr val="FFFFFF"/>
                    </a:solidFill>
                    <a:latin typeface="+mj-ea"/>
                    <a:ea typeface="+mj-ea"/>
                    <a:cs typeface="Arimo Bold"/>
                    <a:sym typeface="Arimo Bold"/>
                  </a:rPr>
                  <a:t>문제정의</a:t>
                </a:r>
                <a:endParaRPr lang="en-US" sz="2176" b="1" dirty="0">
                  <a:solidFill>
                    <a:srgbClr val="FFFFFF"/>
                  </a:solidFill>
                  <a:latin typeface="+mj-ea"/>
                  <a:ea typeface="+mj-ea"/>
                  <a:cs typeface="Arimo Bold"/>
                  <a:sym typeface="Arimo Bold"/>
                </a:endParaRPr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3829139" y="0"/>
              <a:ext cx="3938956" cy="1134743"/>
              <a:chOff x="0" y="0"/>
              <a:chExt cx="3938956" cy="1134743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3938905" cy="1134615"/>
              </a:xfrm>
              <a:custGeom>
                <a:avLst/>
                <a:gdLst/>
                <a:ahLst/>
                <a:cxnLst/>
                <a:rect l="l" t="t" r="r" b="b"/>
                <a:pathLst>
                  <a:path w="3938905" h="1134615">
                    <a:moveTo>
                      <a:pt x="0" y="0"/>
                    </a:moveTo>
                    <a:lnTo>
                      <a:pt x="3541776" y="0"/>
                    </a:lnTo>
                    <a:lnTo>
                      <a:pt x="3938905" y="567308"/>
                    </a:lnTo>
                    <a:lnTo>
                      <a:pt x="3541776" y="1134615"/>
                    </a:lnTo>
                    <a:lnTo>
                      <a:pt x="0" y="1134615"/>
                    </a:lnTo>
                    <a:lnTo>
                      <a:pt x="397129" y="567308"/>
                    </a:lnTo>
                    <a:close/>
                  </a:path>
                </a:pathLst>
              </a:custGeom>
              <a:solidFill>
                <a:srgbClr val="4DA288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0" y="-19050"/>
                <a:ext cx="3938956" cy="115379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11"/>
                  </a:lnSpc>
                </a:pPr>
                <a:r>
                  <a:rPr lang="en-US" sz="2176" b="1" dirty="0">
                    <a:solidFill>
                      <a:srgbClr val="FFFFFF"/>
                    </a:solidFill>
                    <a:latin typeface="+mj-ea"/>
                    <a:ea typeface="+mj-ea"/>
                    <a:cs typeface="Arimo Bold"/>
                    <a:sym typeface="Arimo Bold"/>
                  </a:rPr>
                  <a:t>② EDA</a:t>
                </a:r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7658290" y="0"/>
              <a:ext cx="3938956" cy="1134743"/>
              <a:chOff x="0" y="0"/>
              <a:chExt cx="3938956" cy="1134743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3938905" cy="1134615"/>
              </a:xfrm>
              <a:custGeom>
                <a:avLst/>
                <a:gdLst/>
                <a:ahLst/>
                <a:cxnLst/>
                <a:rect l="l" t="t" r="r" b="b"/>
                <a:pathLst>
                  <a:path w="3938905" h="1134615">
                    <a:moveTo>
                      <a:pt x="0" y="0"/>
                    </a:moveTo>
                    <a:lnTo>
                      <a:pt x="3541776" y="0"/>
                    </a:lnTo>
                    <a:lnTo>
                      <a:pt x="3938905" y="567308"/>
                    </a:lnTo>
                    <a:lnTo>
                      <a:pt x="3541776" y="1134615"/>
                    </a:lnTo>
                    <a:lnTo>
                      <a:pt x="0" y="1134615"/>
                    </a:lnTo>
                    <a:lnTo>
                      <a:pt x="397129" y="567308"/>
                    </a:lnTo>
                    <a:close/>
                  </a:path>
                </a:pathLst>
              </a:custGeom>
              <a:solidFill>
                <a:srgbClr val="46977E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0" y="-19050"/>
                <a:ext cx="3938956" cy="115379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11"/>
                  </a:lnSpc>
                </a:pPr>
                <a:r>
                  <a:rPr lang="en-US" sz="2176" b="1" dirty="0">
                    <a:solidFill>
                      <a:srgbClr val="FFFFFF"/>
                    </a:solidFill>
                    <a:latin typeface="+mj-ea"/>
                    <a:ea typeface="+mj-ea"/>
                    <a:cs typeface="Arimo Bold"/>
                    <a:sym typeface="Arimo Bold"/>
                  </a:rPr>
                  <a:t>③ </a:t>
                </a:r>
                <a:r>
                  <a:rPr lang="en-US" sz="2176" b="1" dirty="0" err="1">
                    <a:solidFill>
                      <a:srgbClr val="FFFFFF"/>
                    </a:solidFill>
                    <a:latin typeface="+mj-ea"/>
                    <a:ea typeface="+mj-ea"/>
                    <a:cs typeface="Arimo Bold"/>
                    <a:sym typeface="Arimo Bold"/>
                  </a:rPr>
                  <a:t>전처리·FE</a:t>
                </a:r>
                <a:endParaRPr lang="en-US" sz="2176" b="1" dirty="0">
                  <a:solidFill>
                    <a:srgbClr val="FFFFFF"/>
                  </a:solidFill>
                  <a:latin typeface="+mj-ea"/>
                  <a:ea typeface="+mj-ea"/>
                  <a:cs typeface="Arimo Bold"/>
                  <a:sym typeface="Arimo Bold"/>
                </a:endParaRP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11487429" y="0"/>
              <a:ext cx="3938956" cy="1134743"/>
              <a:chOff x="0" y="0"/>
              <a:chExt cx="3938956" cy="1134743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3938905" cy="1134615"/>
              </a:xfrm>
              <a:custGeom>
                <a:avLst/>
                <a:gdLst/>
                <a:ahLst/>
                <a:cxnLst/>
                <a:rect l="l" t="t" r="r" b="b"/>
                <a:pathLst>
                  <a:path w="3938905" h="1134615">
                    <a:moveTo>
                      <a:pt x="0" y="0"/>
                    </a:moveTo>
                    <a:lnTo>
                      <a:pt x="3541776" y="0"/>
                    </a:lnTo>
                    <a:lnTo>
                      <a:pt x="3938905" y="567308"/>
                    </a:lnTo>
                    <a:lnTo>
                      <a:pt x="3541776" y="1134615"/>
                    </a:lnTo>
                    <a:lnTo>
                      <a:pt x="0" y="1134615"/>
                    </a:lnTo>
                    <a:lnTo>
                      <a:pt x="397129" y="567308"/>
                    </a:lnTo>
                    <a:close/>
                  </a:path>
                </a:pathLst>
              </a:custGeom>
              <a:solidFill>
                <a:srgbClr val="3E8C75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0" y="-19050"/>
                <a:ext cx="3938956" cy="115379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11"/>
                  </a:lnSpc>
                </a:pPr>
                <a:r>
                  <a:rPr lang="en-US" sz="2176" b="1" dirty="0">
                    <a:solidFill>
                      <a:srgbClr val="FFFFFF"/>
                    </a:solidFill>
                    <a:latin typeface="+mj-ea"/>
                    <a:ea typeface="+mj-ea"/>
                    <a:cs typeface="Arimo Bold"/>
                    <a:sym typeface="Arimo Bold"/>
                  </a:rPr>
                  <a:t>④ </a:t>
                </a:r>
                <a:r>
                  <a:rPr lang="en-US" sz="2176" b="1" dirty="0" err="1">
                    <a:solidFill>
                      <a:srgbClr val="FFFFFF"/>
                    </a:solidFill>
                    <a:latin typeface="+mj-ea"/>
                    <a:ea typeface="+mj-ea"/>
                    <a:cs typeface="Arimo Bold"/>
                    <a:sym typeface="Arimo Bold"/>
                  </a:rPr>
                  <a:t>모델링·튜닝</a:t>
                </a:r>
                <a:endParaRPr lang="en-US" sz="2176" b="1" dirty="0">
                  <a:solidFill>
                    <a:srgbClr val="FFFFFF"/>
                  </a:solidFill>
                  <a:latin typeface="+mj-ea"/>
                  <a:ea typeface="+mj-ea"/>
                  <a:cs typeface="Arimo Bold"/>
                  <a:sym typeface="Arimo Bold"/>
                </a:endParaRP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15316581" y="0"/>
              <a:ext cx="3938956" cy="1134743"/>
              <a:chOff x="0" y="0"/>
              <a:chExt cx="3938956" cy="1134743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3938905" cy="1134615"/>
              </a:xfrm>
              <a:custGeom>
                <a:avLst/>
                <a:gdLst/>
                <a:ahLst/>
                <a:cxnLst/>
                <a:rect l="l" t="t" r="r" b="b"/>
                <a:pathLst>
                  <a:path w="3938905" h="1134615">
                    <a:moveTo>
                      <a:pt x="0" y="0"/>
                    </a:moveTo>
                    <a:lnTo>
                      <a:pt x="3541776" y="0"/>
                    </a:lnTo>
                    <a:lnTo>
                      <a:pt x="3938905" y="567308"/>
                    </a:lnTo>
                    <a:lnTo>
                      <a:pt x="3541776" y="1134615"/>
                    </a:lnTo>
                    <a:lnTo>
                      <a:pt x="0" y="1134615"/>
                    </a:lnTo>
                    <a:lnTo>
                      <a:pt x="397129" y="567308"/>
                    </a:lnTo>
                    <a:close/>
                  </a:path>
                </a:pathLst>
              </a:custGeom>
              <a:solidFill>
                <a:srgbClr val="37826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0" y="-19050"/>
                <a:ext cx="3938956" cy="115379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11"/>
                  </a:lnSpc>
                </a:pPr>
                <a:r>
                  <a:rPr lang="en-US" sz="2176" b="1" dirty="0">
                    <a:solidFill>
                      <a:srgbClr val="FFFFFF"/>
                    </a:solidFill>
                    <a:latin typeface="+mj-ea"/>
                    <a:ea typeface="+mj-ea"/>
                    <a:cs typeface="Arimo Bold"/>
                    <a:sym typeface="Arimo Bold"/>
                  </a:rPr>
                  <a:t>⑤ </a:t>
                </a:r>
                <a:r>
                  <a:rPr lang="en-US" sz="2176" b="1" dirty="0" err="1">
                    <a:solidFill>
                      <a:srgbClr val="FFFFFF"/>
                    </a:solidFill>
                    <a:latin typeface="+mj-ea"/>
                    <a:ea typeface="+mj-ea"/>
                    <a:cs typeface="Arimo Bold"/>
                    <a:sym typeface="Arimo Bold"/>
                  </a:rPr>
                  <a:t>교차검증</a:t>
                </a:r>
                <a:endParaRPr lang="en-US" sz="2176" b="1" dirty="0">
                  <a:solidFill>
                    <a:srgbClr val="FFFFFF"/>
                  </a:solidFill>
                  <a:latin typeface="+mj-ea"/>
                  <a:ea typeface="+mj-ea"/>
                  <a:cs typeface="Arimo Bold"/>
                  <a:sym typeface="Arimo Bold"/>
                </a:endParaRP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19145720" y="0"/>
              <a:ext cx="3609518" cy="1134743"/>
              <a:chOff x="0" y="0"/>
              <a:chExt cx="3609518" cy="1134743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3609467" cy="1134615"/>
              </a:xfrm>
              <a:custGeom>
                <a:avLst/>
                <a:gdLst/>
                <a:ahLst/>
                <a:cxnLst/>
                <a:rect l="l" t="t" r="r" b="b"/>
                <a:pathLst>
                  <a:path w="3609467" h="1134615">
                    <a:moveTo>
                      <a:pt x="0" y="0"/>
                    </a:moveTo>
                    <a:lnTo>
                      <a:pt x="3212338" y="0"/>
                    </a:lnTo>
                    <a:lnTo>
                      <a:pt x="3609467" y="567308"/>
                    </a:lnTo>
                    <a:lnTo>
                      <a:pt x="3212338" y="1134615"/>
                    </a:lnTo>
                    <a:lnTo>
                      <a:pt x="0" y="1134615"/>
                    </a:lnTo>
                    <a:lnTo>
                      <a:pt x="397129" y="567308"/>
                    </a:lnTo>
                    <a:close/>
                  </a:path>
                </a:pathLst>
              </a:custGeom>
              <a:solidFill>
                <a:srgbClr val="2F7560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0" y="-19050"/>
                <a:ext cx="3609518" cy="115379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11"/>
                  </a:lnSpc>
                </a:pPr>
                <a:r>
                  <a:rPr lang="en-US" sz="2176" b="1" dirty="0">
                    <a:solidFill>
                      <a:srgbClr val="FFFFFF"/>
                    </a:solidFill>
                    <a:latin typeface="+mj-ea"/>
                    <a:ea typeface="+mj-ea"/>
                    <a:cs typeface="Arimo Bold"/>
                    <a:sym typeface="Arimo Bold"/>
                  </a:rPr>
                  <a:t>⑥ </a:t>
                </a:r>
                <a:r>
                  <a:rPr lang="en-US" sz="2176" b="1" dirty="0" err="1">
                    <a:solidFill>
                      <a:srgbClr val="FFFFFF"/>
                    </a:solidFill>
                    <a:latin typeface="+mj-ea"/>
                    <a:ea typeface="+mj-ea"/>
                    <a:cs typeface="Arimo Bold"/>
                    <a:sym typeface="Arimo Bold"/>
                  </a:rPr>
                  <a:t>평가</a:t>
                </a:r>
                <a:endParaRPr lang="en-US" sz="2176" b="1" dirty="0">
                  <a:solidFill>
                    <a:srgbClr val="FFFFFF"/>
                  </a:solidFill>
                  <a:latin typeface="+mj-ea"/>
                  <a:ea typeface="+mj-ea"/>
                  <a:cs typeface="Arimo Bold"/>
                  <a:sym typeface="Arimo Bold"/>
                </a:endParaRPr>
              </a:p>
            </p:txBody>
          </p:sp>
        </p:grpSp>
      </p:grpSp>
      <p:grpSp>
        <p:nvGrpSpPr>
          <p:cNvPr id="26" name="Group 26"/>
          <p:cNvGrpSpPr/>
          <p:nvPr/>
        </p:nvGrpSpPr>
        <p:grpSpPr>
          <a:xfrm>
            <a:off x="1138889" y="3210912"/>
            <a:ext cx="5143500" cy="3135109"/>
            <a:chOff x="0" y="0"/>
            <a:chExt cx="1354667" cy="825708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354667" cy="825708"/>
            </a:xfrm>
            <a:custGeom>
              <a:avLst/>
              <a:gdLst/>
              <a:ahLst/>
              <a:cxnLst/>
              <a:rect l="l" t="t" r="r" b="b"/>
              <a:pathLst>
                <a:path w="1354667" h="825708">
                  <a:moveTo>
                    <a:pt x="24083" y="0"/>
                  </a:moveTo>
                  <a:lnTo>
                    <a:pt x="1330584" y="0"/>
                  </a:lnTo>
                  <a:cubicBezTo>
                    <a:pt x="1343884" y="0"/>
                    <a:pt x="1354667" y="10782"/>
                    <a:pt x="1354667" y="24083"/>
                  </a:cubicBezTo>
                  <a:lnTo>
                    <a:pt x="1354667" y="801625"/>
                  </a:lnTo>
                  <a:cubicBezTo>
                    <a:pt x="1354667" y="814925"/>
                    <a:pt x="1343884" y="825708"/>
                    <a:pt x="1330584" y="825708"/>
                  </a:cubicBezTo>
                  <a:lnTo>
                    <a:pt x="24083" y="825708"/>
                  </a:lnTo>
                  <a:cubicBezTo>
                    <a:pt x="10782" y="825708"/>
                    <a:pt x="0" y="814925"/>
                    <a:pt x="0" y="801625"/>
                  </a:cubicBezTo>
                  <a:lnTo>
                    <a:pt x="0" y="24083"/>
                  </a:lnTo>
                  <a:cubicBezTo>
                    <a:pt x="0" y="10782"/>
                    <a:pt x="10782" y="0"/>
                    <a:pt x="24083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2E745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76200"/>
              <a:ext cx="1354667" cy="901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7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481789" y="3553550"/>
            <a:ext cx="514350" cy="514350"/>
            <a:chOff x="0" y="0"/>
            <a:chExt cx="362857" cy="362857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362857" cy="362857"/>
            </a:xfrm>
            <a:custGeom>
              <a:avLst/>
              <a:gdLst/>
              <a:ahLst/>
              <a:cxnLst/>
              <a:rect l="l" t="t" r="r" b="b"/>
              <a:pathLst>
                <a:path w="362857" h="362857">
                  <a:moveTo>
                    <a:pt x="181429" y="0"/>
                  </a:moveTo>
                  <a:cubicBezTo>
                    <a:pt x="81228" y="0"/>
                    <a:pt x="0" y="81228"/>
                    <a:pt x="0" y="181429"/>
                  </a:cubicBezTo>
                  <a:cubicBezTo>
                    <a:pt x="0" y="281629"/>
                    <a:pt x="81228" y="362857"/>
                    <a:pt x="181429" y="362857"/>
                  </a:cubicBezTo>
                  <a:cubicBezTo>
                    <a:pt x="281629" y="362857"/>
                    <a:pt x="362857" y="281629"/>
                    <a:pt x="362857" y="181429"/>
                  </a:cubicBezTo>
                  <a:cubicBezTo>
                    <a:pt x="362857" y="81228"/>
                    <a:pt x="281629" y="0"/>
                    <a:pt x="181429" y="0"/>
                  </a:cubicBezTo>
                  <a:close/>
                </a:path>
              </a:pathLst>
            </a:custGeom>
            <a:solidFill>
              <a:srgbClr val="2E745F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4018" y="-51707"/>
              <a:ext cx="294821" cy="3805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20"/>
                </a:lnSpc>
              </a:pPr>
              <a:endParaRPr/>
            </a:p>
          </p:txBody>
        </p:sp>
      </p:grpSp>
      <p:sp>
        <p:nvSpPr>
          <p:cNvPr id="32" name="Freeform 32"/>
          <p:cNvSpPr/>
          <p:nvPr/>
        </p:nvSpPr>
        <p:spPr>
          <a:xfrm>
            <a:off x="1602522" y="3674284"/>
            <a:ext cx="272883" cy="272883"/>
          </a:xfrm>
          <a:custGeom>
            <a:avLst/>
            <a:gdLst/>
            <a:ahLst/>
            <a:cxnLst/>
            <a:rect l="l" t="t" r="r" b="b"/>
            <a:pathLst>
              <a:path w="272883" h="272883">
                <a:moveTo>
                  <a:pt x="0" y="0"/>
                </a:moveTo>
                <a:lnTo>
                  <a:pt x="272883" y="0"/>
                </a:lnTo>
                <a:lnTo>
                  <a:pt x="272883" y="272883"/>
                </a:lnTo>
                <a:lnTo>
                  <a:pt x="0" y="2728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33" name="Group 33"/>
          <p:cNvGrpSpPr/>
          <p:nvPr/>
        </p:nvGrpSpPr>
        <p:grpSpPr>
          <a:xfrm>
            <a:off x="6575059" y="3210426"/>
            <a:ext cx="5143500" cy="3135109"/>
            <a:chOff x="0" y="0"/>
            <a:chExt cx="1354667" cy="825708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354667" cy="825708"/>
            </a:xfrm>
            <a:custGeom>
              <a:avLst/>
              <a:gdLst/>
              <a:ahLst/>
              <a:cxnLst/>
              <a:rect l="l" t="t" r="r" b="b"/>
              <a:pathLst>
                <a:path w="1354667" h="825708">
                  <a:moveTo>
                    <a:pt x="24083" y="0"/>
                  </a:moveTo>
                  <a:lnTo>
                    <a:pt x="1330584" y="0"/>
                  </a:lnTo>
                  <a:cubicBezTo>
                    <a:pt x="1343884" y="0"/>
                    <a:pt x="1354667" y="10782"/>
                    <a:pt x="1354667" y="24083"/>
                  </a:cubicBezTo>
                  <a:lnTo>
                    <a:pt x="1354667" y="801625"/>
                  </a:lnTo>
                  <a:cubicBezTo>
                    <a:pt x="1354667" y="814925"/>
                    <a:pt x="1343884" y="825708"/>
                    <a:pt x="1330584" y="825708"/>
                  </a:cubicBezTo>
                  <a:lnTo>
                    <a:pt x="24083" y="825708"/>
                  </a:lnTo>
                  <a:cubicBezTo>
                    <a:pt x="10782" y="825708"/>
                    <a:pt x="0" y="814925"/>
                    <a:pt x="0" y="801625"/>
                  </a:cubicBezTo>
                  <a:lnTo>
                    <a:pt x="0" y="24083"/>
                  </a:lnTo>
                  <a:cubicBezTo>
                    <a:pt x="0" y="10782"/>
                    <a:pt x="10782" y="0"/>
                    <a:pt x="24083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2E745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76200"/>
              <a:ext cx="1354667" cy="901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7"/>
                </a:lnSpc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917959" y="3553550"/>
            <a:ext cx="514350" cy="514350"/>
            <a:chOff x="0" y="0"/>
            <a:chExt cx="362857" cy="362857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362857" cy="362857"/>
            </a:xfrm>
            <a:custGeom>
              <a:avLst/>
              <a:gdLst/>
              <a:ahLst/>
              <a:cxnLst/>
              <a:rect l="l" t="t" r="r" b="b"/>
              <a:pathLst>
                <a:path w="362857" h="362857">
                  <a:moveTo>
                    <a:pt x="181429" y="0"/>
                  </a:moveTo>
                  <a:cubicBezTo>
                    <a:pt x="81228" y="0"/>
                    <a:pt x="0" y="81228"/>
                    <a:pt x="0" y="181429"/>
                  </a:cubicBezTo>
                  <a:cubicBezTo>
                    <a:pt x="0" y="281629"/>
                    <a:pt x="81228" y="362857"/>
                    <a:pt x="181429" y="362857"/>
                  </a:cubicBezTo>
                  <a:cubicBezTo>
                    <a:pt x="281629" y="362857"/>
                    <a:pt x="362857" y="281629"/>
                    <a:pt x="362857" y="181429"/>
                  </a:cubicBezTo>
                  <a:cubicBezTo>
                    <a:pt x="362857" y="81228"/>
                    <a:pt x="281629" y="0"/>
                    <a:pt x="181429" y="0"/>
                  </a:cubicBezTo>
                  <a:close/>
                </a:path>
              </a:pathLst>
            </a:custGeom>
            <a:solidFill>
              <a:srgbClr val="2E745F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4018" y="-51707"/>
              <a:ext cx="294821" cy="3805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20"/>
                </a:lnSpc>
              </a:pPr>
              <a:endParaRPr/>
            </a:p>
          </p:txBody>
        </p:sp>
      </p:grpSp>
      <p:sp>
        <p:nvSpPr>
          <p:cNvPr id="39" name="Freeform 39"/>
          <p:cNvSpPr/>
          <p:nvPr/>
        </p:nvSpPr>
        <p:spPr>
          <a:xfrm>
            <a:off x="7038926" y="3677691"/>
            <a:ext cx="272415" cy="266967"/>
          </a:xfrm>
          <a:custGeom>
            <a:avLst/>
            <a:gdLst/>
            <a:ahLst/>
            <a:cxnLst/>
            <a:rect l="l" t="t" r="r" b="b"/>
            <a:pathLst>
              <a:path w="272415" h="266967">
                <a:moveTo>
                  <a:pt x="0" y="0"/>
                </a:moveTo>
                <a:lnTo>
                  <a:pt x="272415" y="0"/>
                </a:lnTo>
                <a:lnTo>
                  <a:pt x="272415" y="266967"/>
                </a:lnTo>
                <a:lnTo>
                  <a:pt x="0" y="2669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40" name="Group 40"/>
          <p:cNvGrpSpPr/>
          <p:nvPr/>
        </p:nvGrpSpPr>
        <p:grpSpPr>
          <a:xfrm>
            <a:off x="12013834" y="3210912"/>
            <a:ext cx="5143500" cy="3135109"/>
            <a:chOff x="0" y="0"/>
            <a:chExt cx="1354667" cy="825708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354667" cy="825708"/>
            </a:xfrm>
            <a:custGeom>
              <a:avLst/>
              <a:gdLst/>
              <a:ahLst/>
              <a:cxnLst/>
              <a:rect l="l" t="t" r="r" b="b"/>
              <a:pathLst>
                <a:path w="1354667" h="825708">
                  <a:moveTo>
                    <a:pt x="24083" y="0"/>
                  </a:moveTo>
                  <a:lnTo>
                    <a:pt x="1330584" y="0"/>
                  </a:lnTo>
                  <a:cubicBezTo>
                    <a:pt x="1343884" y="0"/>
                    <a:pt x="1354667" y="10782"/>
                    <a:pt x="1354667" y="24083"/>
                  </a:cubicBezTo>
                  <a:lnTo>
                    <a:pt x="1354667" y="801625"/>
                  </a:lnTo>
                  <a:cubicBezTo>
                    <a:pt x="1354667" y="814925"/>
                    <a:pt x="1343884" y="825708"/>
                    <a:pt x="1330584" y="825708"/>
                  </a:cubicBezTo>
                  <a:lnTo>
                    <a:pt x="24083" y="825708"/>
                  </a:lnTo>
                  <a:cubicBezTo>
                    <a:pt x="10782" y="825708"/>
                    <a:pt x="0" y="814925"/>
                    <a:pt x="0" y="801625"/>
                  </a:cubicBezTo>
                  <a:lnTo>
                    <a:pt x="0" y="24083"/>
                  </a:lnTo>
                  <a:cubicBezTo>
                    <a:pt x="0" y="10782"/>
                    <a:pt x="10782" y="0"/>
                    <a:pt x="24083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2E745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76200"/>
              <a:ext cx="1354667" cy="901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7"/>
                </a:lnSpc>
              </a:pPr>
              <a:endParaRPr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2356734" y="3554000"/>
            <a:ext cx="514350" cy="514350"/>
            <a:chOff x="0" y="0"/>
            <a:chExt cx="362857" cy="362857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362857" cy="362857"/>
            </a:xfrm>
            <a:custGeom>
              <a:avLst/>
              <a:gdLst/>
              <a:ahLst/>
              <a:cxnLst/>
              <a:rect l="l" t="t" r="r" b="b"/>
              <a:pathLst>
                <a:path w="362857" h="362857">
                  <a:moveTo>
                    <a:pt x="181429" y="0"/>
                  </a:moveTo>
                  <a:cubicBezTo>
                    <a:pt x="81228" y="0"/>
                    <a:pt x="0" y="81228"/>
                    <a:pt x="0" y="181429"/>
                  </a:cubicBezTo>
                  <a:cubicBezTo>
                    <a:pt x="0" y="281629"/>
                    <a:pt x="81228" y="362857"/>
                    <a:pt x="181429" y="362857"/>
                  </a:cubicBezTo>
                  <a:cubicBezTo>
                    <a:pt x="281629" y="362857"/>
                    <a:pt x="362857" y="281629"/>
                    <a:pt x="362857" y="181429"/>
                  </a:cubicBezTo>
                  <a:cubicBezTo>
                    <a:pt x="362857" y="81228"/>
                    <a:pt x="281629" y="0"/>
                    <a:pt x="181429" y="0"/>
                  </a:cubicBezTo>
                  <a:close/>
                </a:path>
              </a:pathLst>
            </a:custGeom>
            <a:solidFill>
              <a:srgbClr val="2E745F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4018" y="-51707"/>
              <a:ext cx="294821" cy="3805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20"/>
                </a:lnSpc>
              </a:pPr>
              <a:endParaRPr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130666" y="6595724"/>
            <a:ext cx="5143500" cy="3135109"/>
            <a:chOff x="0" y="0"/>
            <a:chExt cx="1354667" cy="825708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354667" cy="825708"/>
            </a:xfrm>
            <a:custGeom>
              <a:avLst/>
              <a:gdLst/>
              <a:ahLst/>
              <a:cxnLst/>
              <a:rect l="l" t="t" r="r" b="b"/>
              <a:pathLst>
                <a:path w="1354667" h="825708">
                  <a:moveTo>
                    <a:pt x="24083" y="0"/>
                  </a:moveTo>
                  <a:lnTo>
                    <a:pt x="1330584" y="0"/>
                  </a:lnTo>
                  <a:cubicBezTo>
                    <a:pt x="1343884" y="0"/>
                    <a:pt x="1354667" y="10782"/>
                    <a:pt x="1354667" y="24083"/>
                  </a:cubicBezTo>
                  <a:lnTo>
                    <a:pt x="1354667" y="801625"/>
                  </a:lnTo>
                  <a:cubicBezTo>
                    <a:pt x="1354667" y="814925"/>
                    <a:pt x="1343884" y="825708"/>
                    <a:pt x="1330584" y="825708"/>
                  </a:cubicBezTo>
                  <a:lnTo>
                    <a:pt x="24083" y="825708"/>
                  </a:lnTo>
                  <a:cubicBezTo>
                    <a:pt x="10782" y="825708"/>
                    <a:pt x="0" y="814925"/>
                    <a:pt x="0" y="801625"/>
                  </a:cubicBezTo>
                  <a:lnTo>
                    <a:pt x="0" y="24083"/>
                  </a:lnTo>
                  <a:cubicBezTo>
                    <a:pt x="0" y="10782"/>
                    <a:pt x="10782" y="0"/>
                    <a:pt x="24083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2E745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-76200"/>
              <a:ext cx="1354667" cy="901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7"/>
                </a:lnSpc>
              </a:pPr>
              <a:endParaRPr/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473566" y="6938363"/>
            <a:ext cx="514350" cy="514350"/>
            <a:chOff x="0" y="0"/>
            <a:chExt cx="362857" cy="362857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362857" cy="362857"/>
            </a:xfrm>
            <a:custGeom>
              <a:avLst/>
              <a:gdLst/>
              <a:ahLst/>
              <a:cxnLst/>
              <a:rect l="l" t="t" r="r" b="b"/>
              <a:pathLst>
                <a:path w="362857" h="362857">
                  <a:moveTo>
                    <a:pt x="181429" y="0"/>
                  </a:moveTo>
                  <a:cubicBezTo>
                    <a:pt x="81228" y="0"/>
                    <a:pt x="0" y="81228"/>
                    <a:pt x="0" y="181429"/>
                  </a:cubicBezTo>
                  <a:cubicBezTo>
                    <a:pt x="0" y="281629"/>
                    <a:pt x="81228" y="362857"/>
                    <a:pt x="181429" y="362857"/>
                  </a:cubicBezTo>
                  <a:cubicBezTo>
                    <a:pt x="281629" y="362857"/>
                    <a:pt x="362857" y="281629"/>
                    <a:pt x="362857" y="181429"/>
                  </a:cubicBezTo>
                  <a:cubicBezTo>
                    <a:pt x="362857" y="81228"/>
                    <a:pt x="281629" y="0"/>
                    <a:pt x="181429" y="0"/>
                  </a:cubicBezTo>
                  <a:close/>
                </a:path>
              </a:pathLst>
            </a:custGeom>
            <a:solidFill>
              <a:srgbClr val="2E745F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34018" y="-51707"/>
              <a:ext cx="294821" cy="3805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20"/>
                </a:lnSpc>
              </a:pPr>
              <a:endParaRPr/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6575059" y="6595724"/>
            <a:ext cx="5143500" cy="3135109"/>
            <a:chOff x="0" y="0"/>
            <a:chExt cx="1354667" cy="825708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1354667" cy="825708"/>
            </a:xfrm>
            <a:custGeom>
              <a:avLst/>
              <a:gdLst/>
              <a:ahLst/>
              <a:cxnLst/>
              <a:rect l="l" t="t" r="r" b="b"/>
              <a:pathLst>
                <a:path w="1354667" h="825708">
                  <a:moveTo>
                    <a:pt x="24083" y="0"/>
                  </a:moveTo>
                  <a:lnTo>
                    <a:pt x="1330584" y="0"/>
                  </a:lnTo>
                  <a:cubicBezTo>
                    <a:pt x="1343884" y="0"/>
                    <a:pt x="1354667" y="10782"/>
                    <a:pt x="1354667" y="24083"/>
                  </a:cubicBezTo>
                  <a:lnTo>
                    <a:pt x="1354667" y="801625"/>
                  </a:lnTo>
                  <a:cubicBezTo>
                    <a:pt x="1354667" y="814925"/>
                    <a:pt x="1343884" y="825708"/>
                    <a:pt x="1330584" y="825708"/>
                  </a:cubicBezTo>
                  <a:lnTo>
                    <a:pt x="24083" y="825708"/>
                  </a:lnTo>
                  <a:cubicBezTo>
                    <a:pt x="10782" y="825708"/>
                    <a:pt x="0" y="814925"/>
                    <a:pt x="0" y="801625"/>
                  </a:cubicBezTo>
                  <a:lnTo>
                    <a:pt x="0" y="24083"/>
                  </a:lnTo>
                  <a:cubicBezTo>
                    <a:pt x="0" y="10782"/>
                    <a:pt x="10782" y="0"/>
                    <a:pt x="24083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2E745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-76200"/>
              <a:ext cx="1354667" cy="901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7"/>
                </a:lnSpc>
              </a:pPr>
              <a:endParaRPr/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6909736" y="6938363"/>
            <a:ext cx="514350" cy="514350"/>
            <a:chOff x="0" y="0"/>
            <a:chExt cx="362857" cy="362857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362857" cy="362857"/>
            </a:xfrm>
            <a:custGeom>
              <a:avLst/>
              <a:gdLst/>
              <a:ahLst/>
              <a:cxnLst/>
              <a:rect l="l" t="t" r="r" b="b"/>
              <a:pathLst>
                <a:path w="362857" h="362857">
                  <a:moveTo>
                    <a:pt x="181429" y="0"/>
                  </a:moveTo>
                  <a:cubicBezTo>
                    <a:pt x="81228" y="0"/>
                    <a:pt x="0" y="81228"/>
                    <a:pt x="0" y="181429"/>
                  </a:cubicBezTo>
                  <a:cubicBezTo>
                    <a:pt x="0" y="281629"/>
                    <a:pt x="81228" y="362857"/>
                    <a:pt x="181429" y="362857"/>
                  </a:cubicBezTo>
                  <a:cubicBezTo>
                    <a:pt x="281629" y="362857"/>
                    <a:pt x="362857" y="281629"/>
                    <a:pt x="362857" y="181429"/>
                  </a:cubicBezTo>
                  <a:cubicBezTo>
                    <a:pt x="362857" y="81228"/>
                    <a:pt x="281629" y="0"/>
                    <a:pt x="181429" y="0"/>
                  </a:cubicBezTo>
                  <a:close/>
                </a:path>
              </a:pathLst>
            </a:custGeom>
            <a:solidFill>
              <a:srgbClr val="2E745F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34018" y="-51707"/>
              <a:ext cx="294821" cy="3805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20"/>
                </a:lnSpc>
              </a:pPr>
              <a:endParaRPr/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12005611" y="6595724"/>
            <a:ext cx="5143500" cy="3135109"/>
            <a:chOff x="0" y="0"/>
            <a:chExt cx="1354667" cy="825708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1354667" cy="825708"/>
            </a:xfrm>
            <a:custGeom>
              <a:avLst/>
              <a:gdLst/>
              <a:ahLst/>
              <a:cxnLst/>
              <a:rect l="l" t="t" r="r" b="b"/>
              <a:pathLst>
                <a:path w="1354667" h="825708">
                  <a:moveTo>
                    <a:pt x="24083" y="0"/>
                  </a:moveTo>
                  <a:lnTo>
                    <a:pt x="1330584" y="0"/>
                  </a:lnTo>
                  <a:cubicBezTo>
                    <a:pt x="1343884" y="0"/>
                    <a:pt x="1354667" y="10782"/>
                    <a:pt x="1354667" y="24083"/>
                  </a:cubicBezTo>
                  <a:lnTo>
                    <a:pt x="1354667" y="801625"/>
                  </a:lnTo>
                  <a:cubicBezTo>
                    <a:pt x="1354667" y="814925"/>
                    <a:pt x="1343884" y="825708"/>
                    <a:pt x="1330584" y="825708"/>
                  </a:cubicBezTo>
                  <a:lnTo>
                    <a:pt x="24083" y="825708"/>
                  </a:lnTo>
                  <a:cubicBezTo>
                    <a:pt x="10782" y="825708"/>
                    <a:pt x="0" y="814925"/>
                    <a:pt x="0" y="801625"/>
                  </a:cubicBezTo>
                  <a:lnTo>
                    <a:pt x="0" y="24083"/>
                  </a:lnTo>
                  <a:cubicBezTo>
                    <a:pt x="0" y="10782"/>
                    <a:pt x="10782" y="0"/>
                    <a:pt x="24083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2E745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0" y="-76200"/>
              <a:ext cx="1354667" cy="901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7"/>
                </a:lnSpc>
              </a:pPr>
              <a:endParaRPr/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12348511" y="6938812"/>
            <a:ext cx="514350" cy="514350"/>
            <a:chOff x="0" y="0"/>
            <a:chExt cx="362857" cy="362857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362857" cy="362857"/>
            </a:xfrm>
            <a:custGeom>
              <a:avLst/>
              <a:gdLst/>
              <a:ahLst/>
              <a:cxnLst/>
              <a:rect l="l" t="t" r="r" b="b"/>
              <a:pathLst>
                <a:path w="362857" h="362857">
                  <a:moveTo>
                    <a:pt x="181429" y="0"/>
                  </a:moveTo>
                  <a:cubicBezTo>
                    <a:pt x="81228" y="0"/>
                    <a:pt x="0" y="81228"/>
                    <a:pt x="0" y="181429"/>
                  </a:cubicBezTo>
                  <a:cubicBezTo>
                    <a:pt x="0" y="281629"/>
                    <a:pt x="81228" y="362857"/>
                    <a:pt x="181429" y="362857"/>
                  </a:cubicBezTo>
                  <a:cubicBezTo>
                    <a:pt x="281629" y="362857"/>
                    <a:pt x="362857" y="281629"/>
                    <a:pt x="362857" y="181429"/>
                  </a:cubicBezTo>
                  <a:cubicBezTo>
                    <a:pt x="362857" y="81228"/>
                    <a:pt x="281629" y="0"/>
                    <a:pt x="181429" y="0"/>
                  </a:cubicBezTo>
                  <a:close/>
                </a:path>
              </a:pathLst>
            </a:custGeom>
            <a:solidFill>
              <a:srgbClr val="2E745F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34018" y="-51707"/>
              <a:ext cx="294821" cy="3805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20"/>
                </a:lnSpc>
              </a:pPr>
              <a:endParaRPr/>
            </a:p>
          </p:txBody>
        </p:sp>
      </p:grpSp>
      <p:sp>
        <p:nvSpPr>
          <p:cNvPr id="64" name="Freeform 64"/>
          <p:cNvSpPr/>
          <p:nvPr/>
        </p:nvSpPr>
        <p:spPr>
          <a:xfrm>
            <a:off x="7005698" y="7052663"/>
            <a:ext cx="322426" cy="285750"/>
          </a:xfrm>
          <a:custGeom>
            <a:avLst/>
            <a:gdLst/>
            <a:ahLst/>
            <a:cxnLst/>
            <a:rect l="l" t="t" r="r" b="b"/>
            <a:pathLst>
              <a:path w="322426" h="285750">
                <a:moveTo>
                  <a:pt x="0" y="0"/>
                </a:moveTo>
                <a:lnTo>
                  <a:pt x="322426" y="0"/>
                </a:lnTo>
                <a:lnTo>
                  <a:pt x="322426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65" name="Freeform 65"/>
          <p:cNvSpPr/>
          <p:nvPr/>
        </p:nvSpPr>
        <p:spPr>
          <a:xfrm>
            <a:off x="1587866" y="7053112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66" name="Freeform 66"/>
          <p:cNvSpPr/>
          <p:nvPr/>
        </p:nvSpPr>
        <p:spPr>
          <a:xfrm>
            <a:off x="12445376" y="7024761"/>
            <a:ext cx="320620" cy="342451"/>
          </a:xfrm>
          <a:custGeom>
            <a:avLst/>
            <a:gdLst/>
            <a:ahLst/>
            <a:cxnLst/>
            <a:rect l="l" t="t" r="r" b="b"/>
            <a:pathLst>
              <a:path w="320620" h="342451">
                <a:moveTo>
                  <a:pt x="0" y="0"/>
                </a:moveTo>
                <a:lnTo>
                  <a:pt x="320620" y="0"/>
                </a:lnTo>
                <a:lnTo>
                  <a:pt x="320620" y="342451"/>
                </a:lnTo>
                <a:lnTo>
                  <a:pt x="0" y="3424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67" name="TextBox 67"/>
          <p:cNvSpPr txBox="1"/>
          <p:nvPr/>
        </p:nvSpPr>
        <p:spPr>
          <a:xfrm>
            <a:off x="1717141" y="4339588"/>
            <a:ext cx="4125528" cy="339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5"/>
              </a:lnSpc>
            </a:pPr>
            <a:r>
              <a:rPr lang="en-US" sz="1771" dirty="0" err="1">
                <a:solidFill>
                  <a:srgbClr val="222222"/>
                </a:solidFill>
                <a:latin typeface="+mn-ea"/>
                <a:cs typeface="Noto Sans"/>
                <a:sym typeface="Noto Sans"/>
              </a:rPr>
              <a:t>은행</a:t>
            </a:r>
            <a:r>
              <a:rPr lang="en-US" sz="1771" dirty="0">
                <a:solidFill>
                  <a:srgbClr val="222222"/>
                </a:solidFill>
                <a:latin typeface="+mn-ea"/>
                <a:cs typeface="Noto Sans"/>
                <a:sym typeface="Noto Sans"/>
              </a:rPr>
              <a:t> </a:t>
            </a:r>
            <a:r>
              <a:rPr lang="en-US" sz="1771" dirty="0" err="1">
                <a:solidFill>
                  <a:srgbClr val="222222"/>
                </a:solidFill>
                <a:latin typeface="+mn-ea"/>
                <a:cs typeface="Noto Sans"/>
                <a:sym typeface="Noto Sans"/>
              </a:rPr>
              <a:t>고객</a:t>
            </a:r>
            <a:r>
              <a:rPr lang="en-US" sz="1771" dirty="0">
                <a:solidFill>
                  <a:srgbClr val="222222"/>
                </a:solidFill>
                <a:latin typeface="+mn-ea"/>
                <a:cs typeface="Noto Sans"/>
                <a:sym typeface="Noto Sans"/>
              </a:rPr>
              <a:t> </a:t>
            </a:r>
            <a:r>
              <a:rPr lang="en-US" sz="1771" b="1" dirty="0" err="1">
                <a:solidFill>
                  <a:srgbClr val="222222"/>
                </a:solidFill>
                <a:latin typeface="+mn-ea"/>
                <a:cs typeface="Noto Sans Bold"/>
                <a:sym typeface="Noto Sans Bold"/>
              </a:rPr>
              <a:t>이탈</a:t>
            </a:r>
            <a:r>
              <a:rPr lang="en-US" sz="1771" b="1" dirty="0">
                <a:solidFill>
                  <a:srgbClr val="222222"/>
                </a:solidFill>
                <a:latin typeface="+mn-ea"/>
                <a:cs typeface="Noto Sans Bold"/>
                <a:sym typeface="Noto Sans Bold"/>
              </a:rPr>
              <a:t> </a:t>
            </a:r>
            <a:r>
              <a:rPr lang="en-US" sz="1771" b="1" dirty="0" err="1">
                <a:solidFill>
                  <a:srgbClr val="222222"/>
                </a:solidFill>
                <a:latin typeface="+mn-ea"/>
                <a:cs typeface="Noto Sans Bold"/>
                <a:sym typeface="Noto Sans Bold"/>
              </a:rPr>
              <a:t>여부</a:t>
            </a:r>
            <a:r>
              <a:rPr lang="en-US" sz="1771" b="1" dirty="0">
                <a:solidFill>
                  <a:srgbClr val="222222"/>
                </a:solidFill>
                <a:latin typeface="+mn-ea"/>
                <a:cs typeface="Noto Sans Bold"/>
                <a:sym typeface="Noto Sans Bold"/>
              </a:rPr>
              <a:t> </a:t>
            </a:r>
            <a:r>
              <a:rPr lang="en-US" sz="1771" b="1" dirty="0" err="1">
                <a:solidFill>
                  <a:srgbClr val="222222"/>
                </a:solidFill>
                <a:latin typeface="+mn-ea"/>
                <a:cs typeface="Noto Sans Bold"/>
                <a:sym typeface="Noto Sans Bold"/>
              </a:rPr>
              <a:t>이진분류</a:t>
            </a:r>
            <a:endParaRPr lang="en-US" sz="1771" b="1" dirty="0">
              <a:solidFill>
                <a:srgbClr val="222222"/>
              </a:solidFill>
              <a:latin typeface="+mn-ea"/>
              <a:cs typeface="Noto Sans Bold"/>
              <a:sym typeface="Noto Sans Bold"/>
            </a:endParaRPr>
          </a:p>
        </p:txBody>
      </p:sp>
      <p:sp>
        <p:nvSpPr>
          <p:cNvPr id="68" name="TextBox 68"/>
          <p:cNvSpPr txBox="1"/>
          <p:nvPr/>
        </p:nvSpPr>
        <p:spPr>
          <a:xfrm>
            <a:off x="1717141" y="4767388"/>
            <a:ext cx="4125528" cy="339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5"/>
              </a:lnSpc>
            </a:pPr>
            <a:r>
              <a:rPr lang="en-US" sz="1771" dirty="0" err="1">
                <a:solidFill>
                  <a:srgbClr val="222222"/>
                </a:solidFill>
                <a:latin typeface="+mn-ea"/>
                <a:cs typeface="Noto Sans"/>
                <a:sym typeface="Noto Sans"/>
              </a:rPr>
              <a:t>대회</a:t>
            </a:r>
            <a:r>
              <a:rPr lang="en-US" sz="1771" dirty="0">
                <a:solidFill>
                  <a:srgbClr val="222222"/>
                </a:solidFill>
                <a:latin typeface="+mn-ea"/>
                <a:cs typeface="Noto Sans"/>
                <a:sym typeface="Noto Sans"/>
              </a:rPr>
              <a:t> </a:t>
            </a:r>
            <a:r>
              <a:rPr lang="en-US" sz="1771" dirty="0" err="1">
                <a:solidFill>
                  <a:srgbClr val="222222"/>
                </a:solidFill>
                <a:latin typeface="+mn-ea"/>
                <a:cs typeface="Noto Sans"/>
                <a:sym typeface="Noto Sans"/>
              </a:rPr>
              <a:t>평가지표</a:t>
            </a:r>
            <a:r>
              <a:rPr lang="en-US" sz="1771" dirty="0">
                <a:solidFill>
                  <a:srgbClr val="222222"/>
                </a:solidFill>
                <a:latin typeface="+mn-ea"/>
                <a:cs typeface="Noto Sans"/>
                <a:sym typeface="Noto Sans"/>
              </a:rPr>
              <a:t>: </a:t>
            </a:r>
            <a:r>
              <a:rPr lang="en-US" sz="1771" b="1" dirty="0">
                <a:solidFill>
                  <a:srgbClr val="222222"/>
                </a:solidFill>
                <a:latin typeface="+mn-ea"/>
                <a:cs typeface="Noto Sans Bold"/>
                <a:sym typeface="Noto Sans Bold"/>
              </a:rPr>
              <a:t>ROC-AUC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717141" y="5195189"/>
            <a:ext cx="4125528" cy="339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5"/>
              </a:lnSpc>
            </a:pPr>
            <a:r>
              <a:rPr lang="en-US" sz="1771">
                <a:solidFill>
                  <a:srgbClr val="222222"/>
                </a:solidFill>
                <a:latin typeface="+mn-ea"/>
                <a:cs typeface="Noto Sans"/>
                <a:sym typeface="Noto Sans"/>
              </a:rPr>
              <a:t>Train 데이터 세트 규모: 약 16.5만 행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7603759" y="3639275"/>
            <a:ext cx="3338292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1" dirty="0">
                <a:solidFill>
                  <a:srgbClr val="0F172A"/>
                </a:solidFill>
                <a:latin typeface="+mj-ea"/>
                <a:ea typeface="+mj-ea"/>
                <a:cs typeface="Noto Sans Bold"/>
                <a:sym typeface="Noto Sans Bold"/>
              </a:rPr>
              <a:t>② </a:t>
            </a:r>
            <a:r>
              <a:rPr lang="en-US" sz="2250" b="1" dirty="0">
                <a:solidFill>
                  <a:srgbClr val="0F172A"/>
                </a:solidFill>
                <a:latin typeface="+mj-ea"/>
                <a:ea typeface="+mj-ea"/>
                <a:sym typeface="Noto Sans Bold"/>
              </a:rPr>
              <a:t>EDA</a:t>
            </a:r>
            <a:r>
              <a:rPr lang="en-US" sz="2250" b="1" dirty="0">
                <a:solidFill>
                  <a:srgbClr val="0F172A"/>
                </a:solidFill>
                <a:latin typeface="+mj-ea"/>
                <a:ea typeface="+mj-ea"/>
                <a:cs typeface="Noto Sans Bold"/>
                <a:sym typeface="Noto Sans Bold"/>
              </a:rPr>
              <a:t> (</a:t>
            </a:r>
            <a:r>
              <a:rPr lang="en-US" sz="2250" b="1" dirty="0" err="1">
                <a:solidFill>
                  <a:srgbClr val="0F172A"/>
                </a:solidFill>
                <a:latin typeface="+mj-ea"/>
                <a:ea typeface="+mj-ea"/>
                <a:cs typeface="Noto Sans Bold"/>
                <a:sym typeface="Noto Sans Bold"/>
              </a:rPr>
              <a:t>탐색적</a:t>
            </a:r>
            <a:r>
              <a:rPr lang="en-US" sz="2250" b="1" dirty="0">
                <a:solidFill>
                  <a:srgbClr val="0F172A"/>
                </a:solidFill>
                <a:latin typeface="+mj-ea"/>
                <a:ea typeface="+mj-ea"/>
                <a:cs typeface="Noto Sans Bold"/>
                <a:sym typeface="Noto Sans Bold"/>
              </a:rPr>
              <a:t> </a:t>
            </a:r>
            <a:r>
              <a:rPr lang="en-US" sz="2250" b="1" dirty="0" err="1">
                <a:solidFill>
                  <a:srgbClr val="0F172A"/>
                </a:solidFill>
                <a:latin typeface="+mj-ea"/>
                <a:ea typeface="+mj-ea"/>
                <a:cs typeface="Noto Sans Bold"/>
                <a:sym typeface="Noto Sans Bold"/>
              </a:rPr>
              <a:t>분석</a:t>
            </a:r>
            <a:r>
              <a:rPr lang="en-US" sz="2250" b="1" dirty="0">
                <a:solidFill>
                  <a:srgbClr val="0F172A"/>
                </a:solidFill>
                <a:latin typeface="+mj-ea"/>
                <a:ea typeface="+mj-ea"/>
                <a:cs typeface="Noto Sans Bold"/>
                <a:sym typeface="Noto Sans Bold"/>
              </a:rPr>
              <a:t>)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7153311" y="4348663"/>
            <a:ext cx="4125528" cy="340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2"/>
              </a:lnSpc>
            </a:pPr>
            <a:r>
              <a:rPr lang="en-US" sz="1781">
                <a:solidFill>
                  <a:srgbClr val="222222"/>
                </a:solidFill>
                <a:latin typeface="+mn-ea"/>
                <a:cs typeface="Noto Sans"/>
                <a:sym typeface="Noto Sans"/>
              </a:rPr>
              <a:t>결측치 및 </a:t>
            </a:r>
            <a:r>
              <a:rPr lang="en-US" sz="1781" b="1">
                <a:solidFill>
                  <a:srgbClr val="222222"/>
                </a:solidFill>
                <a:latin typeface="+mn-ea"/>
                <a:cs typeface="Noto Sans Bold"/>
                <a:sym typeface="Noto Sans Bold"/>
              </a:rPr>
              <a:t>중복값 없음</a:t>
            </a:r>
            <a:r>
              <a:rPr lang="en-US" sz="1781">
                <a:solidFill>
                  <a:srgbClr val="222222"/>
                </a:solidFill>
                <a:latin typeface="+mn-ea"/>
                <a:cs typeface="Noto Sans"/>
                <a:sym typeface="Noto Sans"/>
              </a:rPr>
              <a:t> (0건)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7153311" y="4766939"/>
            <a:ext cx="4125528" cy="339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5"/>
              </a:lnSpc>
            </a:pPr>
            <a:r>
              <a:rPr lang="en-US" sz="1771">
                <a:solidFill>
                  <a:srgbClr val="222222"/>
                </a:solidFill>
                <a:latin typeface="+mn-ea"/>
                <a:cs typeface="Noto Sans"/>
                <a:sym typeface="Noto Sans"/>
              </a:rPr>
              <a:t>각 주요 변수별 분포 시각화 완료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7153311" y="5194740"/>
            <a:ext cx="4125528" cy="339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5"/>
              </a:lnSpc>
            </a:pPr>
            <a:r>
              <a:rPr lang="en-US" sz="1771">
                <a:solidFill>
                  <a:srgbClr val="222222"/>
                </a:solidFill>
                <a:latin typeface="+mn-ea"/>
                <a:cs typeface="Noto Sans"/>
                <a:sym typeface="Noto Sans"/>
              </a:rPr>
              <a:t>변수 간의 상관관계(Correlation) 분석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6899800" y="4339138"/>
            <a:ext cx="95067" cy="339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5"/>
              </a:lnSpc>
            </a:pPr>
            <a:r>
              <a:rPr lang="en-US" sz="1771" b="1">
                <a:solidFill>
                  <a:srgbClr val="2E745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•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6899800" y="4766939"/>
            <a:ext cx="95067" cy="339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5"/>
              </a:lnSpc>
            </a:pPr>
            <a:r>
              <a:rPr lang="en-US" sz="1771" b="1">
                <a:solidFill>
                  <a:srgbClr val="2E745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•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6899800" y="5194740"/>
            <a:ext cx="95067" cy="339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5"/>
              </a:lnSpc>
            </a:pPr>
            <a:r>
              <a:rPr lang="en-US" sz="1771" b="1">
                <a:solidFill>
                  <a:srgbClr val="2E745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•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13042534" y="3639725"/>
            <a:ext cx="3937436" cy="3429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1" dirty="0">
                <a:solidFill>
                  <a:srgbClr val="0F172A"/>
                </a:solidFill>
                <a:latin typeface="+mj-ea"/>
                <a:ea typeface="+mj-ea"/>
                <a:cs typeface="Noto Sans Bold"/>
                <a:sym typeface="Noto Sans Bold"/>
              </a:rPr>
              <a:t>③ </a:t>
            </a:r>
            <a:r>
              <a:rPr lang="en-US" sz="2250" b="1" dirty="0" err="1">
                <a:solidFill>
                  <a:srgbClr val="0F172A"/>
                </a:solidFill>
                <a:latin typeface="+mj-ea"/>
                <a:ea typeface="+mj-ea"/>
                <a:cs typeface="Noto Sans Bold"/>
                <a:sym typeface="Noto Sans Bold"/>
              </a:rPr>
              <a:t>전처리</a:t>
            </a:r>
            <a:r>
              <a:rPr lang="en-US" sz="2250" b="1" dirty="0">
                <a:solidFill>
                  <a:srgbClr val="0F172A"/>
                </a:solidFill>
                <a:latin typeface="+mj-ea"/>
                <a:ea typeface="+mj-ea"/>
                <a:cs typeface="Noto Sans Bold"/>
                <a:sym typeface="Noto Sans Bold"/>
              </a:rPr>
              <a:t> &amp; </a:t>
            </a:r>
            <a:r>
              <a:rPr lang="en-US" sz="2250" b="1" dirty="0" err="1">
                <a:solidFill>
                  <a:srgbClr val="0F172A"/>
                </a:solidFill>
                <a:latin typeface="+mj-ea"/>
                <a:ea typeface="+mj-ea"/>
                <a:cs typeface="Noto Sans Bold"/>
                <a:sym typeface="Noto Sans Bold"/>
              </a:rPr>
              <a:t>피처</a:t>
            </a:r>
            <a:r>
              <a:rPr lang="en-US" sz="2250" b="1" dirty="0">
                <a:solidFill>
                  <a:srgbClr val="0F172A"/>
                </a:solidFill>
                <a:latin typeface="+mj-ea"/>
                <a:ea typeface="+mj-ea"/>
                <a:cs typeface="Noto Sans Bold"/>
                <a:sym typeface="Noto Sans Bold"/>
              </a:rPr>
              <a:t> </a:t>
            </a:r>
            <a:r>
              <a:rPr lang="en-US" sz="2250" b="1" dirty="0" err="1">
                <a:solidFill>
                  <a:srgbClr val="0F172A"/>
                </a:solidFill>
                <a:latin typeface="+mj-ea"/>
                <a:ea typeface="+mj-ea"/>
                <a:cs typeface="Noto Sans Bold"/>
                <a:sym typeface="Noto Sans Bold"/>
              </a:rPr>
              <a:t>엔지니어링</a:t>
            </a:r>
            <a:endParaRPr lang="en-US" sz="2250" b="1" dirty="0">
              <a:solidFill>
                <a:srgbClr val="0F172A"/>
              </a:solidFill>
              <a:latin typeface="+mj-ea"/>
              <a:ea typeface="+mj-ea"/>
              <a:cs typeface="Noto Sans Bold"/>
              <a:sym typeface="Noto Sans Bold"/>
            </a:endParaRPr>
          </a:p>
        </p:txBody>
      </p:sp>
      <p:sp>
        <p:nvSpPr>
          <p:cNvPr id="78" name="TextBox 78"/>
          <p:cNvSpPr txBox="1"/>
          <p:nvPr/>
        </p:nvSpPr>
        <p:spPr>
          <a:xfrm>
            <a:off x="12592086" y="4349113"/>
            <a:ext cx="4125528" cy="340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2"/>
              </a:lnSpc>
            </a:pPr>
            <a:r>
              <a:rPr lang="en-US" sz="1781">
                <a:solidFill>
                  <a:srgbClr val="222222"/>
                </a:solidFill>
                <a:latin typeface="+mn-ea"/>
                <a:cs typeface="Noto Sans"/>
                <a:sym typeface="Noto Sans"/>
              </a:rPr>
              <a:t>수치형 변수 </a:t>
            </a:r>
            <a:r>
              <a:rPr lang="en-US" sz="1781" b="1">
                <a:solidFill>
                  <a:srgbClr val="222222"/>
                </a:solidFill>
                <a:latin typeface="+mn-ea"/>
                <a:cs typeface="Noto Sans Bold"/>
                <a:sym typeface="Noto Sans Bold"/>
              </a:rPr>
              <a:t>MinMax 스케일링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12592086" y="4776913"/>
            <a:ext cx="4125528" cy="340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2"/>
              </a:lnSpc>
            </a:pPr>
            <a:r>
              <a:rPr lang="en-US" sz="1781" dirty="0" err="1">
                <a:solidFill>
                  <a:srgbClr val="222222"/>
                </a:solidFill>
                <a:latin typeface="+mn-ea"/>
                <a:cs typeface="Noto Sans"/>
                <a:sym typeface="Noto Sans"/>
              </a:rPr>
              <a:t>범주형</a:t>
            </a:r>
            <a:r>
              <a:rPr lang="en-US" sz="1781" dirty="0">
                <a:solidFill>
                  <a:srgbClr val="222222"/>
                </a:solidFill>
                <a:latin typeface="+mn-ea"/>
                <a:cs typeface="Noto Sans"/>
                <a:sym typeface="Noto Sans"/>
              </a:rPr>
              <a:t> </a:t>
            </a:r>
            <a:r>
              <a:rPr lang="en-US" sz="1781" dirty="0" err="1">
                <a:solidFill>
                  <a:srgbClr val="222222"/>
                </a:solidFill>
                <a:latin typeface="+mn-ea"/>
                <a:cs typeface="Noto Sans"/>
                <a:sym typeface="Noto Sans"/>
              </a:rPr>
              <a:t>변수</a:t>
            </a:r>
            <a:r>
              <a:rPr lang="en-US" sz="1781" dirty="0">
                <a:solidFill>
                  <a:srgbClr val="222222"/>
                </a:solidFill>
                <a:latin typeface="+mn-ea"/>
                <a:cs typeface="Noto Sans"/>
                <a:sym typeface="Noto Sans"/>
              </a:rPr>
              <a:t> </a:t>
            </a:r>
            <a:r>
              <a:rPr lang="en-US" sz="1781" b="1" dirty="0">
                <a:solidFill>
                  <a:srgbClr val="222222"/>
                </a:solidFill>
                <a:latin typeface="+mn-ea"/>
                <a:cs typeface="Noto Sans Bold"/>
                <a:sym typeface="Noto Sans Bold"/>
              </a:rPr>
              <a:t>One-Hot </a:t>
            </a:r>
            <a:r>
              <a:rPr lang="en-US" sz="1781" b="1" dirty="0" err="1">
                <a:solidFill>
                  <a:srgbClr val="222222"/>
                </a:solidFill>
                <a:latin typeface="+mn-ea"/>
                <a:cs typeface="Noto Sans Bold"/>
                <a:sym typeface="Noto Sans Bold"/>
              </a:rPr>
              <a:t>인코딩</a:t>
            </a:r>
            <a:endParaRPr lang="en-US" sz="1781" b="1" dirty="0">
              <a:solidFill>
                <a:srgbClr val="222222"/>
              </a:solidFill>
              <a:latin typeface="+mn-ea"/>
              <a:cs typeface="Noto Sans Bold"/>
              <a:sym typeface="Noto Sans Bold"/>
            </a:endParaRPr>
          </a:p>
        </p:txBody>
      </p:sp>
      <p:sp>
        <p:nvSpPr>
          <p:cNvPr id="80" name="TextBox 80"/>
          <p:cNvSpPr txBox="1"/>
          <p:nvPr/>
        </p:nvSpPr>
        <p:spPr>
          <a:xfrm>
            <a:off x="12592086" y="5204714"/>
            <a:ext cx="4125528" cy="340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2"/>
              </a:lnSpc>
            </a:pPr>
            <a:r>
              <a:rPr lang="en-US" sz="1781" b="1" dirty="0">
                <a:solidFill>
                  <a:srgbClr val="222222"/>
                </a:solidFill>
                <a:latin typeface="+mn-ea"/>
                <a:cs typeface="Noto Sans Bold"/>
                <a:sym typeface="Noto Sans Bold"/>
              </a:rPr>
              <a:t>TF-IDF + SVD(3)</a:t>
            </a:r>
            <a:r>
              <a:rPr lang="en-US" sz="1781" dirty="0">
                <a:solidFill>
                  <a:srgbClr val="222222"/>
                </a:solidFill>
                <a:latin typeface="+mn-ea"/>
                <a:cs typeface="Noto Sans"/>
                <a:sym typeface="Noto Sans"/>
              </a:rPr>
              <a:t> </a:t>
            </a:r>
            <a:r>
              <a:rPr lang="en-US" sz="1781" dirty="0" err="1">
                <a:solidFill>
                  <a:srgbClr val="222222"/>
                </a:solidFill>
                <a:latin typeface="+mn-ea"/>
                <a:cs typeface="Noto Sans"/>
                <a:sym typeface="Noto Sans"/>
              </a:rPr>
              <a:t>텍스트</a:t>
            </a:r>
            <a:r>
              <a:rPr lang="en-US" sz="1781" dirty="0">
                <a:solidFill>
                  <a:srgbClr val="222222"/>
                </a:solidFill>
                <a:latin typeface="+mn-ea"/>
                <a:cs typeface="Noto Sans"/>
                <a:sym typeface="Noto Sans"/>
              </a:rPr>
              <a:t> </a:t>
            </a:r>
            <a:r>
              <a:rPr lang="en-US" sz="1781" dirty="0" err="1">
                <a:solidFill>
                  <a:srgbClr val="222222"/>
                </a:solidFill>
                <a:latin typeface="+mn-ea"/>
                <a:cs typeface="Noto Sans"/>
                <a:sym typeface="Noto Sans"/>
              </a:rPr>
              <a:t>차원</a:t>
            </a:r>
            <a:r>
              <a:rPr lang="en-US" sz="1781" dirty="0">
                <a:solidFill>
                  <a:srgbClr val="222222"/>
                </a:solidFill>
                <a:latin typeface="+mn-ea"/>
                <a:cs typeface="Noto Sans"/>
                <a:sym typeface="Noto Sans"/>
              </a:rPr>
              <a:t> </a:t>
            </a:r>
            <a:r>
              <a:rPr lang="en-US" sz="1781" dirty="0" err="1">
                <a:solidFill>
                  <a:srgbClr val="222222"/>
                </a:solidFill>
                <a:latin typeface="+mn-ea"/>
                <a:cs typeface="Noto Sans"/>
                <a:sym typeface="Noto Sans"/>
              </a:rPr>
              <a:t>축소</a:t>
            </a:r>
            <a:endParaRPr lang="en-US" sz="1781" dirty="0">
              <a:solidFill>
                <a:srgbClr val="222222"/>
              </a:solidFill>
              <a:latin typeface="+mn-ea"/>
              <a:cs typeface="Noto Sans"/>
              <a:sym typeface="Noto Sans"/>
            </a:endParaRPr>
          </a:p>
        </p:txBody>
      </p:sp>
      <p:sp>
        <p:nvSpPr>
          <p:cNvPr id="81" name="TextBox 81"/>
          <p:cNvSpPr txBox="1"/>
          <p:nvPr/>
        </p:nvSpPr>
        <p:spPr>
          <a:xfrm>
            <a:off x="12338575" y="4339588"/>
            <a:ext cx="95067" cy="339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5"/>
              </a:lnSpc>
            </a:pPr>
            <a:r>
              <a:rPr lang="en-US" sz="1771" b="1">
                <a:solidFill>
                  <a:srgbClr val="2E745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•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12338575" y="4767388"/>
            <a:ext cx="95067" cy="339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5"/>
              </a:lnSpc>
            </a:pPr>
            <a:r>
              <a:rPr lang="en-US" sz="1771" b="1">
                <a:solidFill>
                  <a:srgbClr val="2E745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•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12338575" y="5195189"/>
            <a:ext cx="95067" cy="339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5"/>
              </a:lnSpc>
            </a:pPr>
            <a:r>
              <a:rPr lang="en-US" sz="1771" b="1">
                <a:solidFill>
                  <a:srgbClr val="2E745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•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2167589" y="3603557"/>
            <a:ext cx="3014011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1" dirty="0">
                <a:solidFill>
                  <a:srgbClr val="0F172A"/>
                </a:solidFill>
                <a:latin typeface="+mj-ea"/>
                <a:ea typeface="+mj-ea"/>
                <a:cs typeface="Noto Sans Bold"/>
                <a:sym typeface="Noto Sans Bold"/>
              </a:rPr>
              <a:t>① </a:t>
            </a:r>
            <a:r>
              <a:rPr lang="en-US" sz="2250" b="1" dirty="0" err="1">
                <a:solidFill>
                  <a:srgbClr val="0F172A"/>
                </a:solidFill>
                <a:latin typeface="+mj-ea"/>
                <a:ea typeface="+mj-ea"/>
                <a:cs typeface="Noto Sans Bold"/>
                <a:sym typeface="Noto Sans Bold"/>
              </a:rPr>
              <a:t>문제</a:t>
            </a:r>
            <a:r>
              <a:rPr lang="en-US" sz="2250" b="1" dirty="0">
                <a:solidFill>
                  <a:srgbClr val="0F172A"/>
                </a:solidFill>
                <a:latin typeface="+mj-ea"/>
                <a:ea typeface="+mj-ea"/>
                <a:cs typeface="Noto Sans Bold"/>
                <a:sym typeface="Noto Sans Bold"/>
              </a:rPr>
              <a:t> </a:t>
            </a:r>
            <a:r>
              <a:rPr lang="en-US" sz="2250" b="1" dirty="0" err="1">
                <a:solidFill>
                  <a:srgbClr val="0F172A"/>
                </a:solidFill>
                <a:latin typeface="+mj-ea"/>
                <a:ea typeface="+mj-ea"/>
                <a:cs typeface="Noto Sans Bold"/>
                <a:sym typeface="Noto Sans Bold"/>
              </a:rPr>
              <a:t>정의</a:t>
            </a:r>
            <a:endParaRPr lang="en-US" sz="2250" b="1" dirty="0">
              <a:solidFill>
                <a:srgbClr val="0F172A"/>
              </a:solidFill>
              <a:latin typeface="+mj-ea"/>
              <a:ea typeface="+mj-ea"/>
              <a:cs typeface="Noto Sans Bold"/>
              <a:sym typeface="Noto Sans Bold"/>
            </a:endParaRPr>
          </a:p>
        </p:txBody>
      </p:sp>
      <p:sp>
        <p:nvSpPr>
          <p:cNvPr id="85" name="TextBox 85"/>
          <p:cNvSpPr txBox="1"/>
          <p:nvPr/>
        </p:nvSpPr>
        <p:spPr>
          <a:xfrm>
            <a:off x="1463630" y="4339588"/>
            <a:ext cx="95067" cy="339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5"/>
              </a:lnSpc>
            </a:pPr>
            <a:r>
              <a:rPr lang="en-US" sz="1771" b="1">
                <a:solidFill>
                  <a:srgbClr val="2E745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•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1463630" y="4767388"/>
            <a:ext cx="95067" cy="339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5"/>
              </a:lnSpc>
            </a:pPr>
            <a:r>
              <a:rPr lang="en-US" sz="1771" b="1">
                <a:solidFill>
                  <a:srgbClr val="2E745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•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1463630" y="5195189"/>
            <a:ext cx="95067" cy="339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5"/>
              </a:lnSpc>
            </a:pPr>
            <a:r>
              <a:rPr lang="en-US" sz="1771" b="1">
                <a:solidFill>
                  <a:srgbClr val="2E745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•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12592086" y="5623173"/>
            <a:ext cx="4125528" cy="339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5"/>
              </a:lnSpc>
            </a:pPr>
            <a:r>
              <a:rPr lang="en-US" sz="1771">
                <a:solidFill>
                  <a:srgbClr val="222222"/>
                </a:solidFill>
                <a:latin typeface="+mn-ea"/>
                <a:cs typeface="Noto Sans"/>
                <a:sym typeface="Noto Sans"/>
              </a:rPr>
              <a:t>도메인 지식 기반 파생변수 4종 추가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12338575" y="5623173"/>
            <a:ext cx="95067" cy="339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5"/>
              </a:lnSpc>
            </a:pPr>
            <a:r>
              <a:rPr lang="en-US" sz="1771" b="1">
                <a:solidFill>
                  <a:srgbClr val="2E745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•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2159366" y="6988369"/>
            <a:ext cx="3375375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1">
                <a:solidFill>
                  <a:srgbClr val="0F172A"/>
                </a:solidFill>
                <a:latin typeface="+mj-ea"/>
                <a:ea typeface="+mj-ea"/>
                <a:cs typeface="Noto Sans Bold"/>
                <a:sym typeface="Noto Sans Bold"/>
              </a:rPr>
              <a:t>④ 모델링 &amp; 튜닝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1708919" y="7724400"/>
            <a:ext cx="4544483" cy="339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5"/>
              </a:lnSpc>
            </a:pPr>
            <a:r>
              <a:rPr lang="en-US" sz="1771" b="1" dirty="0" err="1">
                <a:solidFill>
                  <a:srgbClr val="222222"/>
                </a:solidFill>
                <a:latin typeface="+mn-ea"/>
                <a:cs typeface="Noto Sans Bold"/>
                <a:sym typeface="Noto Sans Bold"/>
              </a:rPr>
              <a:t>LightGBM</a:t>
            </a:r>
            <a:r>
              <a:rPr lang="en-US" sz="1771" dirty="0">
                <a:solidFill>
                  <a:srgbClr val="222222"/>
                </a:solidFill>
                <a:latin typeface="+mn-ea"/>
                <a:cs typeface="Noto Sans"/>
                <a:sym typeface="Noto Sans"/>
              </a:rPr>
              <a:t>: </a:t>
            </a:r>
            <a:r>
              <a:rPr lang="en-US" sz="1771" dirty="0" err="1">
                <a:solidFill>
                  <a:srgbClr val="222222"/>
                </a:solidFill>
                <a:latin typeface="+mn-ea"/>
                <a:cs typeface="Noto Sans"/>
                <a:sym typeface="Noto Sans"/>
              </a:rPr>
              <a:t>주요</a:t>
            </a:r>
            <a:r>
              <a:rPr lang="en-US" sz="1771" dirty="0">
                <a:solidFill>
                  <a:srgbClr val="222222"/>
                </a:solidFill>
                <a:latin typeface="+mn-ea"/>
                <a:cs typeface="Noto Sans"/>
                <a:sym typeface="Noto Sans"/>
              </a:rPr>
              <a:t> </a:t>
            </a:r>
            <a:r>
              <a:rPr lang="en-US" sz="1771" dirty="0" err="1">
                <a:solidFill>
                  <a:srgbClr val="222222"/>
                </a:solidFill>
                <a:latin typeface="+mn-ea"/>
                <a:cs typeface="Noto Sans"/>
                <a:sym typeface="Noto Sans"/>
              </a:rPr>
              <a:t>하이퍼파라미터</a:t>
            </a:r>
            <a:r>
              <a:rPr lang="en-US" sz="1771" dirty="0">
                <a:solidFill>
                  <a:srgbClr val="222222"/>
                </a:solidFill>
                <a:latin typeface="+mn-ea"/>
                <a:cs typeface="Noto Sans"/>
                <a:sym typeface="Noto Sans"/>
              </a:rPr>
              <a:t> 9종 </a:t>
            </a:r>
            <a:r>
              <a:rPr lang="en-US" sz="1771" dirty="0" err="1">
                <a:solidFill>
                  <a:srgbClr val="222222"/>
                </a:solidFill>
                <a:latin typeface="+mn-ea"/>
                <a:cs typeface="Noto Sans"/>
                <a:sym typeface="Noto Sans"/>
              </a:rPr>
              <a:t>설정</a:t>
            </a:r>
            <a:endParaRPr lang="en-US" sz="1771" dirty="0">
              <a:solidFill>
                <a:srgbClr val="222222"/>
              </a:solidFill>
              <a:latin typeface="+mn-ea"/>
              <a:cs typeface="Noto Sans"/>
              <a:sym typeface="Noto Sans"/>
            </a:endParaRPr>
          </a:p>
        </p:txBody>
      </p:sp>
      <p:sp>
        <p:nvSpPr>
          <p:cNvPr id="92" name="TextBox 92"/>
          <p:cNvSpPr txBox="1"/>
          <p:nvPr/>
        </p:nvSpPr>
        <p:spPr>
          <a:xfrm>
            <a:off x="1708919" y="8152200"/>
            <a:ext cx="4125528" cy="339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5"/>
              </a:lnSpc>
            </a:pPr>
            <a:r>
              <a:rPr lang="en-US" sz="1771" b="1">
                <a:solidFill>
                  <a:srgbClr val="222222"/>
                </a:solidFill>
                <a:latin typeface="+mn-ea"/>
                <a:cs typeface="Noto Sans Bold"/>
                <a:sym typeface="Noto Sans Bold"/>
              </a:rPr>
              <a:t>CatBoost</a:t>
            </a:r>
            <a:r>
              <a:rPr lang="en-US" sz="1771">
                <a:solidFill>
                  <a:srgbClr val="222222"/>
                </a:solidFill>
                <a:latin typeface="+mn-ea"/>
                <a:cs typeface="Noto Sans"/>
                <a:sym typeface="Noto Sans"/>
              </a:rPr>
              <a:t>: 범주형 네이티브 처리 적용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1708919" y="8580001"/>
            <a:ext cx="4406297" cy="340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57"/>
              </a:lnSpc>
            </a:pPr>
            <a:r>
              <a:rPr lang="en-US" sz="1760">
                <a:solidFill>
                  <a:srgbClr val="222222"/>
                </a:solidFill>
                <a:latin typeface="+mn-ea"/>
                <a:cs typeface="Noto Sans"/>
                <a:sym typeface="Noto Sans"/>
              </a:rPr>
              <a:t>부스팅 2종(LightGBM·CatBoost) 모델 비교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1455407" y="7724400"/>
            <a:ext cx="95067" cy="340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57"/>
              </a:lnSpc>
            </a:pPr>
            <a:r>
              <a:rPr lang="en-US" sz="1760" b="1">
                <a:solidFill>
                  <a:srgbClr val="2E745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•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1455407" y="8152200"/>
            <a:ext cx="95067" cy="340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57"/>
              </a:lnSpc>
            </a:pPr>
            <a:r>
              <a:rPr lang="en-US" sz="1760" b="1">
                <a:solidFill>
                  <a:srgbClr val="2E745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•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1455407" y="8580001"/>
            <a:ext cx="95067" cy="340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57"/>
              </a:lnSpc>
            </a:pPr>
            <a:r>
              <a:rPr lang="en-US" sz="1760" b="1">
                <a:solidFill>
                  <a:srgbClr val="2E745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•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7595536" y="7024088"/>
            <a:ext cx="3338292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1">
                <a:solidFill>
                  <a:srgbClr val="0F172A"/>
                </a:solidFill>
                <a:latin typeface="+mj-ea"/>
                <a:ea typeface="+mj-ea"/>
                <a:cs typeface="Noto Sans Bold"/>
                <a:sym typeface="Noto Sans Bold"/>
              </a:rPr>
              <a:t>⑤ 교차검증 (CV)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7145089" y="7723951"/>
            <a:ext cx="4547088" cy="339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5"/>
              </a:lnSpc>
            </a:pPr>
            <a:r>
              <a:rPr lang="en-US" sz="1771">
                <a:solidFill>
                  <a:srgbClr val="222222"/>
                </a:solidFill>
                <a:latin typeface="+mn-ea"/>
                <a:cs typeface="Noto Sans"/>
                <a:sym typeface="Noto Sans"/>
              </a:rPr>
              <a:t>클래스 비율 유지를 위한 </a:t>
            </a:r>
            <a:r>
              <a:rPr lang="en-US" sz="1771" b="1">
                <a:solidFill>
                  <a:srgbClr val="222222"/>
                </a:solidFill>
                <a:latin typeface="+mn-ea"/>
                <a:cs typeface="Noto Sans Bold"/>
                <a:sym typeface="Noto Sans Bold"/>
              </a:rPr>
              <a:t>StratifiedKFold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7145089" y="8151751"/>
            <a:ext cx="4125528" cy="339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5"/>
              </a:lnSpc>
            </a:pPr>
            <a:r>
              <a:rPr lang="en-US" sz="1771">
                <a:solidFill>
                  <a:srgbClr val="222222"/>
                </a:solidFill>
                <a:latin typeface="+mn-ea"/>
                <a:cs typeface="Noto Sans"/>
                <a:sym typeface="Noto Sans"/>
              </a:rPr>
              <a:t>LGBM </a:t>
            </a:r>
            <a:r>
              <a:rPr lang="en-US" sz="1771" b="1">
                <a:solidFill>
                  <a:srgbClr val="222222"/>
                </a:solidFill>
                <a:latin typeface="+mn-ea"/>
                <a:cs typeface="Noto Sans Bold"/>
                <a:sym typeface="Noto Sans Bold"/>
              </a:rPr>
              <a:t>10-fold </a:t>
            </a:r>
            <a:r>
              <a:rPr lang="en-US" sz="1771">
                <a:solidFill>
                  <a:srgbClr val="222222"/>
                </a:solidFill>
                <a:latin typeface="+mn-ea"/>
                <a:cs typeface="Noto Sans"/>
                <a:sym typeface="Noto Sans"/>
              </a:rPr>
              <a:t>/ CatBoost</a:t>
            </a:r>
            <a:r>
              <a:rPr lang="en-US" sz="1771" b="1">
                <a:solidFill>
                  <a:srgbClr val="222222"/>
                </a:solidFill>
                <a:latin typeface="+mn-ea"/>
                <a:cs typeface="Noto Sans Bold"/>
                <a:sym typeface="Noto Sans Bold"/>
              </a:rPr>
              <a:t> 5-fold</a:t>
            </a:r>
            <a:r>
              <a:rPr lang="en-US" sz="1771">
                <a:solidFill>
                  <a:srgbClr val="222222"/>
                </a:solidFill>
                <a:latin typeface="+mn-ea"/>
                <a:cs typeface="Noto Sans"/>
                <a:sym typeface="Noto Sans"/>
              </a:rPr>
              <a:t> 설계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7145089" y="8579552"/>
            <a:ext cx="4125528" cy="340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57"/>
              </a:lnSpc>
            </a:pPr>
            <a:r>
              <a:rPr lang="en-US" sz="1760">
                <a:solidFill>
                  <a:srgbClr val="222222"/>
                </a:solidFill>
                <a:latin typeface="+mn-ea"/>
                <a:cs typeface="Noto Sans"/>
                <a:sym typeface="Noto Sans"/>
              </a:rPr>
              <a:t>각 Fold 예측값 평균화(Averaging) 수행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6891577" y="7723951"/>
            <a:ext cx="95067" cy="340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57"/>
              </a:lnSpc>
            </a:pPr>
            <a:r>
              <a:rPr lang="en-US" sz="1760" b="1">
                <a:solidFill>
                  <a:srgbClr val="2E745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•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6891577" y="8151751"/>
            <a:ext cx="95067" cy="340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57"/>
              </a:lnSpc>
            </a:pPr>
            <a:r>
              <a:rPr lang="en-US" sz="1760" b="1">
                <a:solidFill>
                  <a:srgbClr val="2E745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•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6891577" y="8579552"/>
            <a:ext cx="95067" cy="340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57"/>
              </a:lnSpc>
            </a:pPr>
            <a:r>
              <a:rPr lang="en-US" sz="1760" b="1">
                <a:solidFill>
                  <a:srgbClr val="2E745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•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13034311" y="7024537"/>
            <a:ext cx="3683303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1" dirty="0">
                <a:solidFill>
                  <a:srgbClr val="0F172A"/>
                </a:solidFill>
                <a:latin typeface="+mj-ea"/>
                <a:ea typeface="+mj-ea"/>
                <a:cs typeface="Noto Sans Bold"/>
                <a:sym typeface="Noto Sans Bold"/>
              </a:rPr>
              <a:t>⑥ </a:t>
            </a:r>
            <a:r>
              <a:rPr lang="en-US" sz="2250" b="1" dirty="0" err="1">
                <a:solidFill>
                  <a:srgbClr val="0F172A"/>
                </a:solidFill>
                <a:latin typeface="+mj-ea"/>
                <a:ea typeface="+mj-ea"/>
                <a:cs typeface="Noto Sans Bold"/>
                <a:sym typeface="Noto Sans Bold"/>
              </a:rPr>
              <a:t>최종</a:t>
            </a:r>
            <a:r>
              <a:rPr lang="en-US" sz="2250" b="1" dirty="0">
                <a:solidFill>
                  <a:srgbClr val="0F172A"/>
                </a:solidFill>
                <a:latin typeface="+mj-ea"/>
                <a:ea typeface="+mj-ea"/>
                <a:cs typeface="Noto Sans Bold"/>
                <a:sym typeface="Noto Sans Bold"/>
              </a:rPr>
              <a:t> </a:t>
            </a:r>
            <a:r>
              <a:rPr lang="en-US" sz="2250" b="1" dirty="0" err="1">
                <a:solidFill>
                  <a:srgbClr val="0F172A"/>
                </a:solidFill>
                <a:latin typeface="+mj-ea"/>
                <a:ea typeface="+mj-ea"/>
                <a:cs typeface="Noto Sans Bold"/>
                <a:sym typeface="Noto Sans Bold"/>
              </a:rPr>
              <a:t>평가</a:t>
            </a:r>
            <a:endParaRPr lang="en-US" sz="2250" b="1" dirty="0">
              <a:solidFill>
                <a:srgbClr val="0F172A"/>
              </a:solidFill>
              <a:latin typeface="+mj-ea"/>
              <a:ea typeface="+mj-ea"/>
              <a:cs typeface="Noto Sans Bold"/>
              <a:sym typeface="Noto Sans Bold"/>
            </a:endParaRPr>
          </a:p>
        </p:txBody>
      </p:sp>
      <p:sp>
        <p:nvSpPr>
          <p:cNvPr id="105" name="TextBox 105"/>
          <p:cNvSpPr txBox="1"/>
          <p:nvPr/>
        </p:nvSpPr>
        <p:spPr>
          <a:xfrm>
            <a:off x="12583864" y="7724400"/>
            <a:ext cx="4125528" cy="339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5"/>
              </a:lnSpc>
            </a:pPr>
            <a:r>
              <a:rPr lang="en-US" sz="1771">
                <a:solidFill>
                  <a:srgbClr val="222222"/>
                </a:solidFill>
                <a:latin typeface="+mn-ea"/>
                <a:cs typeface="Noto Sans"/>
                <a:sym typeface="Noto Sans"/>
              </a:rPr>
              <a:t>최종 검증 </a:t>
            </a:r>
            <a:r>
              <a:rPr lang="en-US" sz="1771" b="1">
                <a:solidFill>
                  <a:srgbClr val="222222"/>
                </a:solidFill>
                <a:latin typeface="+mn-ea"/>
                <a:cs typeface="Noto Sans Bold"/>
                <a:sym typeface="Noto Sans Bold"/>
              </a:rPr>
              <a:t>ROC-AUC 약 0.8945</a:t>
            </a:r>
            <a:r>
              <a:rPr lang="en-US" sz="1771">
                <a:solidFill>
                  <a:srgbClr val="222222"/>
                </a:solidFill>
                <a:latin typeface="+mn-ea"/>
                <a:cs typeface="Noto Sans"/>
                <a:sym typeface="Noto Sans"/>
              </a:rPr>
              <a:t> 달성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12583864" y="8152200"/>
            <a:ext cx="4125528" cy="339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5"/>
              </a:lnSpc>
            </a:pPr>
            <a:r>
              <a:rPr lang="en-US" sz="1771">
                <a:solidFill>
                  <a:srgbClr val="222222"/>
                </a:solidFill>
                <a:latin typeface="+mn-ea"/>
                <a:cs typeface="Noto Sans"/>
                <a:sym typeface="Noto Sans"/>
              </a:rPr>
              <a:t>원본 데이터 </a:t>
            </a:r>
            <a:r>
              <a:rPr lang="en-US" sz="1771" b="1">
                <a:solidFill>
                  <a:srgbClr val="222222"/>
                </a:solidFill>
                <a:latin typeface="+mn-ea"/>
                <a:cs typeface="Noto Sans Bold"/>
                <a:sym typeface="Noto Sans Bold"/>
              </a:rPr>
              <a:t>Override 보정 </a:t>
            </a:r>
            <a:r>
              <a:rPr lang="en-US" sz="1771">
                <a:solidFill>
                  <a:srgbClr val="222222"/>
                </a:solidFill>
                <a:latin typeface="+mn-ea"/>
                <a:cs typeface="Noto Sans"/>
                <a:sym typeface="Noto Sans"/>
              </a:rPr>
              <a:t>적용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12583864" y="8580001"/>
            <a:ext cx="4125528" cy="339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5"/>
              </a:lnSpc>
            </a:pPr>
            <a:r>
              <a:rPr lang="en-US" sz="1771">
                <a:solidFill>
                  <a:srgbClr val="222222"/>
                </a:solidFill>
                <a:latin typeface="+mn-ea"/>
                <a:cs typeface="Noto Sans"/>
                <a:sym typeface="Noto Sans"/>
              </a:rPr>
              <a:t>두 모델 간의 성능 우위 및 강점 비교 분석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12330352" y="7724400"/>
            <a:ext cx="95067" cy="340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57"/>
              </a:lnSpc>
            </a:pPr>
            <a:r>
              <a:rPr lang="en-US" sz="1760" b="1">
                <a:solidFill>
                  <a:srgbClr val="2E745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•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12330352" y="8152200"/>
            <a:ext cx="95067" cy="340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57"/>
              </a:lnSpc>
            </a:pPr>
            <a:r>
              <a:rPr lang="en-US" sz="1760" b="1">
                <a:solidFill>
                  <a:srgbClr val="2E745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•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12330352" y="8580001"/>
            <a:ext cx="95067" cy="340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57"/>
              </a:lnSpc>
            </a:pPr>
            <a:r>
              <a:rPr lang="en-US" sz="1760" b="1">
                <a:solidFill>
                  <a:srgbClr val="2E745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•</a:t>
            </a:r>
          </a:p>
        </p:txBody>
      </p:sp>
      <p:sp>
        <p:nvSpPr>
          <p:cNvPr id="111" name="Freeform 111"/>
          <p:cNvSpPr/>
          <p:nvPr/>
        </p:nvSpPr>
        <p:spPr>
          <a:xfrm>
            <a:off x="12449216" y="3631278"/>
            <a:ext cx="329385" cy="340743"/>
          </a:xfrm>
          <a:custGeom>
            <a:avLst/>
            <a:gdLst/>
            <a:ahLst/>
            <a:cxnLst/>
            <a:rect l="l" t="t" r="r" b="b"/>
            <a:pathLst>
              <a:path w="329385" h="340743">
                <a:moveTo>
                  <a:pt x="0" y="0"/>
                </a:moveTo>
                <a:lnTo>
                  <a:pt x="329385" y="0"/>
                </a:lnTo>
                <a:lnTo>
                  <a:pt x="329385" y="340743"/>
                </a:lnTo>
                <a:lnTo>
                  <a:pt x="0" y="3407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12" name="TextBox 112"/>
          <p:cNvSpPr txBox="1"/>
          <p:nvPr/>
        </p:nvSpPr>
        <p:spPr>
          <a:xfrm>
            <a:off x="16979970" y="9589832"/>
            <a:ext cx="1065171" cy="380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dirty="0">
                <a:solidFill>
                  <a:srgbClr val="5C635E"/>
                </a:solidFill>
                <a:latin typeface="Arimo"/>
                <a:ea typeface="Arimo"/>
                <a:cs typeface="Arimo"/>
                <a:sym typeface="Arimo"/>
              </a:rPr>
              <a:t>1 / 2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998434" y="1112134"/>
            <a:ext cx="10964966" cy="2733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252"/>
              </a:lnSpc>
              <a:spcBef>
                <a:spcPct val="0"/>
              </a:spcBef>
            </a:pPr>
            <a:r>
              <a:rPr lang="en-US" sz="1787" dirty="0">
                <a:solidFill>
                  <a:srgbClr val="DBEBE1"/>
                </a:solidFill>
                <a:latin typeface="+mj-ea"/>
                <a:ea typeface="+mj-ea"/>
                <a:cs typeface="Arimo"/>
                <a:sym typeface="Arimo"/>
              </a:rPr>
              <a:t>Kaggle Bank Churn · Playground Series S4E1 · </a:t>
            </a:r>
            <a:r>
              <a:rPr lang="en-US" sz="1787" dirty="0" err="1">
                <a:solidFill>
                  <a:srgbClr val="DBEBE1"/>
                </a:solidFill>
                <a:latin typeface="+mj-ea"/>
                <a:ea typeface="+mj-ea"/>
                <a:cs typeface="Arimo"/>
                <a:sym typeface="Arimo"/>
              </a:rPr>
              <a:t>LightGBM</a:t>
            </a:r>
            <a:r>
              <a:rPr lang="en-US" sz="1787" dirty="0">
                <a:solidFill>
                  <a:srgbClr val="DBEBE1"/>
                </a:solidFill>
                <a:latin typeface="+mj-ea"/>
                <a:ea typeface="+mj-ea"/>
                <a:cs typeface="Arimo"/>
                <a:sym typeface="Arimo"/>
              </a:rPr>
              <a:t> &amp; </a:t>
            </a:r>
            <a:r>
              <a:rPr lang="en-US" sz="1787" dirty="0" err="1">
                <a:solidFill>
                  <a:srgbClr val="DBEBE1"/>
                </a:solidFill>
                <a:latin typeface="+mj-ea"/>
                <a:ea typeface="+mj-ea"/>
                <a:cs typeface="Arimo"/>
                <a:sym typeface="Arimo"/>
              </a:rPr>
              <a:t>CatBoost</a:t>
            </a:r>
            <a:r>
              <a:rPr lang="en-US" sz="1787" dirty="0">
                <a:solidFill>
                  <a:srgbClr val="DBEBE1"/>
                </a:solidFill>
                <a:latin typeface="+mj-ea"/>
                <a:ea typeface="+mj-ea"/>
                <a:cs typeface="Arimo"/>
                <a:sym typeface="Arimo"/>
              </a:rPr>
              <a:t> · ROC-AUC 0.8945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610786" y="1746214"/>
            <a:ext cx="15983998" cy="227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549" i="1" u="sng" dirty="0">
                <a:solidFill>
                  <a:srgbClr val="6B6B6B"/>
                </a:solidFill>
                <a:latin typeface="+mj-ea"/>
                <a:ea typeface="+mj-ea"/>
                <a:cs typeface="Arimo Italics"/>
                <a:sym typeface="Arimo Italics"/>
                <a:hlinkClick r:id="rId10" tooltip="https://www.kaggle.com/code/abdmental01/bank-churn-lightgbm-and-catboost-0-8945"/>
              </a:rPr>
              <a:t>원 </a:t>
            </a:r>
            <a:r>
              <a:rPr lang="en-US" sz="1549" i="1" u="sng" dirty="0" err="1">
                <a:solidFill>
                  <a:srgbClr val="6B6B6B"/>
                </a:solidFill>
                <a:latin typeface="+mj-ea"/>
                <a:ea typeface="+mj-ea"/>
                <a:cs typeface="Arimo Italics"/>
                <a:sym typeface="Arimo Italics"/>
                <a:hlinkClick r:id="rId10" tooltip="https://www.kaggle.com/code/abdmental01/bank-churn-lightgbm-and-catboost-0-8945"/>
              </a:rPr>
              <a:t>분석</a:t>
            </a:r>
            <a:r>
              <a:rPr lang="en-US" sz="1549" i="1" u="sng" dirty="0">
                <a:solidFill>
                  <a:srgbClr val="6B6B6B"/>
                </a:solidFill>
                <a:latin typeface="+mj-ea"/>
                <a:ea typeface="+mj-ea"/>
                <a:cs typeface="Arimo Italics"/>
                <a:sym typeface="Arimo Italics"/>
                <a:hlinkClick r:id="rId10" tooltip="https://www.kaggle.com/code/abdmental01/bank-churn-lightgbm-and-catboost-0-8945"/>
              </a:rPr>
              <a:t> </a:t>
            </a:r>
            <a:r>
              <a:rPr lang="en-US" sz="1549" i="1" u="sng" dirty="0" err="1">
                <a:solidFill>
                  <a:srgbClr val="6B6B6B"/>
                </a:solidFill>
                <a:latin typeface="+mj-ea"/>
                <a:ea typeface="+mj-ea"/>
                <a:cs typeface="Arimo Italics"/>
                <a:sym typeface="Arimo Italics"/>
                <a:hlinkClick r:id="rId10" tooltip="https://www.kaggle.com/code/abdmental01/bank-churn-lightgbm-and-catboost-0-8945"/>
              </a:rPr>
              <a:t>노트북</a:t>
            </a:r>
            <a:r>
              <a:rPr lang="en-US" sz="1549" i="1" u="sng" dirty="0">
                <a:solidFill>
                  <a:srgbClr val="6B6B6B"/>
                </a:solidFill>
                <a:latin typeface="+mj-ea"/>
                <a:ea typeface="+mj-ea"/>
                <a:cs typeface="Arimo Italics"/>
                <a:sym typeface="Arimo Italics"/>
                <a:hlinkClick r:id="rId10" tooltip="https://www.kaggle.com/code/abdmental01/bank-churn-lightgbm-and-catboost-0-8945"/>
              </a:rPr>
              <a:t>: abdmental01 · Kaggle Playground Series S4E1 (Bank Churn) </a:t>
            </a:r>
          </a:p>
        </p:txBody>
      </p:sp>
      <p:sp>
        <p:nvSpPr>
          <p:cNvPr id="115" name="Freeform 115"/>
          <p:cNvSpPr/>
          <p:nvPr/>
        </p:nvSpPr>
        <p:spPr>
          <a:xfrm>
            <a:off x="422442" y="520377"/>
            <a:ext cx="357638" cy="357638"/>
          </a:xfrm>
          <a:custGeom>
            <a:avLst/>
            <a:gdLst/>
            <a:ahLst/>
            <a:cxnLst/>
            <a:rect l="l" t="t" r="r" b="b"/>
            <a:pathLst>
              <a:path w="357638" h="357638">
                <a:moveTo>
                  <a:pt x="0" y="0"/>
                </a:moveTo>
                <a:lnTo>
                  <a:pt x="357638" y="0"/>
                </a:lnTo>
                <a:lnTo>
                  <a:pt x="357638" y="357639"/>
                </a:lnTo>
                <a:lnTo>
                  <a:pt x="0" y="3576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116" name="Group 116"/>
          <p:cNvGrpSpPr/>
          <p:nvPr/>
        </p:nvGrpSpPr>
        <p:grpSpPr>
          <a:xfrm>
            <a:off x="0" y="9969879"/>
            <a:ext cx="18288000" cy="317121"/>
            <a:chOff x="0" y="0"/>
            <a:chExt cx="4816593" cy="83522"/>
          </a:xfrm>
        </p:grpSpPr>
        <p:sp>
          <p:nvSpPr>
            <p:cNvPr id="117" name="Freeform 117"/>
            <p:cNvSpPr/>
            <p:nvPr/>
          </p:nvSpPr>
          <p:spPr>
            <a:xfrm>
              <a:off x="0" y="0"/>
              <a:ext cx="4816592" cy="83522"/>
            </a:xfrm>
            <a:custGeom>
              <a:avLst/>
              <a:gdLst/>
              <a:ahLst/>
              <a:cxnLst/>
              <a:rect l="l" t="t" r="r" b="b"/>
              <a:pathLst>
                <a:path w="4816592" h="83522">
                  <a:moveTo>
                    <a:pt x="0" y="0"/>
                  </a:moveTo>
                  <a:lnTo>
                    <a:pt x="4816592" y="0"/>
                  </a:lnTo>
                  <a:lnTo>
                    <a:pt x="4816592" y="83522"/>
                  </a:lnTo>
                  <a:lnTo>
                    <a:pt x="0" y="83522"/>
                  </a:lnTo>
                  <a:close/>
                </a:path>
              </a:pathLst>
            </a:custGeom>
            <a:solidFill>
              <a:srgbClr val="2E745F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0" y="-28575"/>
              <a:ext cx="4816593" cy="1120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33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619755"/>
            <a:chOff x="0" y="0"/>
            <a:chExt cx="24402453" cy="21596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2159635"/>
            </a:xfrm>
            <a:custGeom>
              <a:avLst/>
              <a:gdLst/>
              <a:ahLst/>
              <a:cxnLst/>
              <a:rect l="l" t="t" r="r" b="b"/>
              <a:pathLst>
                <a:path w="24402414" h="2159635">
                  <a:moveTo>
                    <a:pt x="0" y="0"/>
                  </a:moveTo>
                  <a:lnTo>
                    <a:pt x="24402414" y="0"/>
                  </a:lnTo>
                  <a:lnTo>
                    <a:pt x="24402414" y="2159635"/>
                  </a:lnTo>
                  <a:lnTo>
                    <a:pt x="0" y="2159635"/>
                  </a:lnTo>
                  <a:close/>
                </a:path>
              </a:pathLst>
            </a:custGeom>
            <a:solidFill>
              <a:srgbClr val="2E745F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98434" y="276734"/>
            <a:ext cx="13177657" cy="863975"/>
            <a:chOff x="0" y="0"/>
            <a:chExt cx="17570209" cy="115196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7570207" cy="1151966"/>
            </a:xfrm>
            <a:custGeom>
              <a:avLst/>
              <a:gdLst/>
              <a:ahLst/>
              <a:cxnLst/>
              <a:rect l="l" t="t" r="r" b="b"/>
              <a:pathLst>
                <a:path w="17570207" h="1151966">
                  <a:moveTo>
                    <a:pt x="0" y="0"/>
                  </a:moveTo>
                  <a:lnTo>
                    <a:pt x="17570207" y="0"/>
                  </a:lnTo>
                  <a:lnTo>
                    <a:pt x="17570207" y="1151966"/>
                  </a:lnTo>
                  <a:lnTo>
                    <a:pt x="0" y="115196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1725" b="-27266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17570209" cy="11710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863"/>
                </a:lnSpc>
              </a:pPr>
              <a:r>
                <a:rPr lang="en-US" sz="4053" b="1" dirty="0" err="1">
                  <a:solidFill>
                    <a:srgbClr val="FFFFFF"/>
                  </a:solidFill>
                  <a:latin typeface="+mj-ea"/>
                  <a:ea typeface="+mj-ea"/>
                  <a:cs typeface="Arimo Bold"/>
                  <a:sym typeface="Arimo Bold"/>
                </a:rPr>
                <a:t>핵심</a:t>
              </a:r>
              <a:r>
                <a:rPr lang="en-US" sz="4053" b="1" dirty="0">
                  <a:solidFill>
                    <a:srgbClr val="FFFFFF"/>
                  </a:solidFill>
                  <a:latin typeface="+mj-ea"/>
                  <a:ea typeface="+mj-ea"/>
                  <a:cs typeface="Arimo Bold"/>
                  <a:sym typeface="Arimo Bold"/>
                </a:rPr>
                <a:t> </a:t>
              </a:r>
              <a:r>
                <a:rPr lang="en-US" sz="4053" b="1" dirty="0" err="1">
                  <a:solidFill>
                    <a:srgbClr val="FFFFFF"/>
                  </a:solidFill>
                  <a:latin typeface="+mj-ea"/>
                  <a:ea typeface="+mj-ea"/>
                  <a:cs typeface="Arimo Bold"/>
                  <a:sym typeface="Arimo Bold"/>
                </a:rPr>
                <a:t>최적화</a:t>
              </a:r>
              <a:r>
                <a:rPr lang="en-US" sz="4053" b="1" dirty="0">
                  <a:solidFill>
                    <a:srgbClr val="FFFFFF"/>
                  </a:solidFill>
                  <a:latin typeface="+mj-ea"/>
                  <a:ea typeface="+mj-ea"/>
                  <a:cs typeface="Arimo Bold"/>
                  <a:sym typeface="Arimo Bold"/>
                </a:rPr>
                <a:t> </a:t>
              </a:r>
              <a:r>
                <a:rPr lang="en-US" sz="4053" b="1" dirty="0" err="1">
                  <a:solidFill>
                    <a:srgbClr val="FFFFFF"/>
                  </a:solidFill>
                  <a:latin typeface="+mj-ea"/>
                  <a:ea typeface="+mj-ea"/>
                  <a:cs typeface="Arimo Bold"/>
                  <a:sym typeface="Arimo Bold"/>
                </a:rPr>
                <a:t>기법</a:t>
              </a:r>
              <a:r>
                <a:rPr lang="en-US" sz="4053" b="1" dirty="0">
                  <a:solidFill>
                    <a:srgbClr val="FFFFFF"/>
                  </a:solidFill>
                  <a:latin typeface="+mj-ea"/>
                  <a:ea typeface="+mj-ea"/>
                  <a:cs typeface="Arimo Bold"/>
                  <a:sym typeface="Arimo Bold"/>
                </a:rPr>
                <a:t> &amp; </a:t>
              </a:r>
              <a:r>
                <a:rPr lang="en-US" sz="4053" b="1" dirty="0" err="1">
                  <a:solidFill>
                    <a:srgbClr val="FFFFFF"/>
                  </a:solidFill>
                  <a:latin typeface="+mj-ea"/>
                  <a:ea typeface="+mj-ea"/>
                  <a:cs typeface="Arimo Bold"/>
                  <a:sym typeface="Arimo Bold"/>
                </a:rPr>
                <a:t>비판적</a:t>
              </a:r>
              <a:r>
                <a:rPr lang="en-US" sz="4053" b="1" dirty="0">
                  <a:solidFill>
                    <a:srgbClr val="FFFFFF"/>
                  </a:solidFill>
                  <a:latin typeface="+mj-ea"/>
                  <a:ea typeface="+mj-ea"/>
                  <a:cs typeface="Arimo Bold"/>
                  <a:sym typeface="Arimo Bold"/>
                </a:rPr>
                <a:t> </a:t>
              </a:r>
              <a:r>
                <a:rPr lang="en-US" sz="4053" b="1" dirty="0" err="1">
                  <a:solidFill>
                    <a:srgbClr val="FFFFFF"/>
                  </a:solidFill>
                  <a:latin typeface="+mj-ea"/>
                  <a:ea typeface="+mj-ea"/>
                  <a:cs typeface="Arimo Bold"/>
                  <a:sym typeface="Arimo Bold"/>
                </a:rPr>
                <a:t>평가</a:t>
              </a:r>
              <a:endParaRPr lang="en-US" sz="4053" b="1" dirty="0">
                <a:solidFill>
                  <a:srgbClr val="FFFFFF"/>
                </a:solidFill>
                <a:latin typeface="+mj-ea"/>
                <a:ea typeface="+mj-ea"/>
                <a:cs typeface="Arimo Bold"/>
                <a:sym typeface="Arimo Bold"/>
              </a:endParaRPr>
            </a:p>
          </p:txBody>
        </p:sp>
      </p:grpSp>
      <p:sp>
        <p:nvSpPr>
          <p:cNvPr id="7" name="Freeform 7"/>
          <p:cNvSpPr/>
          <p:nvPr/>
        </p:nvSpPr>
        <p:spPr>
          <a:xfrm>
            <a:off x="422442" y="520377"/>
            <a:ext cx="357638" cy="357638"/>
          </a:xfrm>
          <a:custGeom>
            <a:avLst/>
            <a:gdLst/>
            <a:ahLst/>
            <a:cxnLst/>
            <a:rect l="l" t="t" r="r" b="b"/>
            <a:pathLst>
              <a:path w="357638" h="357638">
                <a:moveTo>
                  <a:pt x="0" y="0"/>
                </a:moveTo>
                <a:lnTo>
                  <a:pt x="357638" y="0"/>
                </a:lnTo>
                <a:lnTo>
                  <a:pt x="357638" y="357639"/>
                </a:lnTo>
                <a:lnTo>
                  <a:pt x="0" y="3576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8" name="Group 8"/>
          <p:cNvGrpSpPr/>
          <p:nvPr/>
        </p:nvGrpSpPr>
        <p:grpSpPr>
          <a:xfrm>
            <a:off x="0" y="9969879"/>
            <a:ext cx="18288000" cy="317121"/>
            <a:chOff x="0" y="0"/>
            <a:chExt cx="4816593" cy="8352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816592" cy="83522"/>
            </a:xfrm>
            <a:custGeom>
              <a:avLst/>
              <a:gdLst/>
              <a:ahLst/>
              <a:cxnLst/>
              <a:rect l="l" t="t" r="r" b="b"/>
              <a:pathLst>
                <a:path w="4816592" h="83522">
                  <a:moveTo>
                    <a:pt x="0" y="0"/>
                  </a:moveTo>
                  <a:lnTo>
                    <a:pt x="4816592" y="0"/>
                  </a:lnTo>
                  <a:lnTo>
                    <a:pt x="4816592" y="83522"/>
                  </a:lnTo>
                  <a:lnTo>
                    <a:pt x="0" y="83522"/>
                  </a:lnTo>
                  <a:close/>
                </a:path>
              </a:pathLst>
            </a:custGeom>
            <a:solidFill>
              <a:srgbClr val="2E745F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4816593" cy="1120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33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36715" y="2119275"/>
            <a:ext cx="7834206" cy="3550613"/>
            <a:chOff x="0" y="0"/>
            <a:chExt cx="1925334" cy="87259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925334" cy="872599"/>
            </a:xfrm>
            <a:custGeom>
              <a:avLst/>
              <a:gdLst/>
              <a:ahLst/>
              <a:cxnLst/>
              <a:rect l="l" t="t" r="r" b="b"/>
              <a:pathLst>
                <a:path w="1925334" h="872599">
                  <a:moveTo>
                    <a:pt x="15812" y="0"/>
                  </a:moveTo>
                  <a:lnTo>
                    <a:pt x="1909523" y="0"/>
                  </a:lnTo>
                  <a:cubicBezTo>
                    <a:pt x="1918255" y="0"/>
                    <a:pt x="1925334" y="7079"/>
                    <a:pt x="1925334" y="15812"/>
                  </a:cubicBezTo>
                  <a:lnTo>
                    <a:pt x="1925334" y="856787"/>
                  </a:lnTo>
                  <a:cubicBezTo>
                    <a:pt x="1925334" y="865520"/>
                    <a:pt x="1918255" y="872599"/>
                    <a:pt x="1909523" y="872599"/>
                  </a:cubicBezTo>
                  <a:lnTo>
                    <a:pt x="15812" y="872599"/>
                  </a:lnTo>
                  <a:cubicBezTo>
                    <a:pt x="7079" y="872599"/>
                    <a:pt x="0" y="865520"/>
                    <a:pt x="0" y="856787"/>
                  </a:cubicBezTo>
                  <a:lnTo>
                    <a:pt x="0" y="15812"/>
                  </a:lnTo>
                  <a:cubicBezTo>
                    <a:pt x="0" y="7079"/>
                    <a:pt x="7079" y="0"/>
                    <a:pt x="15812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2E745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76200"/>
              <a:ext cx="1925334" cy="9487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7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317080" y="2119275"/>
            <a:ext cx="7834206" cy="3550613"/>
            <a:chOff x="0" y="0"/>
            <a:chExt cx="1925334" cy="87259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925334" cy="872599"/>
            </a:xfrm>
            <a:custGeom>
              <a:avLst/>
              <a:gdLst/>
              <a:ahLst/>
              <a:cxnLst/>
              <a:rect l="l" t="t" r="r" b="b"/>
              <a:pathLst>
                <a:path w="1925334" h="872599">
                  <a:moveTo>
                    <a:pt x="15812" y="0"/>
                  </a:moveTo>
                  <a:lnTo>
                    <a:pt x="1909523" y="0"/>
                  </a:lnTo>
                  <a:cubicBezTo>
                    <a:pt x="1918255" y="0"/>
                    <a:pt x="1925334" y="7079"/>
                    <a:pt x="1925334" y="15812"/>
                  </a:cubicBezTo>
                  <a:lnTo>
                    <a:pt x="1925334" y="856787"/>
                  </a:lnTo>
                  <a:cubicBezTo>
                    <a:pt x="1925334" y="865520"/>
                    <a:pt x="1918255" y="872599"/>
                    <a:pt x="1909523" y="872599"/>
                  </a:cubicBezTo>
                  <a:lnTo>
                    <a:pt x="15812" y="872599"/>
                  </a:lnTo>
                  <a:cubicBezTo>
                    <a:pt x="7079" y="872599"/>
                    <a:pt x="0" y="865520"/>
                    <a:pt x="0" y="856787"/>
                  </a:cubicBezTo>
                  <a:lnTo>
                    <a:pt x="0" y="15812"/>
                  </a:lnTo>
                  <a:cubicBezTo>
                    <a:pt x="0" y="7079"/>
                    <a:pt x="7079" y="0"/>
                    <a:pt x="15812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2E745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76200"/>
              <a:ext cx="1925334" cy="9487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7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136715" y="5898487"/>
            <a:ext cx="7834206" cy="3550920"/>
            <a:chOff x="0" y="0"/>
            <a:chExt cx="1925334" cy="87267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925334" cy="872674"/>
            </a:xfrm>
            <a:custGeom>
              <a:avLst/>
              <a:gdLst/>
              <a:ahLst/>
              <a:cxnLst/>
              <a:rect l="l" t="t" r="r" b="b"/>
              <a:pathLst>
                <a:path w="1925334" h="872674">
                  <a:moveTo>
                    <a:pt x="15812" y="0"/>
                  </a:moveTo>
                  <a:lnTo>
                    <a:pt x="1909523" y="0"/>
                  </a:lnTo>
                  <a:cubicBezTo>
                    <a:pt x="1918255" y="0"/>
                    <a:pt x="1925334" y="7079"/>
                    <a:pt x="1925334" y="15812"/>
                  </a:cubicBezTo>
                  <a:lnTo>
                    <a:pt x="1925334" y="856863"/>
                  </a:lnTo>
                  <a:cubicBezTo>
                    <a:pt x="1925334" y="865595"/>
                    <a:pt x="1918255" y="872674"/>
                    <a:pt x="1909523" y="872674"/>
                  </a:cubicBezTo>
                  <a:lnTo>
                    <a:pt x="15812" y="872674"/>
                  </a:lnTo>
                  <a:cubicBezTo>
                    <a:pt x="7079" y="872674"/>
                    <a:pt x="0" y="865595"/>
                    <a:pt x="0" y="856863"/>
                  </a:cubicBezTo>
                  <a:lnTo>
                    <a:pt x="0" y="15812"/>
                  </a:lnTo>
                  <a:cubicBezTo>
                    <a:pt x="0" y="7079"/>
                    <a:pt x="7079" y="0"/>
                    <a:pt x="15812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2E745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76200"/>
              <a:ext cx="1925334" cy="9488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7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317080" y="5898487"/>
            <a:ext cx="7834206" cy="3550920"/>
            <a:chOff x="0" y="0"/>
            <a:chExt cx="1925334" cy="87267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925334" cy="872674"/>
            </a:xfrm>
            <a:custGeom>
              <a:avLst/>
              <a:gdLst/>
              <a:ahLst/>
              <a:cxnLst/>
              <a:rect l="l" t="t" r="r" b="b"/>
              <a:pathLst>
                <a:path w="1925334" h="872674">
                  <a:moveTo>
                    <a:pt x="15812" y="0"/>
                  </a:moveTo>
                  <a:lnTo>
                    <a:pt x="1909523" y="0"/>
                  </a:lnTo>
                  <a:cubicBezTo>
                    <a:pt x="1918255" y="0"/>
                    <a:pt x="1925334" y="7079"/>
                    <a:pt x="1925334" y="15812"/>
                  </a:cubicBezTo>
                  <a:lnTo>
                    <a:pt x="1925334" y="856863"/>
                  </a:lnTo>
                  <a:cubicBezTo>
                    <a:pt x="1925334" y="865595"/>
                    <a:pt x="1918255" y="872674"/>
                    <a:pt x="1909523" y="872674"/>
                  </a:cubicBezTo>
                  <a:lnTo>
                    <a:pt x="15812" y="872674"/>
                  </a:lnTo>
                  <a:cubicBezTo>
                    <a:pt x="7079" y="872674"/>
                    <a:pt x="0" y="865595"/>
                    <a:pt x="0" y="856863"/>
                  </a:cubicBezTo>
                  <a:lnTo>
                    <a:pt x="0" y="15812"/>
                  </a:lnTo>
                  <a:cubicBezTo>
                    <a:pt x="0" y="7079"/>
                    <a:pt x="7079" y="0"/>
                    <a:pt x="15812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2E745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76200"/>
              <a:ext cx="1925334" cy="9488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7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36715" y="2119275"/>
            <a:ext cx="7834206" cy="806153"/>
            <a:chOff x="0" y="0"/>
            <a:chExt cx="1925334" cy="19812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925334" cy="198120"/>
            </a:xfrm>
            <a:custGeom>
              <a:avLst/>
              <a:gdLst/>
              <a:ahLst/>
              <a:cxnLst/>
              <a:rect l="l" t="t" r="r" b="b"/>
              <a:pathLst>
                <a:path w="1925334" h="198120">
                  <a:moveTo>
                    <a:pt x="15812" y="0"/>
                  </a:moveTo>
                  <a:lnTo>
                    <a:pt x="1909523" y="0"/>
                  </a:lnTo>
                  <a:cubicBezTo>
                    <a:pt x="1918255" y="0"/>
                    <a:pt x="1925334" y="7079"/>
                    <a:pt x="1925334" y="15812"/>
                  </a:cubicBezTo>
                  <a:lnTo>
                    <a:pt x="1925334" y="182309"/>
                  </a:lnTo>
                  <a:cubicBezTo>
                    <a:pt x="1925334" y="191041"/>
                    <a:pt x="1918255" y="198120"/>
                    <a:pt x="1909523" y="198120"/>
                  </a:cubicBezTo>
                  <a:lnTo>
                    <a:pt x="15812" y="198120"/>
                  </a:lnTo>
                  <a:cubicBezTo>
                    <a:pt x="7079" y="198120"/>
                    <a:pt x="0" y="191041"/>
                    <a:pt x="0" y="182309"/>
                  </a:cubicBezTo>
                  <a:lnTo>
                    <a:pt x="0" y="15812"/>
                  </a:lnTo>
                  <a:cubicBezTo>
                    <a:pt x="0" y="7079"/>
                    <a:pt x="7079" y="0"/>
                    <a:pt x="15812" y="0"/>
                  </a:cubicBezTo>
                  <a:close/>
                </a:path>
              </a:pathLst>
            </a:custGeom>
            <a:solidFill>
              <a:srgbClr val="2E745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76200"/>
              <a:ext cx="1925334" cy="2743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7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317080" y="2119275"/>
            <a:ext cx="7834206" cy="806153"/>
            <a:chOff x="0" y="0"/>
            <a:chExt cx="1925334" cy="19812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925334" cy="198120"/>
            </a:xfrm>
            <a:custGeom>
              <a:avLst/>
              <a:gdLst/>
              <a:ahLst/>
              <a:cxnLst/>
              <a:rect l="l" t="t" r="r" b="b"/>
              <a:pathLst>
                <a:path w="1925334" h="198120">
                  <a:moveTo>
                    <a:pt x="15812" y="0"/>
                  </a:moveTo>
                  <a:lnTo>
                    <a:pt x="1909523" y="0"/>
                  </a:lnTo>
                  <a:cubicBezTo>
                    <a:pt x="1918255" y="0"/>
                    <a:pt x="1925334" y="7079"/>
                    <a:pt x="1925334" y="15812"/>
                  </a:cubicBezTo>
                  <a:lnTo>
                    <a:pt x="1925334" y="182309"/>
                  </a:lnTo>
                  <a:cubicBezTo>
                    <a:pt x="1925334" y="191041"/>
                    <a:pt x="1918255" y="198120"/>
                    <a:pt x="1909523" y="198120"/>
                  </a:cubicBezTo>
                  <a:lnTo>
                    <a:pt x="15812" y="198120"/>
                  </a:lnTo>
                  <a:cubicBezTo>
                    <a:pt x="7079" y="198120"/>
                    <a:pt x="0" y="191041"/>
                    <a:pt x="0" y="182309"/>
                  </a:cubicBezTo>
                  <a:lnTo>
                    <a:pt x="0" y="15812"/>
                  </a:lnTo>
                  <a:cubicBezTo>
                    <a:pt x="0" y="7079"/>
                    <a:pt x="7079" y="0"/>
                    <a:pt x="15812" y="0"/>
                  </a:cubicBezTo>
                  <a:close/>
                </a:path>
              </a:pathLst>
            </a:custGeom>
            <a:solidFill>
              <a:srgbClr val="2E745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76200"/>
              <a:ext cx="1925334" cy="2743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7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136715" y="5898487"/>
            <a:ext cx="7834206" cy="806153"/>
            <a:chOff x="0" y="0"/>
            <a:chExt cx="1925334" cy="19812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925334" cy="198120"/>
            </a:xfrm>
            <a:custGeom>
              <a:avLst/>
              <a:gdLst/>
              <a:ahLst/>
              <a:cxnLst/>
              <a:rect l="l" t="t" r="r" b="b"/>
              <a:pathLst>
                <a:path w="1925334" h="198120">
                  <a:moveTo>
                    <a:pt x="15812" y="0"/>
                  </a:moveTo>
                  <a:lnTo>
                    <a:pt x="1909523" y="0"/>
                  </a:lnTo>
                  <a:cubicBezTo>
                    <a:pt x="1918255" y="0"/>
                    <a:pt x="1925334" y="7079"/>
                    <a:pt x="1925334" y="15812"/>
                  </a:cubicBezTo>
                  <a:lnTo>
                    <a:pt x="1925334" y="182309"/>
                  </a:lnTo>
                  <a:cubicBezTo>
                    <a:pt x="1925334" y="191041"/>
                    <a:pt x="1918255" y="198120"/>
                    <a:pt x="1909523" y="198120"/>
                  </a:cubicBezTo>
                  <a:lnTo>
                    <a:pt x="15812" y="198120"/>
                  </a:lnTo>
                  <a:cubicBezTo>
                    <a:pt x="7079" y="198120"/>
                    <a:pt x="0" y="191041"/>
                    <a:pt x="0" y="182309"/>
                  </a:cubicBezTo>
                  <a:lnTo>
                    <a:pt x="0" y="15812"/>
                  </a:lnTo>
                  <a:cubicBezTo>
                    <a:pt x="0" y="7079"/>
                    <a:pt x="7079" y="0"/>
                    <a:pt x="15812" y="0"/>
                  </a:cubicBezTo>
                  <a:close/>
                </a:path>
              </a:pathLst>
            </a:custGeom>
            <a:solidFill>
              <a:srgbClr val="2E745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76200"/>
              <a:ext cx="1925334" cy="2743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7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317080" y="5898487"/>
            <a:ext cx="7834206" cy="806153"/>
            <a:chOff x="0" y="0"/>
            <a:chExt cx="1925334" cy="19812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925334" cy="198120"/>
            </a:xfrm>
            <a:custGeom>
              <a:avLst/>
              <a:gdLst/>
              <a:ahLst/>
              <a:cxnLst/>
              <a:rect l="l" t="t" r="r" b="b"/>
              <a:pathLst>
                <a:path w="1925334" h="198120">
                  <a:moveTo>
                    <a:pt x="15812" y="0"/>
                  </a:moveTo>
                  <a:lnTo>
                    <a:pt x="1909523" y="0"/>
                  </a:lnTo>
                  <a:cubicBezTo>
                    <a:pt x="1918255" y="0"/>
                    <a:pt x="1925334" y="7079"/>
                    <a:pt x="1925334" y="15812"/>
                  </a:cubicBezTo>
                  <a:lnTo>
                    <a:pt x="1925334" y="182309"/>
                  </a:lnTo>
                  <a:cubicBezTo>
                    <a:pt x="1925334" y="191041"/>
                    <a:pt x="1918255" y="198120"/>
                    <a:pt x="1909523" y="198120"/>
                  </a:cubicBezTo>
                  <a:lnTo>
                    <a:pt x="15812" y="198120"/>
                  </a:lnTo>
                  <a:cubicBezTo>
                    <a:pt x="7079" y="198120"/>
                    <a:pt x="0" y="191041"/>
                    <a:pt x="0" y="182309"/>
                  </a:cubicBezTo>
                  <a:lnTo>
                    <a:pt x="0" y="15812"/>
                  </a:lnTo>
                  <a:cubicBezTo>
                    <a:pt x="0" y="7079"/>
                    <a:pt x="7079" y="0"/>
                    <a:pt x="15812" y="0"/>
                  </a:cubicBezTo>
                  <a:close/>
                </a:path>
              </a:pathLst>
            </a:custGeom>
            <a:solidFill>
              <a:srgbClr val="2E745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76200"/>
              <a:ext cx="1925334" cy="2743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7"/>
                </a:lnSpc>
              </a:pPr>
              <a:endParaRPr/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998434" y="1112134"/>
            <a:ext cx="12641366" cy="2733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252"/>
              </a:lnSpc>
              <a:spcBef>
                <a:spcPct val="0"/>
              </a:spcBef>
            </a:pPr>
            <a:r>
              <a:rPr lang="en-US" sz="1787" dirty="0">
                <a:solidFill>
                  <a:srgbClr val="DBEBE1"/>
                </a:solidFill>
                <a:latin typeface="+mj-ea"/>
                <a:ea typeface="+mj-ea"/>
                <a:cs typeface="Arimo"/>
                <a:sym typeface="Arimo"/>
              </a:rPr>
              <a:t>Kaggle Bank Churn · Playground Series S4E1 · </a:t>
            </a:r>
            <a:r>
              <a:rPr lang="en-US" sz="1787" dirty="0" err="1">
                <a:solidFill>
                  <a:srgbClr val="DBEBE1"/>
                </a:solidFill>
                <a:latin typeface="+mj-ea"/>
                <a:ea typeface="+mj-ea"/>
                <a:cs typeface="Arimo"/>
                <a:sym typeface="Arimo"/>
              </a:rPr>
              <a:t>LightGBM</a:t>
            </a:r>
            <a:r>
              <a:rPr lang="en-US" sz="1787" dirty="0">
                <a:solidFill>
                  <a:srgbClr val="DBEBE1"/>
                </a:solidFill>
                <a:latin typeface="+mj-ea"/>
                <a:ea typeface="+mj-ea"/>
                <a:cs typeface="Arimo"/>
                <a:sym typeface="Arimo"/>
              </a:rPr>
              <a:t> &amp; </a:t>
            </a:r>
            <a:r>
              <a:rPr lang="en-US" sz="1787" dirty="0" err="1">
                <a:solidFill>
                  <a:srgbClr val="DBEBE1"/>
                </a:solidFill>
                <a:latin typeface="+mj-ea"/>
                <a:ea typeface="+mj-ea"/>
                <a:cs typeface="Arimo"/>
                <a:sym typeface="Arimo"/>
              </a:rPr>
              <a:t>CatBoost</a:t>
            </a:r>
            <a:r>
              <a:rPr lang="en-US" sz="1787" dirty="0">
                <a:solidFill>
                  <a:srgbClr val="DBEBE1"/>
                </a:solidFill>
                <a:latin typeface="+mj-ea"/>
                <a:ea typeface="+mj-ea"/>
                <a:cs typeface="Arimo"/>
                <a:sym typeface="Arimo"/>
              </a:rPr>
              <a:t> · ROC-AUC 0.8945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6979970" y="9589832"/>
            <a:ext cx="1065171" cy="205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>
                <a:solidFill>
                  <a:srgbClr val="5C635E"/>
                </a:solidFill>
                <a:latin typeface="+mn-ea"/>
                <a:cs typeface="Arimo"/>
                <a:sym typeface="Arimo"/>
              </a:rPr>
              <a:t>2 / 2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468270" y="2346139"/>
            <a:ext cx="7120720" cy="371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2449" b="1" dirty="0">
                <a:solidFill>
                  <a:srgbClr val="FFFFFF"/>
                </a:solidFill>
                <a:latin typeface="+mj-ea"/>
                <a:ea typeface="+mj-ea"/>
                <a:cs typeface="Noto Sans Bold"/>
                <a:sym typeface="Noto Sans Bold"/>
              </a:rPr>
              <a:t>① </a:t>
            </a:r>
            <a:r>
              <a:rPr lang="en-US" sz="2449" b="1" dirty="0" err="1">
                <a:solidFill>
                  <a:srgbClr val="FFFFFF"/>
                </a:solidFill>
                <a:latin typeface="+mj-ea"/>
                <a:ea typeface="+mj-ea"/>
                <a:cs typeface="Noto Sans Bold"/>
                <a:sym typeface="Noto Sans Bold"/>
              </a:rPr>
              <a:t>피처</a:t>
            </a:r>
            <a:r>
              <a:rPr lang="en-US" sz="2449" b="1" dirty="0">
                <a:solidFill>
                  <a:srgbClr val="FFFFFF"/>
                </a:solidFill>
                <a:latin typeface="+mj-ea"/>
                <a:ea typeface="+mj-ea"/>
                <a:cs typeface="Noto Sans Bold"/>
                <a:sym typeface="Noto Sans Bold"/>
              </a:rPr>
              <a:t> </a:t>
            </a:r>
            <a:r>
              <a:rPr lang="en-US" sz="2449" b="1" dirty="0" err="1">
                <a:solidFill>
                  <a:srgbClr val="FFFFFF"/>
                </a:solidFill>
                <a:latin typeface="+mj-ea"/>
                <a:ea typeface="+mj-ea"/>
                <a:cs typeface="Noto Sans Bold"/>
                <a:sym typeface="Noto Sans Bold"/>
              </a:rPr>
              <a:t>엔지니어링</a:t>
            </a:r>
            <a:r>
              <a:rPr lang="en-US" sz="2449" b="1" dirty="0">
                <a:solidFill>
                  <a:srgbClr val="FFFFFF"/>
                </a:solidFill>
                <a:latin typeface="+mj-ea"/>
                <a:ea typeface="+mj-ea"/>
                <a:cs typeface="Noto Sans Bold"/>
                <a:sym typeface="Noto Sans Bold"/>
              </a:rPr>
              <a:t> (Feature Engineering)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742945" y="3057894"/>
            <a:ext cx="6846045" cy="7212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87"/>
              </a:lnSpc>
            </a:pPr>
            <a:r>
              <a:rPr lang="en-US" sz="1659" b="1">
                <a:solidFill>
                  <a:srgbClr val="0F172A"/>
                </a:solidFill>
                <a:latin typeface="+mn-ea"/>
                <a:cs typeface="Noto Sans Bold"/>
                <a:sym typeface="Noto Sans Bold"/>
              </a:rPr>
              <a:t>TF-IDF + TruncatedSVD(3)</a:t>
            </a:r>
            <a:r>
              <a:rPr lang="en-US" sz="1659">
                <a:solidFill>
                  <a:srgbClr val="0F172A"/>
                </a:solidFill>
                <a:latin typeface="+mn-ea"/>
                <a:cs typeface="Noto Sans"/>
                <a:sym typeface="Noto Sans"/>
              </a:rPr>
              <a:t>:</a:t>
            </a:r>
            <a:r>
              <a:rPr lang="en-US" sz="1659">
                <a:solidFill>
                  <a:srgbClr val="334155"/>
                </a:solidFill>
                <a:latin typeface="+mn-ea"/>
                <a:cs typeface="Noto Sans"/>
                <a:sym typeface="Noto Sans"/>
              </a:rPr>
              <a:t> Surname(이름) 및 결합키 데이터를 3차원으로 수치화하여 핵심 정보 압축 추출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742945" y="3795589"/>
            <a:ext cx="6846045" cy="7212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87"/>
              </a:lnSpc>
            </a:pPr>
            <a:r>
              <a:rPr lang="en-US" sz="1659" b="1">
                <a:solidFill>
                  <a:srgbClr val="0F172A"/>
                </a:solidFill>
                <a:latin typeface="+mn-ea"/>
                <a:cs typeface="Noto Sans Bold"/>
                <a:sym typeface="Noto Sans Bold"/>
              </a:rPr>
              <a:t>도메인 파생변수 창출</a:t>
            </a:r>
            <a:r>
              <a:rPr lang="en-US" sz="1659">
                <a:solidFill>
                  <a:srgbClr val="0F172A"/>
                </a:solidFill>
                <a:latin typeface="+mn-ea"/>
                <a:cs typeface="Noto Sans"/>
                <a:sym typeface="Noto Sans"/>
              </a:rPr>
              <a:t>:</a:t>
            </a:r>
            <a:r>
              <a:rPr lang="en-US" sz="1659">
                <a:solidFill>
                  <a:srgbClr val="334155"/>
                </a:solidFill>
                <a:latin typeface="+mn-ea"/>
                <a:cs typeface="Noto Sans"/>
                <a:sym typeface="Noto Sans"/>
              </a:rPr>
              <a:t> Senior(≥60), Active_by_CreditCard, Products_Per_Tenure, AgeCat 등 비즈니스 논리 적용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742945" y="4533284"/>
            <a:ext cx="6846045" cy="7212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87"/>
              </a:lnSpc>
            </a:pPr>
            <a:r>
              <a:rPr lang="en-US" sz="1659" b="1">
                <a:solidFill>
                  <a:srgbClr val="0F172A"/>
                </a:solidFill>
                <a:latin typeface="+mn-ea"/>
                <a:cs typeface="Noto Sans Bold"/>
                <a:sym typeface="Noto Sans Bold"/>
              </a:rPr>
              <a:t>데이터 변환</a:t>
            </a:r>
            <a:r>
              <a:rPr lang="en-US" sz="1659">
                <a:solidFill>
                  <a:srgbClr val="0F172A"/>
                </a:solidFill>
                <a:latin typeface="+mn-ea"/>
                <a:cs typeface="Noto Sans"/>
                <a:sym typeface="Noto Sans"/>
              </a:rPr>
              <a:t>:</a:t>
            </a:r>
            <a:r>
              <a:rPr lang="en-US" sz="1659">
                <a:solidFill>
                  <a:srgbClr val="334155"/>
                </a:solidFill>
                <a:latin typeface="+mn-ea"/>
                <a:cs typeface="Noto Sans"/>
                <a:sym typeface="Noto Sans"/>
              </a:rPr>
              <a:t> 수치형 데이터 대상 MinMax 스케일링, Geo/Gender 등 주요 범주형 데이터에 One-Hot 인코딩 일괄 적용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468270" y="3038844"/>
            <a:ext cx="123604" cy="393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1867">
                <a:solidFill>
                  <a:srgbClr val="2E745F"/>
                </a:solidFill>
                <a:latin typeface="Noto Sans"/>
                <a:ea typeface="Noto Sans"/>
                <a:cs typeface="Noto Sans"/>
                <a:sym typeface="Noto Sans"/>
              </a:rPr>
              <a:t>▹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468270" y="3776539"/>
            <a:ext cx="123604" cy="393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1867">
                <a:solidFill>
                  <a:srgbClr val="2E745F"/>
                </a:solidFill>
                <a:latin typeface="+mn-ea"/>
                <a:cs typeface="Noto Sans"/>
                <a:sym typeface="Noto Sans"/>
              </a:rPr>
              <a:t>▹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468270" y="4514234"/>
            <a:ext cx="123604" cy="393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1867">
                <a:solidFill>
                  <a:srgbClr val="2E745F"/>
                </a:solidFill>
                <a:latin typeface="+mn-ea"/>
                <a:cs typeface="Noto Sans"/>
                <a:sym typeface="Noto Sans"/>
              </a:rPr>
              <a:t>▹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9956554" y="3057894"/>
            <a:ext cx="6902917" cy="1186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 b="1">
                <a:solidFill>
                  <a:srgbClr val="0F172A"/>
                </a:solidFill>
                <a:latin typeface="+mn-ea"/>
                <a:cs typeface="Noto Sans Bold"/>
                <a:sym typeface="Noto Sans Bold"/>
              </a:rPr>
              <a:t>LightGBM 튜닝</a:t>
            </a:r>
            <a:r>
              <a:rPr lang="en-US" sz="1800">
                <a:solidFill>
                  <a:srgbClr val="0F172A"/>
                </a:solidFill>
                <a:latin typeface="+mn-ea"/>
                <a:cs typeface="Noto Sans"/>
                <a:sym typeface="Noto Sans"/>
              </a:rPr>
              <a:t>:</a:t>
            </a:r>
            <a:r>
              <a:rPr lang="en-US" sz="1800">
                <a:solidFill>
                  <a:srgbClr val="334155"/>
                </a:solidFill>
                <a:latin typeface="+mn-ea"/>
                <a:cs typeface="Noto Sans"/>
                <a:sym typeface="Noto Sans"/>
              </a:rPr>
              <a:t> n_estimators=1000, max_depth=25, lr=0.025, num_leaves=21, subsample=0.78, colsample_bytree=0.29 등</a:t>
            </a:r>
          </a:p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334155"/>
                </a:solidFill>
                <a:latin typeface="+mn-ea"/>
                <a:cs typeface="Noto Sans"/>
                <a:sym typeface="Noto Sans"/>
              </a:rPr>
              <a:t>9개 파라미터 설정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9956554" y="4244947"/>
            <a:ext cx="6902917" cy="777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 b="1">
                <a:solidFill>
                  <a:srgbClr val="0F172A"/>
                </a:solidFill>
                <a:latin typeface="+mn-ea"/>
                <a:cs typeface="Noto Sans Bold"/>
                <a:sym typeface="Noto Sans Bold"/>
              </a:rPr>
              <a:t>CatBoost 활용</a:t>
            </a:r>
            <a:r>
              <a:rPr lang="en-US" sz="1800">
                <a:solidFill>
                  <a:srgbClr val="0F172A"/>
                </a:solidFill>
                <a:latin typeface="+mn-ea"/>
                <a:cs typeface="Noto Sans"/>
                <a:sym typeface="Noto Sans"/>
              </a:rPr>
              <a:t>:</a:t>
            </a:r>
            <a:r>
              <a:rPr lang="en-US" sz="1800">
                <a:solidFill>
                  <a:srgbClr val="334155"/>
                </a:solidFill>
                <a:latin typeface="+mn-ea"/>
                <a:cs typeface="Noto Sans"/>
                <a:sym typeface="Noto Sans"/>
              </a:rPr>
              <a:t> iterations=1000, lr=0.022, eval_metric=AUC 설정, 내부 알고리즘을 통한 </a:t>
            </a:r>
            <a:r>
              <a:rPr lang="en-US" sz="1800">
                <a:solidFill>
                  <a:srgbClr val="0F172A"/>
                </a:solidFill>
                <a:latin typeface="+mn-ea"/>
                <a:cs typeface="Noto Sans"/>
                <a:sym typeface="Noto Sans"/>
              </a:rPr>
              <a:t>범주형 변수 자동(Native) 처리</a:t>
            </a:r>
            <a:r>
              <a:rPr lang="en-US" sz="1800">
                <a:solidFill>
                  <a:srgbClr val="334155"/>
                </a:solidFill>
                <a:latin typeface="+mn-ea"/>
                <a:cs typeface="Noto Sans"/>
                <a:sym typeface="Noto Sans"/>
              </a:rPr>
              <a:t> 활용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9670804" y="3029319"/>
            <a:ext cx="128588" cy="509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5"/>
              </a:lnSpc>
            </a:pPr>
            <a:r>
              <a:rPr lang="en-US" sz="2025">
                <a:solidFill>
                  <a:srgbClr val="2E745F"/>
                </a:solidFill>
                <a:latin typeface="Noto Sans"/>
                <a:ea typeface="Noto Sans"/>
                <a:cs typeface="Noto Sans"/>
                <a:sym typeface="Noto Sans"/>
              </a:rPr>
              <a:t>▹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9670804" y="4216372"/>
            <a:ext cx="128588" cy="405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5"/>
              </a:lnSpc>
            </a:pPr>
            <a:r>
              <a:rPr lang="en-US" sz="2025">
                <a:solidFill>
                  <a:srgbClr val="2E745F"/>
                </a:solidFill>
                <a:latin typeface="+mn-ea"/>
                <a:cs typeface="Noto Sans"/>
                <a:sym typeface="Noto Sans"/>
              </a:rPr>
              <a:t>▹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9670804" y="2346139"/>
            <a:ext cx="7120720" cy="371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2449" b="1">
                <a:solidFill>
                  <a:srgbClr val="FFFFFF"/>
                </a:solidFill>
                <a:latin typeface="+mj-ea"/>
                <a:ea typeface="+mj-ea"/>
                <a:cs typeface="Noto Sans Bold"/>
                <a:sym typeface="Noto Sans Bold"/>
              </a:rPr>
              <a:t>② 하이퍼파라미터 튜닝 (HP Tuning)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468270" y="6125351"/>
            <a:ext cx="7120720" cy="371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2449" b="1">
                <a:solidFill>
                  <a:srgbClr val="FFFFFF"/>
                </a:solidFill>
                <a:latin typeface="+mj-ea"/>
                <a:ea typeface="+mj-ea"/>
                <a:cs typeface="Noto Sans Bold"/>
                <a:sym typeface="Noto Sans Bold"/>
              </a:rPr>
              <a:t>③ 교차검증 앙상블 (CV Ensemble)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9670804" y="6125351"/>
            <a:ext cx="7120720" cy="371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2449" b="1">
                <a:solidFill>
                  <a:srgbClr val="FFFFFF"/>
                </a:solidFill>
                <a:latin typeface="+mj-ea"/>
                <a:ea typeface="+mj-ea"/>
                <a:cs typeface="Noto Sans Bold"/>
                <a:sym typeface="Noto Sans Bold"/>
              </a:rPr>
              <a:t>④ 결과 요약 &amp; 비판적 한계점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727158" y="6837990"/>
            <a:ext cx="6861832" cy="777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 dirty="0" err="1">
                <a:solidFill>
                  <a:srgbClr val="334155"/>
                </a:solidFill>
                <a:latin typeface="+mn-ea"/>
                <a:cs typeface="Noto Sans"/>
                <a:sym typeface="Noto Sans"/>
              </a:rPr>
              <a:t>타깃</a:t>
            </a:r>
            <a:r>
              <a:rPr lang="en-US" sz="1800" dirty="0">
                <a:solidFill>
                  <a:srgbClr val="334155"/>
                </a:solidFill>
                <a:latin typeface="+mn-ea"/>
                <a:cs typeface="Noto Sans"/>
                <a:sym typeface="Noto Sans"/>
              </a:rPr>
              <a:t> </a:t>
            </a:r>
            <a:r>
              <a:rPr lang="en-US" sz="1800" dirty="0" err="1">
                <a:solidFill>
                  <a:srgbClr val="334155"/>
                </a:solidFill>
                <a:latin typeface="+mn-ea"/>
                <a:cs typeface="Noto Sans"/>
                <a:sym typeface="Noto Sans"/>
              </a:rPr>
              <a:t>레이블</a:t>
            </a:r>
            <a:r>
              <a:rPr lang="en-US" sz="1800" dirty="0">
                <a:solidFill>
                  <a:srgbClr val="334155"/>
                </a:solidFill>
                <a:latin typeface="+mn-ea"/>
                <a:cs typeface="Noto Sans"/>
                <a:sym typeface="Noto Sans"/>
              </a:rPr>
              <a:t> </a:t>
            </a:r>
            <a:r>
              <a:rPr lang="en-US" sz="1800" dirty="0" err="1">
                <a:solidFill>
                  <a:srgbClr val="334155"/>
                </a:solidFill>
                <a:latin typeface="+mn-ea"/>
                <a:cs typeface="Noto Sans"/>
                <a:sym typeface="Noto Sans"/>
              </a:rPr>
              <a:t>불균형을</a:t>
            </a:r>
            <a:r>
              <a:rPr lang="en-US" sz="1800" dirty="0">
                <a:solidFill>
                  <a:srgbClr val="334155"/>
                </a:solidFill>
                <a:latin typeface="+mn-ea"/>
                <a:cs typeface="Noto Sans"/>
                <a:sym typeface="Noto Sans"/>
              </a:rPr>
              <a:t> </a:t>
            </a:r>
            <a:r>
              <a:rPr lang="en-US" sz="1800" dirty="0" err="1">
                <a:solidFill>
                  <a:srgbClr val="334155"/>
                </a:solidFill>
                <a:latin typeface="+mn-ea"/>
                <a:cs typeface="Noto Sans"/>
                <a:sym typeface="Noto Sans"/>
              </a:rPr>
              <a:t>고려하여</a:t>
            </a:r>
            <a:r>
              <a:rPr lang="en-US" sz="1800" dirty="0">
                <a:solidFill>
                  <a:srgbClr val="334155"/>
                </a:solidFill>
                <a:latin typeface="+mn-ea"/>
                <a:cs typeface="Noto Sans"/>
                <a:sym typeface="Noto Sans"/>
              </a:rPr>
              <a:t> </a:t>
            </a:r>
            <a:r>
              <a:rPr lang="en-US" sz="1800" b="1" dirty="0" err="1">
                <a:solidFill>
                  <a:srgbClr val="0F172A"/>
                </a:solidFill>
                <a:latin typeface="+mn-ea"/>
                <a:cs typeface="Noto Sans Bold"/>
                <a:sym typeface="Noto Sans Bold"/>
              </a:rPr>
              <a:t>StratifiedKFold</a:t>
            </a:r>
            <a:r>
              <a:rPr lang="en-US" sz="1800" b="1" dirty="0">
                <a:solidFill>
                  <a:srgbClr val="334155"/>
                </a:solidFill>
                <a:latin typeface="+mn-ea"/>
                <a:cs typeface="Noto Sans Bold"/>
                <a:sym typeface="Noto Sans Bold"/>
              </a:rPr>
              <a:t> </a:t>
            </a:r>
            <a:r>
              <a:rPr lang="en-US" sz="1800" b="1" dirty="0" err="1">
                <a:solidFill>
                  <a:srgbClr val="334155"/>
                </a:solidFill>
                <a:latin typeface="+mn-ea"/>
                <a:cs typeface="Noto Sans Bold"/>
                <a:sym typeface="Noto Sans Bold"/>
              </a:rPr>
              <a:t>분할</a:t>
            </a:r>
            <a:r>
              <a:rPr lang="en-US" sz="1800" b="1" dirty="0">
                <a:solidFill>
                  <a:srgbClr val="334155"/>
                </a:solidFill>
                <a:latin typeface="+mn-ea"/>
                <a:cs typeface="Noto Sans Bold"/>
                <a:sym typeface="Noto Sans Bold"/>
              </a:rPr>
              <a:t> </a:t>
            </a:r>
            <a:r>
              <a:rPr lang="en-US" sz="1800" b="1" dirty="0" err="1">
                <a:solidFill>
                  <a:srgbClr val="334155"/>
                </a:solidFill>
                <a:latin typeface="+mn-ea"/>
                <a:cs typeface="Noto Sans Bold"/>
                <a:sym typeface="Noto Sans Bold"/>
              </a:rPr>
              <a:t>방식</a:t>
            </a:r>
            <a:r>
              <a:rPr lang="en-US" sz="1800" dirty="0" err="1">
                <a:solidFill>
                  <a:srgbClr val="334155"/>
                </a:solidFill>
                <a:latin typeface="+mn-ea"/>
                <a:cs typeface="Noto Sans"/>
                <a:sym typeface="Noto Sans"/>
              </a:rPr>
              <a:t>을</a:t>
            </a:r>
            <a:r>
              <a:rPr lang="en-US" sz="1800" dirty="0">
                <a:solidFill>
                  <a:srgbClr val="334155"/>
                </a:solidFill>
                <a:latin typeface="+mn-ea"/>
                <a:cs typeface="Noto Sans"/>
                <a:sym typeface="Noto Sans"/>
              </a:rPr>
              <a:t> </a:t>
            </a:r>
            <a:r>
              <a:rPr lang="en-US" sz="1800" dirty="0" err="1">
                <a:solidFill>
                  <a:srgbClr val="334155"/>
                </a:solidFill>
                <a:latin typeface="+mn-ea"/>
                <a:cs typeface="Noto Sans"/>
                <a:sym typeface="Noto Sans"/>
              </a:rPr>
              <a:t>적용</a:t>
            </a:r>
            <a:r>
              <a:rPr lang="en-US" sz="1800" dirty="0">
                <a:solidFill>
                  <a:srgbClr val="334155"/>
                </a:solidFill>
                <a:latin typeface="+mn-ea"/>
                <a:cs typeface="Noto Sans"/>
                <a:sym typeface="Noto Sans"/>
              </a:rPr>
              <a:t>, </a:t>
            </a:r>
          </a:p>
          <a:p>
            <a:pPr algn="l">
              <a:lnSpc>
                <a:spcPts val="3240"/>
              </a:lnSpc>
            </a:pPr>
            <a:r>
              <a:rPr lang="en-US" sz="1800" dirty="0" err="1">
                <a:solidFill>
                  <a:srgbClr val="334155"/>
                </a:solidFill>
                <a:latin typeface="+mn-ea"/>
                <a:cs typeface="Noto Sans"/>
                <a:sym typeface="Noto Sans"/>
              </a:rPr>
              <a:t>모든</a:t>
            </a:r>
            <a:r>
              <a:rPr lang="en-US" sz="1800" dirty="0">
                <a:solidFill>
                  <a:srgbClr val="334155"/>
                </a:solidFill>
                <a:latin typeface="+mn-ea"/>
                <a:cs typeface="Noto Sans"/>
                <a:sym typeface="Noto Sans"/>
              </a:rPr>
              <a:t> </a:t>
            </a:r>
            <a:r>
              <a:rPr lang="en-US" sz="1800" dirty="0" err="1">
                <a:solidFill>
                  <a:srgbClr val="334155"/>
                </a:solidFill>
                <a:latin typeface="+mn-ea"/>
                <a:cs typeface="Noto Sans"/>
                <a:sym typeface="Noto Sans"/>
              </a:rPr>
              <a:t>Fold에서</a:t>
            </a:r>
            <a:r>
              <a:rPr lang="en-US" sz="1800" dirty="0">
                <a:solidFill>
                  <a:srgbClr val="334155"/>
                </a:solidFill>
                <a:latin typeface="+mn-ea"/>
                <a:cs typeface="Noto Sans"/>
                <a:sym typeface="Noto Sans"/>
              </a:rPr>
              <a:t> </a:t>
            </a:r>
            <a:r>
              <a:rPr lang="en-US" sz="1800" dirty="0" err="1">
                <a:solidFill>
                  <a:srgbClr val="334155"/>
                </a:solidFill>
                <a:latin typeface="+mn-ea"/>
                <a:cs typeface="Noto Sans"/>
                <a:sym typeface="Noto Sans"/>
              </a:rPr>
              <a:t>일정한</a:t>
            </a:r>
            <a:r>
              <a:rPr lang="en-US" sz="1800" dirty="0">
                <a:solidFill>
                  <a:srgbClr val="334155"/>
                </a:solidFill>
                <a:latin typeface="+mn-ea"/>
                <a:cs typeface="Noto Sans"/>
                <a:sym typeface="Noto Sans"/>
              </a:rPr>
              <a:t> </a:t>
            </a:r>
            <a:r>
              <a:rPr lang="en-US" sz="1800" dirty="0" err="1">
                <a:solidFill>
                  <a:srgbClr val="334155"/>
                </a:solidFill>
                <a:latin typeface="+mn-ea"/>
                <a:cs typeface="Noto Sans"/>
                <a:sym typeface="Noto Sans"/>
              </a:rPr>
              <a:t>클래스</a:t>
            </a:r>
            <a:r>
              <a:rPr lang="en-US" sz="1800" dirty="0">
                <a:solidFill>
                  <a:srgbClr val="334155"/>
                </a:solidFill>
                <a:latin typeface="+mn-ea"/>
                <a:cs typeface="Noto Sans"/>
                <a:sym typeface="Noto Sans"/>
              </a:rPr>
              <a:t> </a:t>
            </a:r>
            <a:r>
              <a:rPr lang="en-US" sz="1800" dirty="0" err="1">
                <a:solidFill>
                  <a:srgbClr val="334155"/>
                </a:solidFill>
                <a:latin typeface="+mn-ea"/>
                <a:cs typeface="Noto Sans"/>
                <a:sym typeface="Noto Sans"/>
              </a:rPr>
              <a:t>비율</a:t>
            </a:r>
            <a:r>
              <a:rPr lang="en-US" sz="1800" dirty="0">
                <a:solidFill>
                  <a:srgbClr val="334155"/>
                </a:solidFill>
                <a:latin typeface="+mn-ea"/>
                <a:cs typeface="Noto Sans"/>
                <a:sym typeface="Noto Sans"/>
              </a:rPr>
              <a:t> </a:t>
            </a:r>
            <a:r>
              <a:rPr lang="en-US" sz="1800" dirty="0" err="1">
                <a:solidFill>
                  <a:srgbClr val="334155"/>
                </a:solidFill>
                <a:latin typeface="+mn-ea"/>
                <a:cs typeface="Noto Sans"/>
                <a:sym typeface="Noto Sans"/>
              </a:rPr>
              <a:t>유지</a:t>
            </a:r>
            <a:endParaRPr lang="en-US" sz="1800" dirty="0">
              <a:solidFill>
                <a:srgbClr val="334155"/>
              </a:solidFill>
              <a:latin typeface="+mn-ea"/>
              <a:cs typeface="Noto Sans"/>
              <a:sym typeface="Noto Sans"/>
            </a:endParaRPr>
          </a:p>
        </p:txBody>
      </p:sp>
      <p:sp>
        <p:nvSpPr>
          <p:cNvPr id="52" name="TextBox 52"/>
          <p:cNvSpPr txBox="1"/>
          <p:nvPr/>
        </p:nvSpPr>
        <p:spPr>
          <a:xfrm>
            <a:off x="1727158" y="7638090"/>
            <a:ext cx="6861832" cy="367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334155"/>
                </a:solidFill>
                <a:latin typeface="+mn-ea"/>
                <a:cs typeface="Noto Sans"/>
                <a:sym typeface="Noto Sans"/>
              </a:rPr>
              <a:t>Shuffle 적용 및 Seed 고정을 통해 실험 모델의 재현성 확보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727158" y="8095290"/>
            <a:ext cx="7052627" cy="1180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334155"/>
                </a:solidFill>
                <a:latin typeface="+mn-ea"/>
                <a:cs typeface="Noto Sans"/>
                <a:sym typeface="Noto Sans"/>
              </a:rPr>
              <a:t>Fold별 예측 확률을 산출 후 </a:t>
            </a:r>
            <a:r>
              <a:rPr lang="en-US" sz="1800">
                <a:solidFill>
                  <a:srgbClr val="0F172A"/>
                </a:solidFill>
                <a:latin typeface="+mn-ea"/>
                <a:cs typeface="Noto Sans"/>
                <a:sym typeface="Noto Sans"/>
              </a:rPr>
              <a:t>평균(Averaging)</a:t>
            </a:r>
            <a:r>
              <a:rPr lang="en-US" sz="1800">
                <a:solidFill>
                  <a:srgbClr val="334155"/>
                </a:solidFill>
                <a:latin typeface="+mn-ea"/>
                <a:cs typeface="Noto Sans"/>
                <a:sym typeface="Noto Sans"/>
              </a:rPr>
              <a:t>하여, </a:t>
            </a:r>
          </a:p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334155"/>
                </a:solidFill>
                <a:latin typeface="+mn-ea"/>
                <a:cs typeface="Noto Sans"/>
                <a:sym typeface="Noto Sans"/>
              </a:rPr>
              <a:t>모델의 분산을 감소시키고 일반화 성능을 높이는 배깅(Bagging) 효과 획득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9899608" y="6837990"/>
            <a:ext cx="6891916" cy="777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 b="1">
                <a:solidFill>
                  <a:srgbClr val="0F172A"/>
                </a:solidFill>
                <a:latin typeface="+mn-ea"/>
                <a:cs typeface="Noto Sans Bold"/>
                <a:sym typeface="Noto Sans Bold"/>
              </a:rPr>
              <a:t>결과</a:t>
            </a:r>
            <a:r>
              <a:rPr lang="en-US" sz="1800">
                <a:solidFill>
                  <a:srgbClr val="0F172A"/>
                </a:solidFill>
                <a:latin typeface="+mn-ea"/>
                <a:cs typeface="Noto Sans"/>
                <a:sym typeface="Noto Sans"/>
              </a:rPr>
              <a:t>:</a:t>
            </a:r>
            <a:r>
              <a:rPr lang="en-US" sz="1800">
                <a:solidFill>
                  <a:srgbClr val="334155"/>
                </a:solidFill>
                <a:latin typeface="+mn-ea"/>
                <a:cs typeface="Noto Sans"/>
                <a:sym typeface="Noto Sans"/>
              </a:rPr>
              <a:t> LightGBM과 CatBoost 모두 유사한 수준으로 </a:t>
            </a:r>
            <a:r>
              <a:rPr lang="en-US" sz="1800">
                <a:solidFill>
                  <a:srgbClr val="0F172A"/>
                </a:solidFill>
                <a:latin typeface="+mn-ea"/>
                <a:cs typeface="Noto Sans"/>
                <a:sym typeface="Noto Sans"/>
              </a:rPr>
              <a:t>ROC-AUC 약 0.8945</a:t>
            </a:r>
            <a:r>
              <a:rPr lang="en-US" sz="1800">
                <a:solidFill>
                  <a:srgbClr val="334155"/>
                </a:solidFill>
                <a:latin typeface="+mn-ea"/>
                <a:cs typeface="Noto Sans"/>
                <a:sym typeface="Noto Sans"/>
              </a:rPr>
              <a:t> 달성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9899608" y="7638090"/>
            <a:ext cx="6891916" cy="777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 b="1">
                <a:solidFill>
                  <a:srgbClr val="0F172A"/>
                </a:solidFill>
                <a:latin typeface="+mn-ea"/>
                <a:cs typeface="Noto Sans Bold"/>
                <a:sym typeface="Noto Sans Bold"/>
              </a:rPr>
              <a:t>데이터 누수 한계</a:t>
            </a:r>
            <a:r>
              <a:rPr lang="en-US" sz="1800">
                <a:solidFill>
                  <a:srgbClr val="0F172A"/>
                </a:solidFill>
                <a:latin typeface="+mn-ea"/>
                <a:cs typeface="Noto Sans"/>
                <a:sym typeface="Noto Sans"/>
              </a:rPr>
              <a:t>:</a:t>
            </a:r>
            <a:r>
              <a:rPr lang="en-US" sz="1800">
                <a:solidFill>
                  <a:srgbClr val="334155"/>
                </a:solidFill>
                <a:latin typeface="+mn-ea"/>
                <a:cs typeface="Noto Sans"/>
                <a:sym typeface="Noto Sans"/>
              </a:rPr>
              <a:t> Test 셋에 원본 라벨을 병합한 Override 트릭은 캐글 대회 특수적 꼼수로 점수를 높였으나, 실무 적용 시 일반화 불가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9899608" y="8438190"/>
            <a:ext cx="7080362" cy="777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 b="1">
                <a:solidFill>
                  <a:srgbClr val="0F172A"/>
                </a:solidFill>
                <a:latin typeface="+mn-ea"/>
                <a:cs typeface="Noto Sans Bold"/>
                <a:sym typeface="Noto Sans Bold"/>
              </a:rPr>
              <a:t>코드 한계:</a:t>
            </a:r>
            <a:r>
              <a:rPr lang="en-US" sz="1800">
                <a:solidFill>
                  <a:srgbClr val="334155"/>
                </a:solidFill>
                <a:latin typeface="+mn-ea"/>
                <a:cs typeface="Noto Sans"/>
                <a:sym typeface="Noto Sans"/>
              </a:rPr>
              <a:t> Test 데이터에 스케일러를 재적합(fit_transform)한 오류 존재, CatBoost AUC 집계 로직 버그 확인 및 추후 개선 필요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441408" y="6809415"/>
            <a:ext cx="128588" cy="509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5"/>
              </a:lnSpc>
            </a:pPr>
            <a:r>
              <a:rPr lang="en-US" sz="2025">
                <a:solidFill>
                  <a:srgbClr val="2E745F"/>
                </a:solidFill>
                <a:latin typeface="Noto Sans"/>
                <a:ea typeface="Noto Sans"/>
                <a:cs typeface="Noto Sans"/>
                <a:sym typeface="Noto Sans"/>
              </a:rPr>
              <a:t>▹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441408" y="7609515"/>
            <a:ext cx="128588" cy="509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5"/>
              </a:lnSpc>
            </a:pPr>
            <a:r>
              <a:rPr lang="en-US" sz="2025">
                <a:solidFill>
                  <a:srgbClr val="2E745F"/>
                </a:solidFill>
                <a:latin typeface="Noto Sans"/>
                <a:ea typeface="Noto Sans"/>
                <a:cs typeface="Noto Sans"/>
                <a:sym typeface="Noto Sans"/>
              </a:rPr>
              <a:t>▹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441408" y="8066715"/>
            <a:ext cx="128588" cy="509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5"/>
              </a:lnSpc>
            </a:pPr>
            <a:r>
              <a:rPr lang="en-US" sz="2025">
                <a:solidFill>
                  <a:srgbClr val="2E745F"/>
                </a:solidFill>
                <a:latin typeface="Noto Sans"/>
                <a:ea typeface="Noto Sans"/>
                <a:cs typeface="Noto Sans"/>
                <a:sym typeface="Noto Sans"/>
              </a:rPr>
              <a:t>▹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9613858" y="6809415"/>
            <a:ext cx="128588" cy="509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5"/>
              </a:lnSpc>
            </a:pPr>
            <a:r>
              <a:rPr lang="en-US" sz="2025">
                <a:solidFill>
                  <a:srgbClr val="2E745F"/>
                </a:solidFill>
                <a:latin typeface="Noto Sans"/>
                <a:ea typeface="Noto Sans"/>
                <a:cs typeface="Noto Sans"/>
                <a:sym typeface="Noto Sans"/>
              </a:rPr>
              <a:t>▹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9613858" y="7609515"/>
            <a:ext cx="128588" cy="509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5"/>
              </a:lnSpc>
            </a:pPr>
            <a:r>
              <a:rPr lang="en-US" sz="2025">
                <a:solidFill>
                  <a:srgbClr val="2E745F"/>
                </a:solidFill>
                <a:latin typeface="Noto Sans"/>
                <a:ea typeface="Noto Sans"/>
                <a:cs typeface="Noto Sans"/>
                <a:sym typeface="Noto Sans"/>
              </a:rPr>
              <a:t>▹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9613858" y="8409615"/>
            <a:ext cx="128588" cy="509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5"/>
              </a:lnSpc>
            </a:pPr>
            <a:r>
              <a:rPr lang="en-US" sz="2025">
                <a:solidFill>
                  <a:srgbClr val="2E745F"/>
                </a:solidFill>
                <a:latin typeface="Noto Sans"/>
                <a:ea typeface="Noto Sans"/>
                <a:cs typeface="Noto Sans"/>
                <a:sym typeface="Noto Sans"/>
              </a:rPr>
              <a:t>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1011</Words>
  <Application>Microsoft Office PowerPoint</Application>
  <PresentationFormat>사용자 지정</PresentationFormat>
  <Paragraphs>155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10" baseType="lpstr">
      <vt:lpstr>Arimo</vt:lpstr>
      <vt:lpstr>HY견고딕</vt:lpstr>
      <vt:lpstr>Arial</vt:lpstr>
      <vt:lpstr>Noto Sans</vt:lpstr>
      <vt:lpstr>Noto Sans Bold</vt:lpstr>
      <vt:lpstr>Calibri</vt:lpstr>
      <vt:lpstr>Office Theme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15장(발표)_이름(학번).ppt</dc:title>
  <dc:creator>user</dc:creator>
  <cp:lastModifiedBy>박아름</cp:lastModifiedBy>
  <cp:revision>3</cp:revision>
  <dcterms:created xsi:type="dcterms:W3CDTF">2006-08-16T00:00:00Z</dcterms:created>
  <dcterms:modified xsi:type="dcterms:W3CDTF">2026-06-08T18:15:10Z</dcterms:modified>
  <dc:identifier>DAHL3bgYvos</dc:identifier>
</cp:coreProperties>
</file>
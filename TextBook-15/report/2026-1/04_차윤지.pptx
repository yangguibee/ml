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 showGuides="1">
      <p:cViewPr varScale="1">
        <p:scale>
          <a:sx n="48" d="100"/>
          <a:sy n="48" d="100"/>
        </p:scale>
        <p:origin x="58" y="7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952A7-892B-4454-B89A-4622C20B6C51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F8DBD-B932-4907-8915-F4F2CBAD8A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640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214EE-C720-A883-F1F1-60A140FF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F5D766-1F7F-0FD0-4AB3-C0BED4B1F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D9D7-00DE-B7E7-08F6-50BEAC1B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BE6C93-31E6-63DF-9A52-A736C2F7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5446DA-4504-EE07-C130-42AE0513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578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E562A-81DA-98F5-7C47-351D0A7F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1397DF-63E5-66BF-8553-E50A61D76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AB8D66-5065-3FBD-301E-C82DD8A2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0BD67-85D6-9DCE-04EA-161A9DA3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CA991-D715-EC43-7E2D-DA0DDB4D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095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D1B02-BA5E-FD37-3F6D-B5D45D57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60B32B-FBC6-9C05-123D-C54519E8F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CAE29-F991-4CF7-E7B8-F30D4190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5DB5FB-AC10-40B8-8C8E-32E61947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6D9A01-3005-BEB7-C232-774260F0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73D0C-409F-3B62-CA1F-E45BF3028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762704-FADE-7424-D0DF-4F98700FA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5DBEDC-FA65-AA37-BAA8-83C9ABCF9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320648-C93D-5D88-05C0-6ED754D3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59D3B4-5693-C2AA-AA2B-AE15D875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1E7D7B-4D70-40E8-6580-074766C0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43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6C6D7-FDF0-4087-26DE-97689F829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F9D12E-20FC-8C57-958C-8AF491793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509F84-CCDD-A84C-8F67-A226966E9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245F1C-7352-10C6-D936-290F0EAC3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13A189-B700-2623-F021-90BDF5C4B7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92E8A6-C1F5-32DE-E3A5-0FD1A728E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52BD80-AC61-1D37-7FB3-BC7B786C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7BE5D6-F65C-D05A-A02A-F0496A98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626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4FB41-7BF7-C78F-9E14-1A39D08D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683D60-3409-6D1A-64A9-116AA662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5541A8-E6AC-772E-B6FC-1326285D4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3D2980-A9F2-F5F7-6F50-64BFA5985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07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4AC968-E04A-D10B-D698-BE0BE792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9073EB-8154-4B1B-FA95-E6CCB4DAB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4EDA39-17EF-031F-C9D0-9B6008C7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698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43A93-9DE2-3EC8-77B1-AF6E442C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CA5028-41C7-EB88-CF70-1AFE97274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A6D4DD-7476-D89C-CE86-AAB748C68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13F14B-CC6A-E3A7-2EDD-36556D7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1D2CEA-5848-CA62-2EF4-FA3EBC3CC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036332-3C3F-5B3C-EB29-EE58EC36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695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748105-34DA-2794-6C99-6F78DEE0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38A3D7F-DFA6-BAAF-E2A5-B22B462F9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D15746-99F0-A084-0BED-59EE468E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7FBD87-ED28-C15C-765B-5CFEB5D0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3EF128-A0B1-2DB9-32A6-B98DF647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21C860-876A-7F81-BA46-3DBD7705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54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7BEB1-503E-6D13-5054-FD7C49B6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EC3FE4-7401-8598-7853-4409F19FE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24356F-E1B5-10F3-8AA1-508C5D5FA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BD2E46-59D2-A5FC-DF85-45D1247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D9E110-D2D4-9CD9-32D4-82CBE1CF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27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64BA7D-D79A-9D5A-5A9E-203C24587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BB8A11-40DB-4151-04D0-2E5903814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25BAD0-26F1-5F1B-409E-2870B13C8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BFE05-D347-3EC7-3A14-E8BA43E9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14FAC3-0BFC-CC5C-26DF-C79777D5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58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44DF16-8F4D-EA70-7B9C-EEBC46E4A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EF491D-4206-80CB-B8D5-26FCA33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58F63-70F3-3CDA-E6AD-AEC6B5E55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27CB3-03A7-4B2E-986D-CB920754AB8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9FD57C-A4CE-9CCF-B01D-D469A5878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A7CF65-AF26-D7B2-7689-43760022A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8877F-0C75-4B65-8CC2-B2E6DC881E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602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aptos2019-blindness-detection/" TargetMode="External"/><Relationship Id="rId2" Type="http://schemas.openxmlformats.org/officeDocument/2006/relationships/hyperlink" Target="https://www.kaggle.com/competitions/aptos2019-blindness-detection/writeups/guanshuo-xu-1st-place-solution-summary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36736-463D-C2A8-E41E-0620FC2D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B76E281-FBDC-E96D-CD09-04EFC1C1C90A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D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7BC794-4013-FD3D-8DE3-64D936160A98}"/>
              </a:ext>
            </a:extLst>
          </p:cNvPr>
          <p:cNvSpPr txBox="1"/>
          <p:nvPr/>
        </p:nvSpPr>
        <p:spPr>
          <a:xfrm>
            <a:off x="6333178" y="1401456"/>
            <a:ext cx="5313230" cy="436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* 1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위 솔루션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2"/>
              </a:rPr>
              <a:t>https://www.kaggle.com/competitions/aptos2019-blindness-detection/writeups/guanshuo-xu-1st-place-solution-summary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D91049F-B8DC-4BAC-8839-76FE8B23F3C6}"/>
              </a:ext>
            </a:extLst>
          </p:cNvPr>
          <p:cNvSpPr/>
          <p:nvPr/>
        </p:nvSpPr>
        <p:spPr>
          <a:xfrm>
            <a:off x="0" y="-1"/>
            <a:ext cx="12192000" cy="11503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84B81-F818-45F7-96D5-6E6D4E3DF256}"/>
              </a:ext>
            </a:extLst>
          </p:cNvPr>
          <p:cNvSpPr txBox="1"/>
          <p:nvPr/>
        </p:nvSpPr>
        <p:spPr>
          <a:xfrm>
            <a:off x="237178" y="313576"/>
            <a:ext cx="10340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APTOS 2019 Blindness Detection (APTOS 2019 </a:t>
            </a:r>
            <a:r>
              <a:rPr lang="ko-KR" altLang="en-US" sz="28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시각장애 탐지</a:t>
            </a:r>
            <a:r>
              <a:rPr lang="en-US" altLang="ko-KR" sz="28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DCC4BB-2CDA-7748-E264-529D4A981AC1}"/>
              </a:ext>
            </a:extLst>
          </p:cNvPr>
          <p:cNvSpPr txBox="1"/>
          <p:nvPr/>
        </p:nvSpPr>
        <p:spPr>
          <a:xfrm>
            <a:off x="237178" y="1402395"/>
            <a:ext cx="5313230" cy="1688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개요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en-US" altLang="ko-KR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  <a:hlinkClick r:id="rId3"/>
              </a:rPr>
              <a:t>https://www.kaggle.com/competitions/aptos2019-blindness-detection/</a:t>
            </a: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APTOS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주최 의료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이미지 분류 대회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(Completed, 2,928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 팀 참가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망막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이미지를 이용하여 당뇨병성 망막병증</a:t>
            </a:r>
            <a:r>
              <a:rPr lang="en-US" altLang="ko-KR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(Diabetic Retinopathy) </a:t>
            </a:r>
            <a:r>
              <a:rPr lang="ko-KR" altLang="en-US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심각도 예측</a:t>
            </a: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목표 </a:t>
            </a:r>
            <a:r>
              <a:rPr lang="en-US" altLang="ko-KR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AI</a:t>
            </a:r>
            <a:r>
              <a:rPr lang="ko-KR" altLang="en-US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를 활용한 자동 진단 시스템으로 의료 서비스 확대</a:t>
            </a: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기대효과 </a:t>
            </a:r>
            <a:r>
              <a:rPr lang="en-US" altLang="ko-KR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100" dirty="0"/>
              <a:t>실명 예방 및 안과 질환 조기 진단</a:t>
            </a:r>
            <a:endParaRPr lang="ko-KR" altLang="en-US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6934922-BC9D-24CE-304A-9D4D4F8579C3}"/>
              </a:ext>
            </a:extLst>
          </p:cNvPr>
          <p:cNvCxnSpPr>
            <a:cxnSpLocks/>
          </p:cNvCxnSpPr>
          <p:nvPr/>
        </p:nvCxnSpPr>
        <p:spPr>
          <a:xfrm>
            <a:off x="6096000" y="1402395"/>
            <a:ext cx="0" cy="5263581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57488D-2854-2A3B-2080-2D3D200423DF}"/>
              </a:ext>
            </a:extLst>
          </p:cNvPr>
          <p:cNvSpPr txBox="1"/>
          <p:nvPr/>
        </p:nvSpPr>
        <p:spPr>
          <a:xfrm>
            <a:off x="237178" y="4774209"/>
            <a:ext cx="5313230" cy="925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데이터셋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(Dataset)</a:t>
            </a:r>
          </a:p>
          <a:p>
            <a:pPr>
              <a:lnSpc>
                <a:spcPts val="1425"/>
              </a:lnSpc>
            </a:pP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입력 데이터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망막 이미지</a:t>
            </a: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출력 데이터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질병 심각도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0~4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단계 분류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E906AA-C210-A5EA-AC3C-61F730A3FA6F}"/>
              </a:ext>
            </a:extLst>
          </p:cNvPr>
          <p:cNvSpPr txBox="1"/>
          <p:nvPr/>
        </p:nvSpPr>
        <p:spPr>
          <a:xfrm>
            <a:off x="237178" y="3342570"/>
            <a:ext cx="5313230" cy="1179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평가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(Evaluation)</a:t>
            </a:r>
          </a:p>
          <a:p>
            <a:pPr>
              <a:lnSpc>
                <a:spcPts val="1425"/>
              </a:lnSpc>
            </a:pP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성능 평가 지표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Quadratic Weighted Kappa(QWK)</a:t>
            </a:r>
          </a:p>
          <a:p>
            <a:pPr>
              <a:lnSpc>
                <a:spcPct val="150000"/>
              </a:lnSpc>
            </a:pPr>
            <a:r>
              <a:rPr lang="en-US" altLang="ko-KR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평가자가 부여한 점수와 예측 점수 간의 차이를 계산하여 산출</a:t>
            </a: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질병의 심각도를 단계별로 분류하는 의료 영상 문제에 적합한 평가 방식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67AD49-3061-63C2-0A35-387A4D530F7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9FA"/>
              </a:clrFrom>
              <a:clrTo>
                <a:srgbClr val="F8F9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675" y="5329130"/>
            <a:ext cx="2363147" cy="11902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DEA346-DA14-74C0-89E8-51DE72DF124E}"/>
              </a:ext>
            </a:extLst>
          </p:cNvPr>
          <p:cNvSpPr txBox="1"/>
          <p:nvPr/>
        </p:nvSpPr>
        <p:spPr>
          <a:xfrm>
            <a:off x="6333178" y="2089004"/>
            <a:ext cx="5313230" cy="1179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ko-KR" altLang="en-US" sz="1400" b="1" dirty="0" err="1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전처리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(Preprocessing)</a:t>
            </a:r>
          </a:p>
          <a:p>
            <a:pPr>
              <a:lnSpc>
                <a:spcPts val="1425"/>
              </a:lnSpc>
            </a:pP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최적화 기법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데이터 변환</a:t>
            </a:r>
            <a:r>
              <a:rPr lang="en-US" altLang="ko-KR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(Data Transformation)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/>
              <a:t>복잡한 </a:t>
            </a:r>
            <a:r>
              <a:rPr lang="ko-KR" altLang="en-US" sz="1100" dirty="0" err="1"/>
              <a:t>전처리</a:t>
            </a:r>
            <a:r>
              <a:rPr lang="ko-KR" altLang="en-US" sz="1100" dirty="0"/>
              <a:t> 없이 이미지 </a:t>
            </a:r>
            <a:r>
              <a:rPr lang="en-US" altLang="ko-KR" sz="1100" dirty="0"/>
              <a:t>Resize</a:t>
            </a:r>
            <a:r>
              <a:rPr lang="ko-KR" altLang="en-US" sz="1100" dirty="0"/>
              <a:t>만 수행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데이터의 핵심 특징 유지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불필요한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전처리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과정 제거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C67E7C-AA10-42E0-0ADE-5CED9FAEE206}"/>
              </a:ext>
            </a:extLst>
          </p:cNvPr>
          <p:cNvSpPr txBox="1"/>
          <p:nvPr/>
        </p:nvSpPr>
        <p:spPr>
          <a:xfrm>
            <a:off x="6333177" y="3519704"/>
            <a:ext cx="5411147" cy="14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모델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(Models)</a:t>
            </a:r>
          </a:p>
          <a:p>
            <a:pPr>
              <a:lnSpc>
                <a:spcPts val="1425"/>
              </a:lnSpc>
            </a:pP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최적화 기법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앙상블 학습</a:t>
            </a:r>
            <a:r>
              <a:rPr lang="en-US" altLang="ko-KR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(Ensemble Learning)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- 8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CNN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모델의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예측값을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단순 평균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(Simple Averaging)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내어 최종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결과 생성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일반화 성능 향상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과적합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완화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사용 모델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Inception-ResNet-v2, Inception-v4, SE-ResNeXt50, SE-ResNeXt101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545CE75-CD3C-75B6-750C-BA15BCC89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783" y="5466026"/>
            <a:ext cx="3562434" cy="91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0C22-3263-5D5E-BDD4-9543DFB8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13642D7-4A70-D2E2-E504-D711F8FEDA8E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D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80AB8E-24AB-53F4-F13C-1B1EDE0F772B}"/>
              </a:ext>
            </a:extLst>
          </p:cNvPr>
          <p:cNvSpPr/>
          <p:nvPr/>
        </p:nvSpPr>
        <p:spPr>
          <a:xfrm>
            <a:off x="0" y="-1"/>
            <a:ext cx="12192000" cy="11503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86C50-0CFD-48F7-E590-0900A24F8857}"/>
              </a:ext>
            </a:extLst>
          </p:cNvPr>
          <p:cNvSpPr txBox="1"/>
          <p:nvPr/>
        </p:nvSpPr>
        <p:spPr>
          <a:xfrm>
            <a:off x="237178" y="313576"/>
            <a:ext cx="10340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APTOS 2019 Blindness Detection (APTOS 2019 </a:t>
            </a:r>
            <a:r>
              <a:rPr lang="ko-KR" altLang="en-US" sz="28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시각장애 탐지</a:t>
            </a:r>
            <a:r>
              <a:rPr lang="en-US" altLang="ko-KR" sz="2800" b="1" dirty="0">
                <a:solidFill>
                  <a:srgbClr val="FDFCF9"/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51B3C-835F-9294-5BFC-F375F56A6E32}"/>
              </a:ext>
            </a:extLst>
          </p:cNvPr>
          <p:cNvSpPr txBox="1"/>
          <p:nvPr/>
        </p:nvSpPr>
        <p:spPr>
          <a:xfrm>
            <a:off x="237178" y="1402395"/>
            <a:ext cx="5313230" cy="1179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증강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(Augmentation)</a:t>
            </a:r>
          </a:p>
          <a:p>
            <a:pPr>
              <a:lnSpc>
                <a:spcPts val="1425"/>
              </a:lnSpc>
            </a:pP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최적화 기법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데이터 증강</a:t>
            </a:r>
            <a:r>
              <a:rPr lang="en-US" altLang="ko-KR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(Data Augmentation)</a:t>
            </a:r>
            <a:endParaRPr lang="en-US" altLang="ko-KR" sz="1100" b="1" dirty="0">
              <a:solidFill>
                <a:srgbClr val="C00000"/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다양한 이미지 변환을 적용하여 학습 데이터 다양성 확보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데이터 다양성 증가 </a:t>
            </a:r>
            <a:r>
              <a:rPr lang="en-US" altLang="ko-KR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100" b="0" dirty="0" err="1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과적합</a:t>
            </a:r>
            <a:r>
              <a:rPr lang="ko-KR" altLang="en-US" sz="110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방지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EF1DF6-C6D5-2222-D99D-52B306837E5A}"/>
              </a:ext>
            </a:extLst>
          </p:cNvPr>
          <p:cNvCxnSpPr>
            <a:cxnSpLocks/>
          </p:cNvCxnSpPr>
          <p:nvPr/>
        </p:nvCxnSpPr>
        <p:spPr>
          <a:xfrm>
            <a:off x="6096000" y="1402395"/>
            <a:ext cx="0" cy="5263581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0C143D-F8C9-39C3-EA0E-E5150DAE148F}"/>
              </a:ext>
            </a:extLst>
          </p:cNvPr>
          <p:cNvSpPr txBox="1"/>
          <p:nvPr/>
        </p:nvSpPr>
        <p:spPr>
          <a:xfrm>
            <a:off x="6333178" y="1402395"/>
            <a:ext cx="5313230" cy="39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학습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(Training)</a:t>
            </a:r>
          </a:p>
          <a:p>
            <a:pPr>
              <a:lnSpc>
                <a:spcPts val="1425"/>
              </a:lnSpc>
            </a:pP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- 1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단계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-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과적합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방지하기 위해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hyperparameter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자유도 최소화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- 5 epoch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단위로 탐색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- 2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단계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최적화 기법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정보 병합</a:t>
            </a:r>
            <a:r>
              <a:rPr lang="en-US" altLang="ko-KR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(Data Fusion)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en-US" altLang="ko-KR" sz="1100" dirty="0" err="1"/>
              <a:t>Idrid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Messidor</a:t>
            </a:r>
            <a:r>
              <a:rPr lang="en-US" altLang="ko-KR" sz="1100" dirty="0"/>
              <a:t> </a:t>
            </a:r>
            <a:r>
              <a:rPr lang="ko-KR" altLang="en-US" sz="1100" dirty="0"/>
              <a:t>등 외부 데이터 추가 및 레이블 보정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   - </a:t>
            </a:r>
            <a:r>
              <a:rPr lang="ko-KR" altLang="en-US" sz="1100" dirty="0"/>
              <a:t>학습 데이터를 추가 </a:t>
            </a:r>
            <a:r>
              <a:rPr lang="en-US" altLang="ko-KR" sz="1100" dirty="0"/>
              <a:t>-&gt; </a:t>
            </a:r>
            <a:r>
              <a:rPr lang="ko-KR" altLang="en-US" sz="1100" dirty="0"/>
              <a:t>일반화 성능 향상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- 3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단계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최적화 기법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100" b="1" dirty="0" err="1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하이퍼파라미터</a:t>
            </a:r>
            <a:r>
              <a:rPr lang="ko-KR" altLang="en-US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튜닝</a:t>
            </a:r>
            <a:r>
              <a:rPr lang="en-US" altLang="ko-KR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(Hyperparameter Tuning)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- 1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단계 모델을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10 epoch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추가 학습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- QWK Threshold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조정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[0.5, 1.5, 2.5, 3.5] -&gt; [0.7, 1.5, 2.5, 3.5]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- Private LB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결과가 향상되었음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BA141-7E52-8504-B383-ACE8F9718BA0}"/>
              </a:ext>
            </a:extLst>
          </p:cNvPr>
          <p:cNvSpPr txBox="1"/>
          <p:nvPr/>
        </p:nvSpPr>
        <p:spPr>
          <a:xfrm>
            <a:off x="237178" y="2834034"/>
            <a:ext cx="5313230" cy="1179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ko-KR" altLang="en-US" sz="1400" b="1" dirty="0" err="1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풀링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(Pooling)</a:t>
            </a:r>
          </a:p>
          <a:p>
            <a:pPr>
              <a:lnSpc>
                <a:spcPts val="1425"/>
              </a:lnSpc>
            </a:pPr>
            <a:endParaRPr lang="en-US" altLang="ko-KR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최적화 기법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모델구조 최적화</a:t>
            </a:r>
            <a:r>
              <a:rPr lang="en-US" altLang="ko-KR" sz="1100" b="1" dirty="0">
                <a:solidFill>
                  <a:srgbClr val="C00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(Model Architecture Optimization)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마지막 </a:t>
            </a:r>
            <a:r>
              <a:rPr lang="ko-KR" altLang="en-US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풀링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레이어에 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Average Pooling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대신 </a:t>
            </a:r>
            <a:r>
              <a:rPr lang="en-US" altLang="ko-KR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GeM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Pooling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적용</a:t>
            </a:r>
            <a:endParaRPr lang="en-US" altLang="ko-KR" sz="110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en-US" altLang="ko-KR" sz="1100" dirty="0" err="1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GeM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(Generalized Mean Pooling) :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테스트</a:t>
            </a:r>
            <a:r>
              <a:rPr lang="en-US" altLang="ko-KR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10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결과 특징 추출 성능 향상</a:t>
            </a:r>
            <a:endParaRPr lang="ko-KR" altLang="en-US" sz="110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C2D66D9-5FB8-BE94-0DDD-16B0C799D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281" y="1855488"/>
            <a:ext cx="1236541" cy="137348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3DB961A-EB30-7BB0-05A9-E8C760D7B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56" y="4265673"/>
            <a:ext cx="5272889" cy="207719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9E1A767-A787-CFD6-9E83-DA6375D45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080" y="1855488"/>
            <a:ext cx="1858742" cy="114244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C5CF45C-3D29-5373-84FF-D227D3E284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160" y="5625072"/>
            <a:ext cx="2323681" cy="70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71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425</Words>
  <Application>Microsoft Office PowerPoint</Application>
  <PresentationFormat>와이드스크린</PresentationFormat>
  <Paragraphs>56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함초롬돋움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윤지 차</dc:creator>
  <cp:lastModifiedBy>윤지 차</cp:lastModifiedBy>
  <cp:revision>28</cp:revision>
  <dcterms:created xsi:type="dcterms:W3CDTF">2026-06-08T17:49:58Z</dcterms:created>
  <dcterms:modified xsi:type="dcterms:W3CDTF">2026-06-08T19:07:48Z</dcterms:modified>
</cp:coreProperties>
</file>
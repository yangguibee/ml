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60" r:id="rId2"/>
    <p:sldId id="256" r:id="rId3"/>
    <p:sldId id="257" r:id="rId4"/>
    <p:sldId id="258" r:id="rId5"/>
  </p:sldIdLst>
  <p:sldSz cx="12192000" cy="6858000"/>
  <p:notesSz cx="6858000" cy="9144000"/>
  <p:embeddedFontLst>
    <p:embeddedFont>
      <p:font typeface="Lato" panose="020F0502020204030203" pitchFamily="34" charset="0"/>
      <p:regular r:id="rId7"/>
      <p:bold r:id="rId8"/>
      <p:italic r:id="rId9"/>
      <p:boldItalic r:id="rId10"/>
    </p:embeddedFont>
    <p:embeddedFont>
      <p:font typeface="Poppins" panose="000005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B57623-8A76-4693-9B4C-D58F4669E3A2}">
  <a:tblStyle styleId="{64B57623-8A76-4693-9B4C-D58F4669E3A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824A670-B403-051A-BE7C-E54326BE5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497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1219200"/>
            <a:ext cx="4921001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87776" y="1219200"/>
            <a:ext cx="5870823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43000" y="438150"/>
            <a:ext cx="1104138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01. INPUT Architecture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461962"/>
            <a:ext cx="46672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" y="1323975"/>
            <a:ext cx="4711451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6035426" y="1738312"/>
            <a:ext cx="564429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Dataset Components</a:t>
            </a:r>
            <a:endParaRPr/>
          </a:p>
        </p:txBody>
      </p:sp>
      <p:graphicFrame>
        <p:nvGraphicFramePr>
          <p:cNvPr id="92" name="Google Shape;92;p13"/>
          <p:cNvGraphicFramePr/>
          <p:nvPr>
            <p:extLst>
              <p:ext uri="{D42A27DB-BD31-4B8C-83A1-F6EECF244321}">
                <p14:modId xmlns:p14="http://schemas.microsoft.com/office/powerpoint/2010/main" val="379728716"/>
              </p:ext>
            </p:extLst>
          </p:nvPr>
        </p:nvGraphicFramePr>
        <p:xfrm>
          <a:off x="6035426" y="2195512"/>
          <a:ext cx="5375525" cy="1800250"/>
        </p:xfrm>
        <a:graphic>
          <a:graphicData uri="http://schemas.openxmlformats.org/drawingml/2006/table">
            <a:tbl>
              <a:tblPr firstRow="1" bandRow="1">
                <a:noFill/>
                <a:tableStyleId>{64B57623-8A76-4693-9B4C-D58F4669E3A2}</a:tableStyleId>
              </a:tblPr>
              <a:tblGrid>
                <a:gridCol w="173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Variable Name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Logic &amp; Purpose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Prompt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사용자의 질문 (Context 제공)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Response A &amp; B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비교 대상인 두 챗봇의 독립적 답변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Target Labels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인간 선호도 결과 (A승, B승, 무승부)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Metadata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사용자</a:t>
                      </a:r>
                      <a:r>
                        <a:rPr lang="en-US" sz="1125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ID, </a:t>
                      </a:r>
                      <a:r>
                        <a:rPr lang="en-US" sz="1125" b="0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사용된</a:t>
                      </a:r>
                      <a:r>
                        <a:rPr lang="en-US" sz="1125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125" b="0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모델</a:t>
                      </a:r>
                      <a:r>
                        <a:rPr lang="en-US" sz="1125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125" b="0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고유</a:t>
                      </a:r>
                      <a:r>
                        <a:rPr lang="en-US" sz="1125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125" b="0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정보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3" name="Google Shape;93;p13"/>
          <p:cNvSpPr txBox="1"/>
          <p:nvPr/>
        </p:nvSpPr>
        <p:spPr>
          <a:xfrm>
            <a:off x="6035426" y="4138612"/>
            <a:ext cx="537552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2D3EE"/>
                </a:solidFill>
                <a:latin typeface="Lato"/>
                <a:ea typeface="Lato"/>
                <a:cs typeface="Lato"/>
                <a:sym typeface="Lato"/>
              </a:rPr>
              <a:t>로우 데이터는 텍스트 형태이며 특징 추출을 위한 전처리가 필수적입니다.</a:t>
            </a:r>
            <a:endParaRPr/>
          </a:p>
        </p:txBody>
      </p:sp>
      <p:pic>
        <p:nvPicPr>
          <p:cNvPr id="94" name="Google Shape;94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35426" y="4157662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/>
          <p:nvPr/>
        </p:nvSpPr>
        <p:spPr>
          <a:xfrm>
            <a:off x="6035426" y="2809875"/>
            <a:ext cx="17393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7774781" y="2809875"/>
            <a:ext cx="36361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6035426" y="3200400"/>
            <a:ext cx="17393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7774781" y="3200400"/>
            <a:ext cx="36361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6035426" y="3590925"/>
            <a:ext cx="17393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7774781" y="3590925"/>
            <a:ext cx="36361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6035426" y="3981450"/>
            <a:ext cx="17393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7774781" y="3981450"/>
            <a:ext cx="363616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1685925"/>
            <a:ext cx="35814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05300" y="1685925"/>
            <a:ext cx="35814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77200" y="1685925"/>
            <a:ext cx="35814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1171575" y="438150"/>
            <a:ext cx="11011376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02. NOTEBOOK Pipeline</a:t>
            </a:r>
            <a:endParaRPr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461962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09787" y="2428875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1498996" y="2914650"/>
            <a:ext cx="165020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Length Engineering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781050" y="3228975"/>
            <a:ext cx="30861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답변의 길이와 단어 수를 수치화하여 인간의 선호 경향성(Length Bias)을 데이터화합니다.</a:t>
            </a:r>
            <a:endParaRPr/>
          </a:p>
        </p:txBody>
      </p:sp>
      <p:pic>
        <p:nvPicPr>
          <p:cNvPr id="119" name="Google Shape;11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43600" y="2428875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5295900" y="2914650"/>
            <a:ext cx="1600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TF-IDF Embedding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4552950" y="3228975"/>
            <a:ext cx="30861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텍스트를 단어 빈도 벡터로 변환하여 기계 학습이 가능한 수치형 행렬을 생성합니다.</a:t>
            </a:r>
            <a:endParaRPr/>
          </a:p>
        </p:txBody>
      </p:sp>
      <p:pic>
        <p:nvPicPr>
          <p:cNvPr id="123" name="Google Shape;123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72637" y="2428875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 txBox="1"/>
          <p:nvPr/>
        </p:nvSpPr>
        <p:spPr>
          <a:xfrm>
            <a:off x="9282826" y="2914650"/>
            <a:ext cx="117014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GBM Training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8324850" y="3228975"/>
            <a:ext cx="30861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XGBoost/LightGBM을 활용해 효율적으로 학습하며 K-Fold로 안정성을 검증합니다.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1219200"/>
            <a:ext cx="5870674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37449" y="1219200"/>
            <a:ext cx="49211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1171575" y="438150"/>
            <a:ext cx="11011376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03. OUTPUT &amp; Strategy</a:t>
            </a:r>
            <a:endParaRPr/>
          </a:p>
        </p:txBody>
      </p:sp>
      <p:pic>
        <p:nvPicPr>
          <p:cNvPr id="133" name="Google Shape;13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461962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781050" y="1638300"/>
            <a:ext cx="564414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Prediction Output (Example)</a:t>
            </a:r>
            <a:endParaRPr/>
          </a:p>
        </p:txBody>
      </p:sp>
      <p:graphicFrame>
        <p:nvGraphicFramePr>
          <p:cNvPr id="137" name="Google Shape;137;p15"/>
          <p:cNvGraphicFramePr/>
          <p:nvPr>
            <p:extLst>
              <p:ext uri="{D42A27DB-BD31-4B8C-83A1-F6EECF244321}">
                <p14:modId xmlns:p14="http://schemas.microsoft.com/office/powerpoint/2010/main" val="1986680635"/>
              </p:ext>
            </p:extLst>
          </p:nvPr>
        </p:nvGraphicFramePr>
        <p:xfrm>
          <a:off x="781050" y="2095500"/>
          <a:ext cx="5375400" cy="1352525"/>
        </p:xfrm>
        <a:graphic>
          <a:graphicData uri="http://schemas.openxmlformats.org/drawingml/2006/table">
            <a:tbl>
              <a:tblPr firstRow="1" bandRow="1">
                <a:noFill/>
                <a:tableStyleId>{64B57623-8A76-4693-9B4C-D58F4669E3A2}</a:tableStyleId>
              </a:tblPr>
              <a:tblGrid>
                <a:gridCol w="172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Sample ID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 A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 B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#10245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0.54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0.31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0.15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#10246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0.12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0.78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0.10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#10247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0.33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0.33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0.34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8" name="Google Shape;138;p15"/>
          <p:cNvSpPr txBox="1"/>
          <p:nvPr/>
        </p:nvSpPr>
        <p:spPr>
          <a:xfrm>
            <a:off x="781050" y="3638550"/>
            <a:ext cx="564414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Optimization Roadmap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781050" y="4019550"/>
            <a:ext cx="537537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0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Context:</a:t>
            </a:r>
            <a:r>
              <a:rPr lang="en-US" sz="10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DeBERTa-v3 임베딩 도입으로 문맥 파악 능력 극대화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• </a:t>
            </a:r>
            <a:r>
              <a:rPr lang="en-US" sz="10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Efficiency:</a:t>
            </a:r>
            <a:r>
              <a:rPr lang="en-US" sz="10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자원 한계 극복을 위한 QLoRA 기반 소형 LLM 파인튜닝</a:t>
            </a:r>
            <a:endParaRPr/>
          </a:p>
        </p:txBody>
      </p:sp>
      <p:pic>
        <p:nvPicPr>
          <p:cNvPr id="140" name="Google Shape;14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42224" y="1323975"/>
            <a:ext cx="4711600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/>
          <p:nvPr/>
        </p:nvSpPr>
        <p:spPr>
          <a:xfrm>
            <a:off x="781050" y="2690812"/>
            <a:ext cx="17214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2502544" y="2690812"/>
            <a:ext cx="14872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3989784" y="2690812"/>
            <a:ext cx="14638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5453657" y="2690812"/>
            <a:ext cx="7027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781050" y="3062287"/>
            <a:ext cx="17214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2502544" y="3062287"/>
            <a:ext cx="14872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3989784" y="3062287"/>
            <a:ext cx="14638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5453657" y="3062287"/>
            <a:ext cx="7027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781050" y="3433762"/>
            <a:ext cx="17214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2502544" y="3433762"/>
            <a:ext cx="14872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3989784" y="3433762"/>
            <a:ext cx="14638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5453657" y="3433762"/>
            <a:ext cx="7027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167</Words>
  <Application>Microsoft Office PowerPoint</Application>
  <PresentationFormat>와이드스크린</PresentationFormat>
  <Paragraphs>40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Lato</vt:lpstr>
      <vt:lpstr>Calibri</vt:lpstr>
      <vt:lpstr>Arial</vt:lpstr>
      <vt:lpstr>Poppins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Woojin Lee</cp:lastModifiedBy>
  <cp:revision>3</cp:revision>
  <dcterms:modified xsi:type="dcterms:W3CDTF">2026-06-10T13:30:41Z</dcterms:modified>
</cp:coreProperties>
</file>
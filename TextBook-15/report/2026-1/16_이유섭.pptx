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647A8-CC04-4260-A871-6522C65E7A79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965F9-A36D-4EDB-B461-E17C9C7654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1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965F9-A36D-4EDB-B461-E17C9C76541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213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0181-9D5C-53AD-56A7-E57A2B5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FAC1F-3520-6AA5-EB1E-2340E67EC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F0CEA7-6776-BF2F-82B8-825D0A359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04E42-97C2-4E7F-65B4-DD9861482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965F9-A36D-4EDB-B461-E17C9C76541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7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4E84-7EEB-DAD7-F7AE-9F406C51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0ED466-74F4-9B2A-8932-ADBAAAED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12FB5-964D-B42B-F015-5BC00FC05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CED598-2E77-1060-1BF5-8157C0231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965F9-A36D-4EDB-B461-E17C9C76541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62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AE666-5556-EAE6-F9C9-68CC183B0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85175-7152-AA91-1F0C-A4FA80873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B56B0-D2A7-4716-B4C4-DBE2FA11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F743B-6A7D-1DD8-4081-B7DFAC08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4B43C-49E0-58E1-7B8D-89ECFFAA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2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3DAF6-B0D7-3910-981E-FF9B3FB0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F3D5BA-A859-0C2E-D603-A4336FD1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A7610-3E1F-35DD-209F-C920A367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35B30-E08B-EF17-3D1E-E11579E4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0FB5F-AD50-B30E-2E1A-2476D746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74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4C3B6-E66B-88C3-86E2-A7AE9FF2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D03A52-541B-801C-5CB2-AE8D767E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BC6E66-FA75-200B-E679-F4FDCA6E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6D26D-0CFD-193C-F599-A5037F7F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3BE72-9263-AC41-04AE-7223C935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0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A1AB0-EAB9-803E-4156-849F2AFC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C39C1-0964-FF57-22D8-1B27DB414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BFD41C-DC39-1612-A55C-F78564D20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3B8FA-5257-DE58-1242-CD88ED0D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D822D-52EB-DD91-9D5C-88C85B13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5BB34-2953-195F-CE5F-055E475D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94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6EFC1-2FC9-4DCD-0857-A48DE11C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35433-FAFD-D361-A5F5-867637519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961DC-3B94-FCB3-7BA8-68CAAF682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BF5B19-8353-6C9A-F43D-644158698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AAE80F-5820-E5B1-8A1A-38EEADD75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763DE1-A9D3-BB54-9EBA-2A522015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339CC4-1165-2B8D-DB63-C6BD3C5D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5A9269-223F-7E56-12F2-3D8688D7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59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76117-37D1-2075-56A2-CA8686C8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17838E-F4A9-B845-2396-C59D5039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8F363C-C00B-6C0B-BF6A-FE550C66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7F6545-9B1F-BB6B-68D5-D29E4D5F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34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228CC5-6C6E-EA8C-AB86-F65C3691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D0DBAB-B5B7-6B9E-8165-490E9FE3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E5E70-BF08-14F2-9CC1-E2689ECE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46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500E9-45F8-583F-752B-D648D0FD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5BBA6-B55A-6A05-1570-8F44C781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E50AC-1573-76AC-618E-8F34700E7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AFD81C-96B4-52B2-2AB8-521520E4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20A83-80CF-EC44-0B5B-D78B85A6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2C288-3BD2-FC73-F883-F1F9A980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93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FAF03-9CF2-1F32-F8C5-5D2E8D83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4163BB-8559-B3E3-ED2F-58DA630DA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C37B32-050D-CD97-868B-4436612F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146C3A-FC0C-5C6C-4B26-39731F23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FF5D35-1401-AEB7-2F8D-5B572E92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A6B895-CB82-1389-C102-209DD92A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7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BDD50-94FD-75C7-BA0D-86EC05D8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6A99F-7D90-0683-6FC4-86BA01A3D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A3BB28-4D87-9AE3-3FD3-30E815E6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295D7-114A-60CB-5FB5-C8E7B13E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A83E0D-8BA8-6C5B-495B-745F8F9F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81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6AB2CA-075E-8569-6A06-5ED448230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B12A80-AF89-D77C-1E17-A1849B6B0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8A26F-06C5-D3C2-D7E2-CEB0073C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CC336-00FE-6951-AE41-8DF9BCD4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9DA23-1286-F620-EF20-88EB96D7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35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F875BE-6013-354C-3A47-260C1401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B32932-E142-4D85-729A-4D63E32D6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0EFBE5-05DE-1AD7-66A1-6E6342037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6754E-C267-4EC9-A972-C4FE40C5D89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059CD2-4E92-F8C4-D7A6-E787FF32A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ABD6F-05A9-71F3-AA75-0FA283E3A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A7B47-DACC-4837-BE8D-A4EC70032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5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4DA4C-E096-6723-A31E-5D3846FA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8" y="180642"/>
            <a:ext cx="9011653" cy="315912"/>
          </a:xfrm>
        </p:spPr>
        <p:txBody>
          <a:bodyPr>
            <a:noAutofit/>
          </a:bodyPr>
          <a:lstStyle/>
          <a:p>
            <a:r>
              <a:rPr lang="en-US" altLang="ko-KR" sz="1800" b="1" dirty="0"/>
              <a:t>Rossmann Store Sales </a:t>
            </a:r>
            <a:r>
              <a:rPr lang="ko-KR" altLang="en-US" sz="1800" b="1" dirty="0"/>
              <a:t>대회로 살펴본 </a:t>
            </a:r>
            <a:r>
              <a:rPr lang="en-US" altLang="ko-KR" sz="1800" b="1" dirty="0" err="1"/>
              <a:t>LightGBM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기반 리테일 매출 예측 최적화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A57CA3-7C48-C018-AA2F-365220AB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95" y="721899"/>
            <a:ext cx="5037221" cy="27993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1</a:t>
            </a:r>
            <a:r>
              <a:rPr lang="ko-KR" altLang="ko-KR" sz="1400" b="1" dirty="0"/>
              <a:t>. </a:t>
            </a:r>
            <a:r>
              <a:rPr lang="ko-KR" altLang="en-US" sz="1400" b="1" dirty="0"/>
              <a:t>문제 정의</a:t>
            </a:r>
            <a:endParaRPr lang="en-US" altLang="ko-KR" sz="1400" b="1" dirty="0"/>
          </a:p>
          <a:p>
            <a:r>
              <a:rPr lang="ko-KR" altLang="en-US" sz="1400" dirty="0"/>
              <a:t>리테일 매장의 매출은 단순히 과거 평균만으로 예측하기 어렵다</a:t>
            </a:r>
            <a:r>
              <a:rPr lang="en-US" altLang="ko-KR" sz="1400" dirty="0"/>
              <a:t>.</a:t>
            </a:r>
            <a:r>
              <a:rPr lang="ko-KR" altLang="en-US" sz="1400" dirty="0"/>
              <a:t> 요일</a:t>
            </a:r>
            <a:r>
              <a:rPr lang="en-US" altLang="ko-KR" sz="1400" dirty="0"/>
              <a:t>, </a:t>
            </a:r>
            <a:r>
              <a:rPr lang="ko-KR" altLang="en-US" sz="1400" dirty="0"/>
              <a:t>휴일</a:t>
            </a:r>
            <a:r>
              <a:rPr lang="en-US" altLang="ko-KR" sz="1400" dirty="0"/>
              <a:t>, </a:t>
            </a:r>
            <a:r>
              <a:rPr lang="ko-KR" altLang="en-US" sz="1400" dirty="0"/>
              <a:t>프로모션</a:t>
            </a:r>
            <a:r>
              <a:rPr lang="en-US" altLang="ko-KR" sz="1400" dirty="0"/>
              <a:t>, </a:t>
            </a:r>
            <a:r>
              <a:rPr lang="ko-KR" altLang="en-US" sz="1400" dirty="0"/>
              <a:t>경쟁 매장 위치</a:t>
            </a:r>
            <a:r>
              <a:rPr lang="en-US" altLang="ko-KR" sz="1400" dirty="0"/>
              <a:t>, </a:t>
            </a:r>
            <a:r>
              <a:rPr lang="ko-KR" altLang="en-US" sz="1400" dirty="0"/>
              <a:t>계절성에 따라 매출이 크게 달라진다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Rossmann Store Sales </a:t>
            </a:r>
            <a:r>
              <a:rPr lang="ko-KR" altLang="en-US" sz="1400" dirty="0"/>
              <a:t>대회는 </a:t>
            </a:r>
            <a:r>
              <a:rPr lang="en-US" altLang="ko-KR" sz="1400" dirty="0"/>
              <a:t>1,115</a:t>
            </a:r>
            <a:r>
              <a:rPr lang="ko-KR" altLang="en-US" sz="1400" dirty="0"/>
              <a:t>개 매장의 향후 </a:t>
            </a:r>
            <a:r>
              <a:rPr lang="en-US" altLang="ko-KR" sz="1400" dirty="0"/>
              <a:t>6</a:t>
            </a:r>
            <a:r>
              <a:rPr lang="ko-KR" altLang="en-US" sz="1400" dirty="0"/>
              <a:t>주 일별 매출을 예측하는 문제이다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날짜와 외부 요인을 반영한 </a:t>
            </a:r>
            <a:r>
              <a:rPr lang="ko-KR" altLang="en-US" sz="1400" dirty="0" err="1"/>
              <a:t>머신러닝</a:t>
            </a:r>
            <a:r>
              <a:rPr lang="ko-KR" altLang="en-US" sz="1400" dirty="0"/>
              <a:t> 기반 예측 모델이 필요하다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4D2DF8D-FE30-C82B-28E2-C9DDE01AC101}"/>
              </a:ext>
            </a:extLst>
          </p:cNvPr>
          <p:cNvCxnSpPr/>
          <p:nvPr/>
        </p:nvCxnSpPr>
        <p:spPr>
          <a:xfrm>
            <a:off x="569495" y="569495"/>
            <a:ext cx="108364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461B519E-3013-EA9E-89C9-B90E891C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649" y="150898"/>
            <a:ext cx="1097151" cy="361698"/>
          </a:xfrm>
          <a:prstGeom prst="rect">
            <a:avLst/>
          </a:prstGeom>
        </p:spPr>
      </p:pic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17C87AD9-2AC4-817E-3A53-3497D5D7A31A}"/>
              </a:ext>
            </a:extLst>
          </p:cNvPr>
          <p:cNvSpPr txBox="1">
            <a:spLocks/>
          </p:cNvSpPr>
          <p:nvPr/>
        </p:nvSpPr>
        <p:spPr>
          <a:xfrm>
            <a:off x="669758" y="3521242"/>
            <a:ext cx="4828673" cy="2767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b="1" dirty="0"/>
              <a:t>2</a:t>
            </a:r>
            <a:r>
              <a:rPr lang="ko-KR" altLang="ko-KR" sz="1400" b="1" dirty="0"/>
              <a:t>. </a:t>
            </a:r>
            <a:r>
              <a:rPr lang="ko-KR" altLang="en-US" sz="1400" b="1" dirty="0"/>
              <a:t>데이터 특징</a:t>
            </a:r>
            <a:endParaRPr lang="en-US" altLang="ko-KR" sz="1400" b="1" dirty="0"/>
          </a:p>
          <a:p>
            <a:r>
              <a:rPr lang="ko-KR" altLang="en-US" sz="1400" dirty="0"/>
              <a:t>매장별 일별 매출 데이터</a:t>
            </a:r>
            <a:endParaRPr lang="en-US" altLang="ko-KR" sz="1400" dirty="0"/>
          </a:p>
          <a:p>
            <a:r>
              <a:rPr lang="en-US" altLang="ko-KR" sz="1400" dirty="0"/>
              <a:t>Store </a:t>
            </a:r>
            <a:r>
              <a:rPr lang="ko-KR" altLang="en-US" sz="1400" dirty="0"/>
              <a:t>정보와 </a:t>
            </a:r>
            <a:r>
              <a:rPr lang="en-US" altLang="ko-KR" sz="1400" dirty="0"/>
              <a:t>Sales </a:t>
            </a:r>
            <a:r>
              <a:rPr lang="ko-KR" altLang="en-US" sz="1400" dirty="0"/>
              <a:t>정보 결합</a:t>
            </a:r>
            <a:endParaRPr lang="en-US" altLang="ko-KR" sz="1400" dirty="0"/>
          </a:p>
          <a:p>
            <a:r>
              <a:rPr lang="en-US" altLang="ko-KR" sz="1400" dirty="0"/>
              <a:t>Promo, Promo2 </a:t>
            </a:r>
            <a:r>
              <a:rPr lang="ko-KR" altLang="en-US" sz="1400" dirty="0"/>
              <a:t>등 프로모션 변수</a:t>
            </a:r>
            <a:endParaRPr lang="en-US" altLang="ko-KR" sz="1400" dirty="0"/>
          </a:p>
          <a:p>
            <a:r>
              <a:rPr lang="en-US" altLang="ko-KR" sz="1400" dirty="0" err="1"/>
              <a:t>StateHoliday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SchoolHoliday</a:t>
            </a:r>
            <a:r>
              <a:rPr lang="en-US" altLang="ko-KR" sz="1400" dirty="0"/>
              <a:t> </a:t>
            </a:r>
            <a:r>
              <a:rPr lang="ko-KR" altLang="en-US" sz="1400" dirty="0"/>
              <a:t>등 휴일 변수</a:t>
            </a:r>
            <a:endParaRPr lang="en-US" altLang="ko-KR" sz="1400" dirty="0"/>
          </a:p>
          <a:p>
            <a:r>
              <a:rPr lang="en-US" altLang="ko-KR" sz="1400" dirty="0" err="1"/>
              <a:t>CompetitionDistance</a:t>
            </a:r>
            <a:r>
              <a:rPr lang="en-US" altLang="ko-KR" sz="1400" dirty="0"/>
              <a:t> </a:t>
            </a:r>
            <a:r>
              <a:rPr lang="ko-KR" altLang="en-US" sz="1400" dirty="0"/>
              <a:t>등 경쟁 매장 변수</a:t>
            </a:r>
            <a:endParaRPr lang="en-US" altLang="ko-KR" sz="1400" dirty="0"/>
          </a:p>
          <a:p>
            <a:r>
              <a:rPr lang="ko-KR" altLang="en-US" sz="1400" dirty="0"/>
              <a:t>목표는 미래 </a:t>
            </a:r>
            <a:r>
              <a:rPr lang="en-US" altLang="ko-KR" sz="1400" dirty="0"/>
              <a:t>6</a:t>
            </a:r>
            <a:r>
              <a:rPr lang="ko-KR" altLang="en-US" sz="1400" dirty="0"/>
              <a:t>주 매출 예측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D93F0BF6-4A64-6BC5-22CC-8AE73EB2437F}"/>
              </a:ext>
            </a:extLst>
          </p:cNvPr>
          <p:cNvSpPr txBox="1">
            <a:spLocks/>
          </p:cNvSpPr>
          <p:nvPr/>
        </p:nvSpPr>
        <p:spPr>
          <a:xfrm>
            <a:off x="5987716" y="721898"/>
            <a:ext cx="5037221" cy="1708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b="1" dirty="0"/>
              <a:t>3</a:t>
            </a:r>
            <a:r>
              <a:rPr lang="ko-KR" altLang="ko-KR" sz="1400" b="1" dirty="0"/>
              <a:t>. </a:t>
            </a:r>
            <a:r>
              <a:rPr lang="ko-KR" altLang="en-US" sz="1400" b="1" dirty="0"/>
              <a:t>최적화 파이프라인</a:t>
            </a:r>
            <a:endParaRPr lang="en-US" altLang="ko-KR" sz="1400" dirty="0"/>
          </a:p>
          <a:p>
            <a:r>
              <a:rPr lang="en-US" altLang="ko-KR" sz="1400" dirty="0"/>
              <a:t>Rossmann Store Sales </a:t>
            </a:r>
            <a:r>
              <a:rPr lang="ko-KR" altLang="en-US" sz="1400" dirty="0"/>
              <a:t>대회는 </a:t>
            </a:r>
            <a:r>
              <a:rPr lang="en-US" altLang="ko-KR" sz="1400" dirty="0"/>
              <a:t>1,115</a:t>
            </a:r>
            <a:r>
              <a:rPr lang="ko-KR" altLang="en-US" sz="1400" dirty="0"/>
              <a:t>개 매장의 향후 </a:t>
            </a:r>
            <a:r>
              <a:rPr lang="en-US" altLang="ko-KR" sz="1400" dirty="0"/>
              <a:t>6</a:t>
            </a:r>
            <a:r>
              <a:rPr lang="ko-KR" altLang="en-US" sz="1400" dirty="0"/>
              <a:t>주 일별 매출을 예측하는 문제이다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en-US" altLang="ko-KR" sz="14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E082D6-3824-370B-09C3-BEFDC35F5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2" y="1832811"/>
            <a:ext cx="2911640" cy="4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1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9D9E-4814-6947-B3BB-DCF6DC17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B8A46-7C8C-C87E-6037-455F5844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8" y="180642"/>
            <a:ext cx="9228221" cy="315912"/>
          </a:xfrm>
        </p:spPr>
        <p:txBody>
          <a:bodyPr>
            <a:noAutofit/>
          </a:bodyPr>
          <a:lstStyle/>
          <a:p>
            <a:r>
              <a:rPr lang="en-US" altLang="ko-KR" sz="1800" b="1" dirty="0"/>
              <a:t>Rossmann Store Sales </a:t>
            </a:r>
            <a:r>
              <a:rPr lang="ko-KR" altLang="en-US" sz="1800" b="1" dirty="0"/>
              <a:t>대회로 살펴본 </a:t>
            </a:r>
            <a:r>
              <a:rPr lang="en-US" altLang="ko-KR" sz="1800" b="1" dirty="0" err="1"/>
              <a:t>LightGBM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기반 리테일 매출 예측 최적화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44F62-B3D2-6C38-E727-85C9E6B78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95" y="721898"/>
            <a:ext cx="5037221" cy="60318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4. </a:t>
            </a:r>
            <a:r>
              <a:rPr lang="en-US" altLang="ko-KR" sz="1400" b="1" dirty="0" err="1"/>
              <a:t>LightGBM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최적화 포인트</a:t>
            </a:r>
            <a:endParaRPr lang="en-US" altLang="ko-KR" sz="1400" b="1" dirty="0"/>
          </a:p>
          <a:p>
            <a:r>
              <a:rPr lang="ko-KR" altLang="en-US" sz="1400" dirty="0"/>
              <a:t>날짜 기반 파생 변수</a:t>
            </a:r>
            <a:r>
              <a:rPr lang="en-US" altLang="ko-KR" sz="1400" dirty="0"/>
              <a:t> : </a:t>
            </a:r>
            <a:r>
              <a:rPr lang="ko-KR" altLang="en-US" sz="1400" dirty="0"/>
              <a:t>요일</a:t>
            </a:r>
            <a:r>
              <a:rPr lang="en-US" altLang="ko-KR" sz="1400" dirty="0"/>
              <a:t>, </a:t>
            </a:r>
            <a:r>
              <a:rPr lang="ko-KR" altLang="en-US" sz="1400" dirty="0"/>
              <a:t>월</a:t>
            </a:r>
            <a:r>
              <a:rPr lang="en-US" altLang="ko-KR" sz="1400" dirty="0"/>
              <a:t>, </a:t>
            </a:r>
            <a:r>
              <a:rPr lang="ko-KR" altLang="en-US" sz="1400" dirty="0"/>
              <a:t>주차</a:t>
            </a:r>
            <a:r>
              <a:rPr lang="en-US" altLang="ko-KR" sz="1400" dirty="0"/>
              <a:t>, </a:t>
            </a:r>
            <a:r>
              <a:rPr lang="ko-KR" altLang="en-US" sz="1400" dirty="0"/>
              <a:t>연도 변수를 생성해 주기성과 계절성을 반영한다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프로모션과 휴일 변수 </a:t>
            </a:r>
            <a:r>
              <a:rPr lang="en-US" altLang="ko-KR" sz="1400" dirty="0"/>
              <a:t>: Promo, Promo2, </a:t>
            </a:r>
            <a:r>
              <a:rPr lang="en-US" altLang="ko-KR" sz="1400" dirty="0" err="1"/>
              <a:t>StateHoliday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SchoolHoliday</a:t>
            </a:r>
            <a:r>
              <a:rPr lang="ko-KR" altLang="en-US" sz="1400" dirty="0"/>
              <a:t>를 활용해 매출 급등과 급락을 반영한다</a:t>
            </a:r>
            <a:r>
              <a:rPr lang="en-US" altLang="ko-KR" sz="1400" dirty="0"/>
              <a:t>.</a:t>
            </a:r>
            <a:r>
              <a:rPr lang="ko-KR" altLang="en-US" sz="1400" dirty="0"/>
              <a:t>따라서 날짜와 외부 요인을 반영한 </a:t>
            </a:r>
            <a:r>
              <a:rPr lang="ko-KR" altLang="en-US" sz="1400" dirty="0" err="1"/>
              <a:t>머신러닝</a:t>
            </a:r>
            <a:r>
              <a:rPr lang="ko-KR" altLang="en-US" sz="1400" dirty="0"/>
              <a:t> 기반 예측 모델이 필요하다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경쟁 매장 변수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CompetitionDistance</a:t>
            </a:r>
            <a:r>
              <a:rPr lang="ko-KR" altLang="en-US" sz="1400" dirty="0"/>
              <a:t>와 개점 후 경과 기간으로 지역 경쟁 효과를 반영한다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범주형 변수 인코딩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StoreType</a:t>
            </a:r>
            <a:r>
              <a:rPr lang="en-US" altLang="ko-KR" sz="1400" dirty="0"/>
              <a:t>, Assortment</a:t>
            </a:r>
            <a:r>
              <a:rPr lang="ko-KR" altLang="en-US" sz="1400" dirty="0"/>
              <a:t>를 모델이 학습 가능한 형태로 변환한다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하이퍼파라미터</a:t>
            </a:r>
            <a:r>
              <a:rPr lang="ko-KR" altLang="en-US" sz="1400" dirty="0"/>
              <a:t> 튜닝 </a:t>
            </a:r>
            <a:r>
              <a:rPr lang="en-US" altLang="ko-KR" sz="1400" dirty="0"/>
              <a:t>: </a:t>
            </a:r>
            <a:br>
              <a:rPr lang="en-US" altLang="ko-KR" sz="1400" dirty="0"/>
            </a:br>
            <a:r>
              <a:rPr lang="en-US" altLang="ko-KR" sz="1400" dirty="0" err="1"/>
              <a:t>num_leaves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max_depth</a:t>
            </a:r>
            <a:r>
              <a:rPr lang="ko-KR" altLang="en-US" sz="1400" dirty="0"/>
              <a:t>로 모델 복잡도를 조절한다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 err="1"/>
              <a:t>learning_rate</a:t>
            </a:r>
            <a:r>
              <a:rPr lang="ko-KR" altLang="en-US" sz="1400" dirty="0"/>
              <a:t>로 학습 속도를 조절한다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 err="1"/>
              <a:t>feature_fraction</a:t>
            </a:r>
            <a:r>
              <a:rPr lang="ko-KR" altLang="en-US" sz="1400" dirty="0"/>
              <a:t>으로 일반화 성능을 높인다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 err="1"/>
              <a:t>early_stopping</a:t>
            </a:r>
            <a:r>
              <a:rPr lang="ko-KR" altLang="en-US" sz="1400" dirty="0"/>
              <a:t>으로 과적합과 불필요한 학습 시간을 줄인다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모델 비교 </a:t>
            </a:r>
            <a:r>
              <a:rPr lang="en-US" altLang="ko-KR" sz="1400" dirty="0"/>
              <a:t>: </a:t>
            </a:r>
            <a:br>
              <a:rPr lang="en-US" altLang="ko-KR" sz="1400" dirty="0"/>
            </a:br>
            <a:r>
              <a:rPr lang="en-US" altLang="ko-KR" sz="1400" dirty="0"/>
              <a:t>Linear Regression</a:t>
            </a:r>
            <a:r>
              <a:rPr lang="ko-KR" altLang="en-US" sz="1400" dirty="0"/>
              <a:t>은 기준선 모델로 사용한다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 err="1"/>
              <a:t>XGBoost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LightGBM</a:t>
            </a:r>
            <a:r>
              <a:rPr lang="ko-KR" altLang="en-US" sz="1400" dirty="0"/>
              <a:t>은 비선형 관계와 변수 간 상호작용을 학습하는 트리 기반 모델로 비교한다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EAFE569-9B64-E73C-DAA5-EEE52BA46AF6}"/>
              </a:ext>
            </a:extLst>
          </p:cNvPr>
          <p:cNvCxnSpPr/>
          <p:nvPr/>
        </p:nvCxnSpPr>
        <p:spPr>
          <a:xfrm>
            <a:off x="569495" y="569495"/>
            <a:ext cx="108364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04A7121-C081-BBC7-53DA-53F04E6E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649" y="150898"/>
            <a:ext cx="1097151" cy="3616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9C12738-6BBD-9943-46B9-F9D90D270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043" y="1060468"/>
            <a:ext cx="6336630" cy="14559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32B8C3-6E23-0AE4-8CD5-C29DC2575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69" y="2742729"/>
            <a:ext cx="6517104" cy="34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9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8BD1-2EA5-4D97-A810-197C4426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C6DF3-CD4D-1F8C-86D4-0B5EA5C1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8" y="180642"/>
            <a:ext cx="9228221" cy="315912"/>
          </a:xfrm>
        </p:spPr>
        <p:txBody>
          <a:bodyPr>
            <a:noAutofit/>
          </a:bodyPr>
          <a:lstStyle/>
          <a:p>
            <a:r>
              <a:rPr lang="en-US" altLang="ko-KR" sz="1800" b="1" dirty="0"/>
              <a:t>Rossmann Store Sales </a:t>
            </a:r>
            <a:r>
              <a:rPr lang="ko-KR" altLang="en-US" sz="1800" b="1" dirty="0"/>
              <a:t>대회로 살펴본 </a:t>
            </a:r>
            <a:r>
              <a:rPr lang="en-US" altLang="ko-KR" sz="1800" b="1" dirty="0" err="1"/>
              <a:t>LightGBM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기반 리테일 매출 예측 최적화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A4076-D419-3CC4-2116-174DA1EEB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95" y="721899"/>
            <a:ext cx="5037221" cy="39463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결론 </a:t>
            </a:r>
          </a:p>
          <a:p>
            <a:r>
              <a:rPr lang="ko-KR" altLang="en-US" sz="1400" dirty="0"/>
              <a:t>이 사례의 핵심은 매출 예측에서 모델 구조보다 피처 설계가 더 중요하다는 점이다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날짜</a:t>
            </a:r>
            <a:r>
              <a:rPr lang="en-US" altLang="ko-KR" sz="1400" dirty="0"/>
              <a:t>, </a:t>
            </a:r>
            <a:r>
              <a:rPr lang="ko-KR" altLang="en-US" sz="1400" dirty="0"/>
              <a:t>프로모션</a:t>
            </a:r>
            <a:r>
              <a:rPr lang="en-US" altLang="ko-KR" sz="1400" dirty="0"/>
              <a:t>, </a:t>
            </a:r>
            <a:r>
              <a:rPr lang="ko-KR" altLang="en-US" sz="1400" dirty="0"/>
              <a:t>휴일</a:t>
            </a:r>
            <a:r>
              <a:rPr lang="en-US" altLang="ko-KR" sz="1400" dirty="0"/>
              <a:t>, </a:t>
            </a:r>
            <a:r>
              <a:rPr lang="ko-KR" altLang="en-US" sz="1400" dirty="0"/>
              <a:t>경쟁 매장 정보를 잘 반영할수록 매출 변동 패턴을 더 정교하게 학습할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ko-KR" altLang="en-US" sz="1400" dirty="0"/>
              <a:t>따라서 </a:t>
            </a:r>
            <a:r>
              <a:rPr lang="ko-KR" altLang="en-US" sz="1400" dirty="0" err="1"/>
              <a:t>머신러닝</a:t>
            </a:r>
            <a:r>
              <a:rPr lang="ko-KR" altLang="en-US" sz="1400" dirty="0"/>
              <a:t> 모델 최적화는 </a:t>
            </a:r>
            <a:r>
              <a:rPr lang="ko-KR" altLang="en-US" sz="1400" dirty="0" err="1"/>
              <a:t>하이퍼파라미터</a:t>
            </a:r>
            <a:r>
              <a:rPr lang="ko-KR" altLang="en-US" sz="1400" dirty="0"/>
              <a:t> 조정만이 아니라 데이터 </a:t>
            </a:r>
            <a:r>
              <a:rPr lang="ko-KR" altLang="en-US" sz="1400" dirty="0" err="1"/>
              <a:t>전처리</a:t>
            </a:r>
            <a:r>
              <a:rPr lang="en-US" altLang="ko-KR" sz="1400" dirty="0"/>
              <a:t>, </a:t>
            </a:r>
            <a:r>
              <a:rPr lang="ko-KR" altLang="en-US" sz="1400" dirty="0"/>
              <a:t>피처 엔지니어링</a:t>
            </a:r>
            <a:r>
              <a:rPr lang="en-US" altLang="ko-KR" sz="1400" dirty="0"/>
              <a:t>, </a:t>
            </a:r>
            <a:r>
              <a:rPr lang="ko-KR" altLang="en-US" sz="1400" dirty="0"/>
              <a:t>모델 비교</a:t>
            </a:r>
            <a:r>
              <a:rPr lang="en-US" altLang="ko-KR" sz="1400" dirty="0"/>
              <a:t>, </a:t>
            </a:r>
            <a:r>
              <a:rPr lang="ko-KR" altLang="en-US" sz="1400" dirty="0"/>
              <a:t>성능 평가가 결합된 전체 파이프라인 최적화이다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ko-KR" altLang="en-US" sz="1400" dirty="0"/>
              <a:t>실무적으로는 날씨</a:t>
            </a:r>
            <a:r>
              <a:rPr lang="en-US" altLang="ko-KR" sz="1400" dirty="0"/>
              <a:t>, </a:t>
            </a:r>
            <a:r>
              <a:rPr lang="ko-KR" altLang="en-US" sz="1400" dirty="0"/>
              <a:t>지역 행사</a:t>
            </a:r>
            <a:r>
              <a:rPr lang="en-US" altLang="ko-KR" sz="1400" dirty="0"/>
              <a:t>, </a:t>
            </a:r>
            <a:r>
              <a:rPr lang="ko-KR" altLang="en-US" sz="1400" dirty="0"/>
              <a:t>경쟁사 가격</a:t>
            </a:r>
            <a:r>
              <a:rPr lang="en-US" altLang="ko-KR" sz="1400" dirty="0"/>
              <a:t>, </a:t>
            </a:r>
            <a:r>
              <a:rPr lang="ko-KR" altLang="en-US" sz="1400" dirty="0"/>
              <a:t>재고량</a:t>
            </a:r>
            <a:r>
              <a:rPr lang="en-US" altLang="ko-KR" sz="1400" dirty="0"/>
              <a:t>, </a:t>
            </a:r>
            <a:r>
              <a:rPr lang="ko-KR" altLang="en-US" sz="1400" dirty="0"/>
              <a:t>온라인 </a:t>
            </a:r>
            <a:r>
              <a:rPr lang="ko-KR" altLang="en-US" sz="1400" dirty="0" err="1"/>
              <a:t>검색량</a:t>
            </a:r>
            <a:r>
              <a:rPr lang="en-US" altLang="ko-KR" sz="1400" dirty="0"/>
              <a:t>, </a:t>
            </a:r>
            <a:r>
              <a:rPr lang="ko-KR" altLang="en-US" sz="1400" dirty="0"/>
              <a:t>앱 방문 로그 등을 추가하면 더 정교한 수요 예측 시스템으로 확장할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DF0D162-2326-7DF1-B2C0-FD6922578511}"/>
              </a:ext>
            </a:extLst>
          </p:cNvPr>
          <p:cNvCxnSpPr/>
          <p:nvPr/>
        </p:nvCxnSpPr>
        <p:spPr>
          <a:xfrm>
            <a:off x="569495" y="569495"/>
            <a:ext cx="108364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97BE86BD-9EEE-5661-58AD-9596E9737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649" y="150898"/>
            <a:ext cx="1097151" cy="361698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0744B9D-33AC-FB48-B21B-E841BBF34974}"/>
              </a:ext>
            </a:extLst>
          </p:cNvPr>
          <p:cNvSpPr txBox="1">
            <a:spLocks/>
          </p:cNvSpPr>
          <p:nvPr/>
        </p:nvSpPr>
        <p:spPr>
          <a:xfrm>
            <a:off x="6096000" y="1252038"/>
            <a:ext cx="5037221" cy="3055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400" dirty="0"/>
              <a:t>참고 자료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1. Kaggle Rossmann Store Sales </a:t>
            </a:r>
            <a:r>
              <a:rPr lang="ko-KR" altLang="en-US" sz="1400" dirty="0"/>
              <a:t>대회</a:t>
            </a:r>
          </a:p>
          <a:p>
            <a:pPr marL="0" indent="0">
              <a:buNone/>
            </a:pPr>
            <a:r>
              <a:rPr lang="en-US" altLang="ko-KR" sz="1400" dirty="0"/>
              <a:t>https://www.kaggle.com/c/rossmann-store-sales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2. Rossmann Store Sales </a:t>
            </a:r>
            <a:r>
              <a:rPr lang="en-US" altLang="ko-KR" sz="1400" dirty="0" err="1"/>
              <a:t>LightGBM</a:t>
            </a:r>
            <a:r>
              <a:rPr lang="en-US" altLang="ko-KR" sz="1400" dirty="0"/>
              <a:t>/</a:t>
            </a:r>
            <a:r>
              <a:rPr lang="en-US" altLang="ko-KR" sz="1400" dirty="0" err="1"/>
              <a:t>XGBoost</a:t>
            </a:r>
            <a:r>
              <a:rPr lang="en-US" altLang="ko-KR" sz="1400" dirty="0"/>
              <a:t> </a:t>
            </a:r>
            <a:r>
              <a:rPr lang="ko-KR" altLang="en-US" sz="1400" dirty="0"/>
              <a:t>분석 공개 프로젝트</a:t>
            </a:r>
          </a:p>
          <a:p>
            <a:pPr marL="0" indent="0">
              <a:buNone/>
            </a:pPr>
            <a:r>
              <a:rPr lang="en-US" altLang="ko-KR" sz="1400" dirty="0"/>
              <a:t>https://github.com/ReoJun/Rossmann_Store_Sales</a:t>
            </a:r>
          </a:p>
        </p:txBody>
      </p:sp>
    </p:spTree>
    <p:extLst>
      <p:ext uri="{BB962C8B-B14F-4D97-AF65-F5344CB8AC3E}">
        <p14:creationId xmlns:p14="http://schemas.microsoft.com/office/powerpoint/2010/main" val="6106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439</Words>
  <Application>Microsoft Office PowerPoint</Application>
  <PresentationFormat>와이드스크린</PresentationFormat>
  <Paragraphs>42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Rossmann Store Sales 대회로 살펴본 LightGBM 기반 리테일 매출 예측 최적화 사례</vt:lpstr>
      <vt:lpstr>Rossmann Store Sales 대회로 살펴본 LightGBM 기반 리테일 매출 예측 최적화 사례</vt:lpstr>
      <vt:lpstr>Rossmann Store Sales 대회로 살펴본 LightGBM 기반 리테일 매출 예측 최적화 사례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이유섭</dc:creator>
  <cp:lastModifiedBy>이유섭</cp:lastModifiedBy>
  <cp:revision>4</cp:revision>
  <dcterms:created xsi:type="dcterms:W3CDTF">2026-06-04T02:41:47Z</dcterms:created>
  <dcterms:modified xsi:type="dcterms:W3CDTF">2026-06-10T10:29:06Z</dcterms:modified>
</cp:coreProperties>
</file>
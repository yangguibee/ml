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Default Extension="xlsx" ContentType="application/vnd.openxmlformats-officedocument.spreadsheetml.sheet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847" autoAdjust="0"/>
  </p:normalViewPr>
  <p:slideViewPr>
    <p:cSldViewPr snapToGrid="0" snapToObjects="1">
      <p:cViewPr>
        <p:scale>
          <a:sx n="100" d="100"/>
          <a:sy n="100" d="100"/>
        </p:scale>
        <p:origin x="-78" y="-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C9B1"/>
                </a:solidFill>
                <a:latin typeface="Arial"/>
              </a:defRPr>
            </a:pPr>
            <a:r>
              <a:rPr lang="ko-KR" altLang="en-US" sz="1200" b="0" i="0" u="none" strike="noStrike">
                <a:solidFill>
                  <a:srgbClr val="00C9B1"/>
                </a:solidFill>
                <a:latin typeface="Arial"/>
              </a:rPr>
              <a:t>클래스별 </a:t>
            </a:r>
            <a:r>
              <a:rPr lang="en-US" sz="1200" b="0" i="0" u="none" strike="noStrike">
                <a:solidFill>
                  <a:srgbClr val="00C9B1"/>
                </a:solidFill>
                <a:latin typeface="Arial"/>
              </a:rPr>
              <a:t>mAP50</a:t>
            </a:r>
          </a:p>
        </c:rich>
      </c:tx>
      <c:layout/>
    </c:title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00C9B1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Sidemirror</c:v>
                </c:pt>
                <c:pt idx="1">
                  <c:v>Taillight</c:v>
                </c:pt>
                <c:pt idx="2">
                  <c:v>Rear-WS</c:v>
                </c:pt>
                <c:pt idx="3">
                  <c:v>bonnet</c:v>
                </c:pt>
                <c:pt idx="4">
                  <c:v>doorouter</c:v>
                </c:pt>
                <c:pt idx="5">
                  <c:v>front-bmpr</c:v>
                </c:pt>
                <c:pt idx="6">
                  <c:v>Headlight</c:v>
                </c:pt>
                <c:pt idx="7">
                  <c:v>fender</c:v>
                </c:pt>
                <c:pt idx="8">
                  <c:v>quaterpnl</c:v>
                </c:pt>
                <c:pt idx="9">
                  <c:v>rear-bmpr</c:v>
                </c:pt>
                <c:pt idx="10">
                  <c:v>Front-WS</c:v>
                </c:pt>
                <c:pt idx="11">
                  <c:v>roof</c:v>
                </c:pt>
                <c:pt idx="12">
                  <c:v>boot</c:v>
                </c:pt>
                <c:pt idx="13">
                  <c:v>Running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0.21200000000000002</c:v>
                </c:pt>
                <c:pt idx="1">
                  <c:v>0.251</c:v>
                </c:pt>
                <c:pt idx="2">
                  <c:v>0.27900000000000003</c:v>
                </c:pt>
                <c:pt idx="3">
                  <c:v>0.27500000000000002</c:v>
                </c:pt>
                <c:pt idx="4">
                  <c:v>0.24800000000000003</c:v>
                </c:pt>
                <c:pt idx="5">
                  <c:v>0.19500000000000003</c:v>
                </c:pt>
                <c:pt idx="6">
                  <c:v>0.10900000000000001</c:v>
                </c:pt>
                <c:pt idx="7">
                  <c:v>0.14000000000000001</c:v>
                </c:pt>
                <c:pt idx="8">
                  <c:v>6.8000000000000019E-2</c:v>
                </c:pt>
                <c:pt idx="9">
                  <c:v>0.14500000000000002</c:v>
                </c:pt>
                <c:pt idx="10">
                  <c:v>0.18200000000000002</c:v>
                </c:pt>
                <c:pt idx="11">
                  <c:v>1.6000000000000004E-2</c:v>
                </c:pt>
                <c:pt idx="12">
                  <c:v>4.000000000000001E-3</c:v>
                </c:pt>
                <c:pt idx="13">
                  <c:v>7.0000000000000019E-3</c:v>
                </c:pt>
              </c:numCache>
            </c:numRef>
          </c:val>
        </c:ser>
        <c:dLbls/>
        <c:axId val="158067712"/>
        <c:axId val="158069504"/>
      </c:barChart>
      <c:catAx>
        <c:axId val="158067712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8E8"/>
                </a:solidFill>
                <a:latin typeface="Arial"/>
              </a:defRPr>
            </a:pPr>
            <a:endParaRPr lang="ko-KR"/>
          </a:p>
        </c:txPr>
        <c:crossAx val="158069504"/>
        <c:crosses val="autoZero"/>
        <c:auto val="1"/>
        <c:lblAlgn val="ctr"/>
        <c:lblOffset val="100"/>
        <c:noMultiLvlLbl val="1"/>
      </c:catAx>
      <c:valAx>
        <c:axId val="158069504"/>
        <c:scaling>
          <c:orientation val="minMax"/>
        </c:scaling>
        <c:axPos val="b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8E8"/>
                </a:solidFill>
                <a:latin typeface="Arial"/>
              </a:defRPr>
            </a:pPr>
            <a:endParaRPr lang="ko-KR"/>
          </a:p>
        </c:txPr>
        <c:crossAx val="158067712"/>
        <c:crosses val="autoZero"/>
        <c:crossBetween val="between"/>
      </c:valAx>
      <c:spPr>
        <a:solidFill>
          <a:srgbClr val="162032"/>
        </a:solidFill>
        <a:ln>
          <a:noFill/>
        </a:ln>
        <a:effectLst/>
      </c:spPr>
    </c:plotArea>
    <c:plotVisOnly val="1"/>
    <c:dispBlanksAs val="span"/>
  </c:chart>
  <c:spPr>
    <a:solidFill>
      <a:srgbClr val="162032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0"/>
          </a:xfrm>
          <a:prstGeom prst="rect">
            <a:avLst/>
          </a:prstGeom>
          <a:solidFill>
            <a:srgbClr val="111D2B"/>
          </a:solidFill>
          <a:ln w="12700">
            <a:solidFill>
              <a:srgbClr val="111D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+mn-ea"/>
                <a:cs typeface="Arial Black" pitchFamily="34" charset="-120"/>
              </a:rPr>
              <a:t>Car Damage Detection</a:t>
            </a:r>
            <a:endParaRPr lang="en-US" sz="3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Kaggle Competition  |  YOLOv8 Object Detection</a:t>
            </a:r>
            <a:endParaRPr lang="en-US" sz="130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7223760" y="182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+mn-ea"/>
                <a:cs typeface="Calibri" pitchFamily="34" charset="-120"/>
              </a:rPr>
              <a:t>Apr 30 – May 8</a:t>
            </a:r>
            <a:endParaRPr lang="en-US" sz="1100" dirty="0">
              <a:latin typeface="+mn-ea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+mn-ea"/>
                <a:cs typeface="Calibri" pitchFamily="34" charset="-120"/>
              </a:rPr>
              <a:t>2026</a:t>
            </a:r>
            <a:endParaRPr lang="en-US" sz="11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3840480" cy="107899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61872"/>
            <a:ext cx="64008" cy="10789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🔍 </a:t>
            </a:r>
            <a:r>
              <a:rPr lang="en-US" sz="1100" b="1" dirty="0" smtClean="0">
                <a:solidFill>
                  <a:srgbClr val="00C9B1"/>
                </a:solidFill>
                <a:latin typeface="+mn-ea"/>
                <a:cs typeface="Calibri" pitchFamily="34" charset="-120"/>
              </a:rPr>
              <a:t>Task</a:t>
            </a:r>
            <a:endParaRPr lang="en-US" sz="1100" dirty="0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차량 외관 손상 탐지</a:t>
            </a:r>
            <a:endParaRPr lang="en-US" sz="1300" dirty="0">
              <a:latin typeface="+mn-ea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(Object Detection)</a:t>
            </a:r>
            <a:endParaRPr lang="en-US" sz="13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496312"/>
            <a:ext cx="3840480" cy="107899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496312"/>
            <a:ext cx="64008" cy="10789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0C9B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Dataset</a:t>
            </a:r>
            <a:endParaRPr lang="en-US" sz="1100" dirty="0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 smtClean="0">
                <a:solidFill>
                  <a:srgbClr val="FFFFFF"/>
                </a:solidFill>
                <a:latin typeface="+mn-ea"/>
                <a:cs typeface="Calibri" pitchFamily="34" charset="-120"/>
              </a:rPr>
              <a:t>학습데이터</a:t>
            </a:r>
            <a:r>
              <a:rPr lang="en-US" sz="1300" dirty="0" smtClean="0">
                <a:solidFill>
                  <a:srgbClr val="FFFFFF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52장  /  </a:t>
            </a:r>
            <a:r>
              <a:rPr lang="ko-KR" altLang="en-US" sz="1300" dirty="0" smtClean="0">
                <a:solidFill>
                  <a:srgbClr val="FFFFFF"/>
                </a:solidFill>
                <a:latin typeface="+mn-ea"/>
                <a:cs typeface="Calibri" pitchFamily="34" charset="-120"/>
              </a:rPr>
              <a:t>검증 데이터</a:t>
            </a:r>
            <a:r>
              <a:rPr lang="en-US" sz="1300" dirty="0" smtClean="0">
                <a:solidFill>
                  <a:srgbClr val="FFFFFF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1,043장</a:t>
            </a:r>
            <a:endParaRPr lang="en-US" sz="1300" dirty="0">
              <a:latin typeface="+mn-ea"/>
            </a:endParaRPr>
          </a:p>
          <a:p>
            <a:pPr marL="0" indent="0">
              <a:buNone/>
            </a:pPr>
            <a:r>
              <a:rPr lang="ko-KR" altLang="en-US" sz="1300" dirty="0" smtClean="0">
                <a:solidFill>
                  <a:srgbClr val="FFFFFF"/>
                </a:solidFill>
                <a:latin typeface="+mn-ea"/>
                <a:cs typeface="Calibri" pitchFamily="34" charset="-120"/>
              </a:rPr>
              <a:t>테스트용 데이터</a:t>
            </a:r>
            <a:r>
              <a:rPr lang="en-US" sz="1300" dirty="0" smtClean="0">
                <a:solidFill>
                  <a:srgbClr val="FFFFFF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698장</a:t>
            </a:r>
            <a:endParaRPr lang="en-US" sz="1300" dirty="0">
              <a:latin typeface="+mn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3730752"/>
            <a:ext cx="3840480" cy="107899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730752"/>
            <a:ext cx="64008" cy="10789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0C9B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Metric</a:t>
            </a:r>
            <a:endParaRPr lang="en-US" sz="1100" dirty="0">
              <a:latin typeface="+mn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mAP@50</a:t>
            </a:r>
            <a:endParaRPr lang="en-US" sz="1300" dirty="0">
              <a:latin typeface="+mn-ea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(IoU ≥ 50% 기준)</a:t>
            </a:r>
            <a:endParaRPr lang="en-US" sz="1300" dirty="0">
              <a:latin typeface="+mn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80560" y="1261872"/>
            <a:ext cx="4480560" cy="363931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00C9B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Detection Classes (14)</a:t>
            </a:r>
            <a:endParaRPr lang="en-US" sz="1200" dirty="0">
              <a:latin typeface="+mn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17720" y="1783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bonnet-dent</a:t>
            </a:r>
            <a:endParaRPr lang="en-US" sz="1000" dirty="0">
              <a:latin typeface="+mn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17720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doorouter-dent</a:t>
            </a:r>
            <a:endParaRPr lang="en-US" sz="1000" dirty="0">
              <a:latin typeface="+mn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17720" y="22768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front-bumper-dent</a:t>
            </a:r>
            <a:endParaRPr lang="en-US" sz="1000" dirty="0">
              <a:latin typeface="+mn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17720" y="2523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rear-bumper-dent</a:t>
            </a:r>
            <a:endParaRPr lang="en-US" sz="1000" dirty="0">
              <a:latin typeface="+mn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17720" y="2770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fender-dent</a:t>
            </a:r>
            <a:endParaRPr lang="en-US" sz="10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17720" y="3017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roof-dent</a:t>
            </a:r>
            <a:endParaRPr lang="en-US" sz="1000" dirty="0">
              <a:latin typeface="+mn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17720" y="3264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quaterpanel-dent</a:t>
            </a:r>
            <a:endParaRPr lang="en-US" sz="1000" dirty="0">
              <a:latin typeface="+mn-ea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7512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boot-dent</a:t>
            </a:r>
            <a:endParaRPr lang="en-US" sz="1000" dirty="0">
              <a:latin typeface="+mn-ea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75120" y="2029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Headlight-damage</a:t>
            </a:r>
            <a:endParaRPr lang="en-US" sz="1000" dirty="0">
              <a:latin typeface="+mn-ea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75120" y="22768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Taillight-Damage</a:t>
            </a:r>
            <a:endParaRPr lang="en-US" sz="1000" dirty="0">
              <a:latin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75120" y="2523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Sidemirror-Damage</a:t>
            </a:r>
            <a:endParaRPr lang="en-US" sz="1000" dirty="0">
              <a:latin typeface="+mn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75120" y="2770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Front-windscreen-damage</a:t>
            </a:r>
            <a:endParaRPr lang="en-US" sz="1000" dirty="0">
              <a:latin typeface="+mn-ea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75120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Rear-windscreen-Damage</a:t>
            </a:r>
            <a:endParaRPr lang="en-US" sz="1000" dirty="0">
              <a:latin typeface="+mn-ea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75120" y="32644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• Runningboard-Damage</a:t>
            </a:r>
            <a:endParaRPr lang="en-US" sz="1000" dirty="0">
              <a:latin typeface="+mn-ea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65760" y="46451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11D2B"/>
          </a:solidFill>
          <a:ln w="12700">
            <a:solidFill>
              <a:srgbClr val="111D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+mn-ea"/>
                <a:cs typeface="Arial Black" pitchFamily="34" charset="-120"/>
              </a:rPr>
              <a:t>YOLOv8 최적화 방법 &amp; 성능 결과</a:t>
            </a:r>
            <a:endParaRPr lang="en-US" sz="28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1480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8229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207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Transfer Learning</a:t>
            </a:r>
            <a:endParaRPr lang="en-US" sz="120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6344" y="1481328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COCO pretrained YOLOv8s 가중치</a:t>
            </a:r>
            <a:endParaRPr lang="en-US" sz="1050" dirty="0">
              <a:latin typeface="+mn-ea"/>
            </a:endParaRPr>
          </a:p>
          <a:p>
            <a:pPr marL="0" indent="0">
              <a:buNone/>
            </a:pPr>
            <a:r>
              <a:rPr lang="en-US" sz="1050" dirty="0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- </a:t>
            </a:r>
            <a:r>
              <a:rPr lang="ko-KR" altLang="en-US" sz="1050" dirty="0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이미 학습된 </a:t>
            </a:r>
            <a:r>
              <a:rPr lang="ko-KR" altLang="en-US" sz="1050" dirty="0" err="1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데이터셋에</a:t>
            </a:r>
            <a:r>
              <a:rPr lang="ko-KR" altLang="en-US" sz="1050" dirty="0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 맞게 추가 학습</a:t>
            </a:r>
            <a:endParaRPr lang="en-US" sz="1050" dirty="0"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039112"/>
            <a:ext cx="411480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039112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2103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 smtClean="0">
                <a:solidFill>
                  <a:srgbClr val="F59E0B"/>
                </a:solidFill>
                <a:latin typeface="+mn-ea"/>
                <a:cs typeface="Calibri" pitchFamily="34" charset="-120"/>
              </a:rPr>
              <a:t>자동 최적화</a:t>
            </a:r>
            <a:endParaRPr lang="en-US" sz="120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6344" y="237744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AdamW 자동 선택 (lr=0.000556)</a:t>
            </a:r>
            <a:endParaRPr lang="en-US" sz="1050" dirty="0">
              <a:latin typeface="+mn-ea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Warm-up 3 epoch 적용</a:t>
            </a:r>
            <a:endParaRPr lang="en-US" sz="105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935224"/>
            <a:ext cx="411480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35224"/>
            <a:ext cx="64008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" y="2999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 smtClean="0">
                <a:solidFill>
                  <a:srgbClr val="A78BFA"/>
                </a:solidFill>
                <a:latin typeface="+mn-ea"/>
                <a:cs typeface="Calibri" pitchFamily="34" charset="-120"/>
              </a:rPr>
              <a:t>데이터 증강</a:t>
            </a:r>
            <a:endParaRPr lang="en-US" sz="1200" dirty="0">
              <a:latin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6344" y="3273552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Albumentations</a:t>
            </a:r>
            <a:r>
              <a:rPr lang="en-US" sz="1050" dirty="0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: </a:t>
            </a:r>
            <a:r>
              <a:rPr lang="ko-KR" altLang="en-US" sz="1050" dirty="0" err="1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블러</a:t>
            </a:r>
            <a:r>
              <a:rPr lang="en-US" altLang="ko-KR" sz="1050" dirty="0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, </a:t>
            </a:r>
            <a:r>
              <a:rPr lang="ko-KR" altLang="en-US" sz="1050" dirty="0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명암조정</a:t>
            </a:r>
            <a:r>
              <a:rPr lang="en-US" altLang="ko-KR" sz="1050" dirty="0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, </a:t>
            </a:r>
            <a:r>
              <a:rPr lang="ko-KR" altLang="en-US" sz="1050" dirty="0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흑백</a:t>
            </a:r>
            <a:r>
              <a:rPr lang="en-US" altLang="ko-KR" sz="1050" dirty="0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, </a:t>
            </a:r>
            <a:r>
              <a:rPr lang="ko-KR" altLang="en-US" sz="1050" dirty="0" smtClean="0">
                <a:solidFill>
                  <a:srgbClr val="C8D8E8"/>
                </a:solidFill>
                <a:latin typeface="+mn-ea"/>
                <a:cs typeface="Calibri" pitchFamily="34" charset="-120"/>
              </a:rPr>
              <a:t>좌우 반전 등으로 데이터 증강</a:t>
            </a:r>
            <a:endParaRPr lang="en-US" sz="1050" dirty="0">
              <a:latin typeface="+mn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3831336"/>
            <a:ext cx="411480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831336"/>
            <a:ext cx="64008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" y="3895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+mn-ea"/>
                <a:cs typeface="Calibri" pitchFamily="34" charset="-120"/>
              </a:rPr>
              <a:t>AMP </a:t>
            </a:r>
            <a:r>
              <a:rPr lang="en-US" sz="1200" b="1" dirty="0" smtClean="0">
                <a:solidFill>
                  <a:srgbClr val="34D399"/>
                </a:solidFill>
                <a:latin typeface="+mn-ea"/>
                <a:cs typeface="Calibri" pitchFamily="34" charset="-120"/>
              </a:rPr>
              <a:t>(</a:t>
            </a:r>
            <a:r>
              <a:rPr lang="ko-KR" altLang="en-US" sz="1200" b="1" dirty="0" smtClean="0">
                <a:solidFill>
                  <a:srgbClr val="34D399"/>
                </a:solidFill>
                <a:latin typeface="+mn-ea"/>
                <a:cs typeface="Calibri" pitchFamily="34" charset="-120"/>
              </a:rPr>
              <a:t>자동 혼합 예측</a:t>
            </a:r>
            <a:r>
              <a:rPr lang="en-US" altLang="ko-KR" sz="1200" b="1" dirty="0" smtClean="0">
                <a:solidFill>
                  <a:srgbClr val="34D399"/>
                </a:solidFill>
                <a:latin typeface="+mn-ea"/>
                <a:cs typeface="Calibri" pitchFamily="34" charset="-120"/>
              </a:rPr>
              <a:t>)</a:t>
            </a:r>
            <a:endParaRPr lang="en-US" sz="1200" dirty="0">
              <a:latin typeface="+mn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6344" y="416966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FP16 연산 → 학습 속도 향상</a:t>
            </a:r>
            <a:endParaRPr lang="en-US" sz="1050" dirty="0">
              <a:latin typeface="+mn-ea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+mn-ea"/>
                <a:cs typeface="Calibri" pitchFamily="34" charset="-120"/>
              </a:rPr>
              <a:t>GPU 메모리 효율 최적화</a:t>
            </a:r>
            <a:endParaRPr lang="en-US" sz="1050" dirty="0">
              <a:latin typeface="+mn-ea"/>
            </a:endParaRPr>
          </a:p>
        </p:txBody>
      </p:sp>
      <p:graphicFrame>
        <p:nvGraphicFramePr>
          <p:cNvPr id="22" name="Chart 0"/>
          <p:cNvGraphicFramePr/>
          <p:nvPr/>
        </p:nvGraphicFramePr>
        <p:xfrm>
          <a:off x="4617720" y="1078992"/>
          <a:ext cx="43434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4434840" y="3794760"/>
            <a:ext cx="434340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916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AB5"/>
                </a:solidFill>
                <a:latin typeface="+mn-ea"/>
                <a:cs typeface="Calibri" pitchFamily="34" charset="-120"/>
              </a:rPr>
              <a:t>mAP@50</a:t>
            </a:r>
            <a:endParaRPr lang="en-US" sz="1000" dirty="0">
              <a:latin typeface="+mn-ea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709160" y="4096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B1"/>
                </a:solidFill>
                <a:latin typeface="+mn-ea"/>
                <a:cs typeface="Arial Black" pitchFamily="34" charset="-120"/>
              </a:rPr>
              <a:t>0.152</a:t>
            </a:r>
            <a:endParaRPr lang="en-US" sz="2800" dirty="0">
              <a:latin typeface="+mn-ea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263640" y="38404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1 </a:t>
            </a:r>
            <a:r>
              <a:rPr lang="en-US" sz="100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Epoch만 학습 → epoch 증가 시 개선 가능
</a:t>
            </a:r>
            <a:endParaRPr lang="en-US" sz="1000" dirty="0" smtClean="0">
              <a:solidFill>
                <a:schemeClr val="bg1"/>
              </a:solidFill>
              <a:latin typeface="+mn-ea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err="1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학습</a:t>
            </a:r>
            <a:r>
              <a:rPr lang="en-US" sz="1000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데이터 52장으로 매우 부족
</a:t>
            </a:r>
            <a:endParaRPr lang="en-US" sz="1000" dirty="0" smtClean="0">
              <a:solidFill>
                <a:schemeClr val="bg1"/>
              </a:solidFill>
              <a:latin typeface="+mn-ea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err="1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Pretrained</a:t>
            </a:r>
            <a:r>
              <a:rPr lang="en-US" sz="1000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덕분에 1 epoch에도 동작</a:t>
            </a:r>
            <a:endParaRPr lang="en-US" sz="1000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161</Words>
  <Application>Microsoft Office PowerPoint</Application>
  <PresentationFormat>화면 슬라이드 쇼(16:9)</PresentationFormat>
  <Paragraphs>48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Theme</vt:lpstr>
      <vt:lpstr>슬라이드 1</vt:lpstr>
      <vt:lpstr>슬라이드 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8</cp:revision>
  <dcterms:created xsi:type="dcterms:W3CDTF">2026-06-04T00:30:05Z</dcterms:created>
  <dcterms:modified xsi:type="dcterms:W3CDTF">2026-06-04T00:46:04Z</dcterms:modified>
</cp:coreProperties>
</file>
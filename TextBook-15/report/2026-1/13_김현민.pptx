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22" d="100"/>
          <a:sy n="122" d="100"/>
        </p:scale>
        <p:origin x="224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Noto Sans CJK KR"/>
              </a:defRPr>
            </a:pPr>
            <a:r>
              <a:t>15장. ML 최적화 사례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Noto Sans CJK KR"/>
              </a:defRPr>
            </a:pPr>
            <a:r>
              <a:t>중고거래 상품 가격 예측 모델 최적화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6217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Noto Sans CJK KR"/>
              </a:defRPr>
            </a:pPr>
            <a:r>
              <a:t>Kaggle Mercari Price Suggestion Challenge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50292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Noto Sans CJK KR"/>
              </a:defRPr>
            </a:pPr>
            <a:r>
              <a:t>김현민(202576620)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514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Noto Sans CJK KR"/>
              </a:defRPr>
            </a:pPr>
            <a:r>
              <a:t>판매자 입력 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30520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99100"/>
            <a:ext cx="694944" cy="118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Noto Sans CJK KR"/>
              </a:defRPr>
            </a:pPr>
            <a:r>
              <a:t>상품명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430520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46504" y="2499100"/>
            <a:ext cx="694944" cy="118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Noto Sans CJK KR"/>
              </a:defRPr>
            </a:pPr>
            <a:r>
              <a:t>설명문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2430520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24327" y="2499100"/>
            <a:ext cx="694944" cy="118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>
                <a:solidFill>
                  <a:srgbClr val="14B8A6"/>
                </a:solidFill>
                <a:latin typeface="Noto Sans CJK KR"/>
              </a:defRPr>
            </a:pPr>
            <a:r>
              <a:t>카테고리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14568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83148"/>
            <a:ext cx="694944" cy="118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>
                <a:solidFill>
                  <a:srgbClr val="14B8A6"/>
                </a:solidFill>
                <a:latin typeface="Noto Sans CJK KR"/>
              </a:defRPr>
            </a:pPr>
            <a:r>
              <a:t>브랜드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9072" y="2814568"/>
            <a:ext cx="8961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46504" y="2883148"/>
            <a:ext cx="841247" cy="118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>
                <a:solidFill>
                  <a:srgbClr val="14B8A6"/>
                </a:solidFill>
                <a:latin typeface="Noto Sans CJK KR"/>
              </a:defRPr>
            </a:pPr>
            <a:r>
              <a:t>상태/배송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67328" y="2240280"/>
            <a:ext cx="960120" cy="5029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83480" y="1874519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2084831"/>
            <a:ext cx="16916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Noto Sans CJK KR"/>
              </a:defRPr>
            </a:pPr>
            <a:r>
              <a:t>가격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514600"/>
            <a:ext cx="17373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Noto Sans CJK KR"/>
              </a:defRPr>
            </a:pPr>
            <a:r>
              <a:t>Regression</a:t>
            </a:r>
          </a:p>
          <a:p>
            <a:pPr algn="ctr">
              <a:defRPr sz="1500" b="0">
                <a:solidFill>
                  <a:srgbClr val="64748B"/>
                </a:solidFill>
                <a:latin typeface="Noto Sans CJK KR"/>
              </a:defRPr>
            </a:pPr>
            <a:r>
              <a:t>Metric: RMSLE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79792" y="2240280"/>
            <a:ext cx="1005840" cy="5029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59952" y="1874519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Noto Sans CJK KR"/>
              </a:defRPr>
            </a:pPr>
            <a:r>
              <a:t>추천 가격 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14600"/>
            <a:ext cx="20574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Noto Sans CJK KR"/>
              </a:defRPr>
            </a:pPr>
            <a:r>
              <a:t>판매자가 너무 싸거나</a:t>
            </a:r>
          </a:p>
          <a:p>
            <a:pPr algn="ctr">
              <a:defRPr sz="1300" b="0">
                <a:solidFill>
                  <a:srgbClr val="64748B"/>
                </a:solidFill>
                <a:latin typeface="Noto Sans CJK KR"/>
              </a:defRPr>
            </a:pPr>
            <a:r>
              <a:t>비싸게 올리는 문제 완화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70332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867911"/>
            <a:ext cx="30632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대회 개요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270248"/>
            <a:ext cx="306324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436631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완료된 Kaggle 챌린지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77779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목표: listing 정보로 판매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18927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텍스트 + 범주형 정형 데이터 결합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70332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3867911"/>
            <a:ext cx="30632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데이터 특징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270248"/>
            <a:ext cx="3063240" cy="320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08576" y="436631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name, item_description: 텍스트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477779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category_name, brand_name: 범주형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8576" y="5189276"/>
            <a:ext cx="299008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item_condition_id, shipping: 상태/배송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3703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3867911"/>
            <a:ext cx="2971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왜 최적화 사례인가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270248"/>
            <a:ext cx="297180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57615" y="4366316"/>
            <a:ext cx="289864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텍스트 피처가 성능 핵심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5" y="4777796"/>
            <a:ext cx="289864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희소 모델과 NN 모델 조합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5" y="5189276"/>
            <a:ext cx="2898648" cy="3017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70" b="0">
                <a:solidFill>
                  <a:srgbClr val="0F172A"/>
                </a:solidFill>
                <a:latin typeface="Noto Sans CJK KR"/>
              </a:defRPr>
            </a:pPr>
            <a:r>
              <a:t>• 최종 성능은 앙상블로 개선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28232"/>
            <a:ext cx="8961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Noto Sans CJK KR"/>
              </a:defRPr>
            </a:pPr>
            <a:r>
              <a:t>Source: Kaggle Mercari Price Suggestion Challenge, Mercari Engineering Blog, aerdem4 GitHub solution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CJK KR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3200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Noto Sans CJK KR"/>
              </a:defRPr>
            </a:pPr>
            <a:r>
              <a:t>최적화 방법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680960" cy="4389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Noto Sans CJK KR"/>
              </a:defRPr>
            </a:pPr>
            <a:r>
              <a:t>성능 개선의 핵심은 “텍스트 피처화 + 모델 앙상블”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7680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Noto Sans CJK KR"/>
              </a:defRPr>
            </a:pPr>
            <a:r>
              <a:t>단일 모델보다 서로 다른 강점을 가진 모델을 결합해 예측 오차를 줄임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202996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12264"/>
            <a:ext cx="438912" cy="137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097129"/>
            <a:ext cx="14630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rPr dirty="0" err="1"/>
              <a:t>전처리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8" y="2606040"/>
            <a:ext cx="1993392" cy="960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결측 브랜드 / 카테고리 처리</a:t>
            </a:r>
          </a:p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가격은 log 변환으로 왜도 완화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202996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112264"/>
            <a:ext cx="438912" cy="137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2097129"/>
            <a:ext cx="14630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Feature 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06040"/>
            <a:ext cx="1993392" cy="960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상품명 · 설명문 → n-gram / TF-IDF</a:t>
            </a:r>
          </a:p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카테고리 · 상태 · 배송은 범주형 피처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28231" y="202996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2112264"/>
            <a:ext cx="438912" cy="137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097129"/>
            <a:ext cx="14630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모델 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2606040"/>
            <a:ext cx="1993392" cy="960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Ridge · FM_FTRL: 희소 텍스트에 강함</a:t>
            </a:r>
          </a:p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NN/MLP: embedding으로 비선형 패턴 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74519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62872" y="2029968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2112264"/>
            <a:ext cx="438912" cy="137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2097129"/>
            <a:ext cx="14630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Noto Sans CJK KR"/>
              </a:defRPr>
            </a:pPr>
            <a:r>
              <a:t>앙상블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7" y="2606040"/>
            <a:ext cx="1993392" cy="960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희소 선형 모델 + 신경망 결과 결합</a:t>
            </a:r>
          </a:p>
          <a:p>
            <a:pPr>
              <a:defRPr sz="1150" b="0">
                <a:solidFill>
                  <a:srgbClr val="0F172A"/>
                </a:solidFill>
                <a:latin typeface="Noto Sans CJK KR"/>
              </a:defRPr>
            </a:pPr>
            <a:r>
              <a:t>개별 모델 약점을 평균화해 안정성 향상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389120"/>
            <a:ext cx="10972800" cy="12070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4960" y="4815652"/>
            <a:ext cx="613279" cy="353943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Noto Sans CJK KR"/>
              </a:defRPr>
            </a:pPr>
            <a:r>
              <a:rPr dirty="0" err="1"/>
              <a:t>결론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2148839" y="4753407"/>
            <a:ext cx="9125711" cy="50783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50" b="0">
                <a:solidFill>
                  <a:srgbClr val="0F172A"/>
                </a:solidFill>
                <a:latin typeface="Noto Sans CJK KR"/>
              </a:defRPr>
            </a:pPr>
            <a:r>
              <a:rPr dirty="0"/>
              <a:t>Mercari </a:t>
            </a:r>
            <a:r>
              <a:rPr dirty="0" err="1"/>
              <a:t>사례는</a:t>
            </a:r>
            <a:r>
              <a:rPr dirty="0"/>
              <a:t> “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선택”보다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표현</a:t>
            </a:r>
            <a:r>
              <a:rPr dirty="0"/>
              <a:t> </a:t>
            </a:r>
            <a:r>
              <a:rPr dirty="0" err="1"/>
              <a:t>방식이</a:t>
            </a:r>
            <a:r>
              <a:rPr dirty="0"/>
              <a:t> </a:t>
            </a:r>
            <a:r>
              <a:rPr dirty="0" err="1"/>
              <a:t>중요하다는</a:t>
            </a:r>
            <a:r>
              <a:rPr dirty="0"/>
              <a:t> </a:t>
            </a:r>
            <a:r>
              <a:rPr dirty="0" err="1"/>
              <a:t>점을</a:t>
            </a:r>
            <a:r>
              <a:rPr dirty="0"/>
              <a:t> </a:t>
            </a:r>
            <a:r>
              <a:rPr dirty="0" err="1"/>
              <a:t>보여준다</a:t>
            </a:r>
            <a:r>
              <a:rPr dirty="0"/>
              <a:t>.</a:t>
            </a:r>
          </a:p>
          <a:p>
            <a:pPr>
              <a:defRPr sz="1350" b="0">
                <a:solidFill>
                  <a:srgbClr val="0F172A"/>
                </a:solidFill>
                <a:latin typeface="Noto Sans CJK KR"/>
              </a:defRPr>
            </a:pP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성능은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설명</a:t>
            </a:r>
            <a:r>
              <a:rPr dirty="0"/>
              <a:t> </a:t>
            </a:r>
            <a:r>
              <a:rPr dirty="0" err="1"/>
              <a:t>텍스트를</a:t>
            </a:r>
            <a:r>
              <a:rPr dirty="0"/>
              <a:t> </a:t>
            </a:r>
            <a:r>
              <a:rPr dirty="0" err="1"/>
              <a:t>수치화하고</a:t>
            </a:r>
            <a:r>
              <a:rPr dirty="0"/>
              <a:t>, </a:t>
            </a:r>
            <a:r>
              <a:rPr dirty="0" err="1"/>
              <a:t>정형</a:t>
            </a:r>
            <a:r>
              <a:rPr dirty="0"/>
              <a:t> </a:t>
            </a:r>
            <a:r>
              <a:rPr dirty="0" err="1"/>
              <a:t>피처와</a:t>
            </a:r>
            <a:r>
              <a:rPr dirty="0"/>
              <a:t> </a:t>
            </a:r>
            <a:r>
              <a:rPr dirty="0" err="1"/>
              <a:t>결합한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,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앙상블하면서</a:t>
            </a:r>
            <a:r>
              <a:rPr dirty="0"/>
              <a:t> </a:t>
            </a:r>
            <a:r>
              <a:rPr dirty="0" err="1"/>
              <a:t>개선되었다</a:t>
            </a:r>
            <a:r>
              <a:rPr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28232"/>
            <a:ext cx="8046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Noto Sans CJK KR"/>
              </a:defRPr>
            </a:pPr>
            <a:r>
              <a:t>Source: Kaggle competition page; Mercari Engineering Blog; aerdem4 ranked solution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28232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Noto Sans CJK KR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Macintosh PowerPoint</Application>
  <PresentationFormat>와이드스크린</PresentationFormat>
  <Paragraphs>54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15장. ML 최적화 사례 발표</dc:title>
  <dc:subject>Kaggle Mercari Price Suggestion Challenge 리뷰</dc:subject>
  <dc:creator>김현민</dc:creator>
  <cp:keywords/>
  <dc:description>4분 발표 기준 2장 구성</dc:description>
  <cp:lastModifiedBy>김현민</cp:lastModifiedBy>
  <cp:revision>2</cp:revision>
  <dcterms:created xsi:type="dcterms:W3CDTF">2013-01-27T09:14:16Z</dcterms:created>
  <dcterms:modified xsi:type="dcterms:W3CDTF">2026-06-11T06:50:36Z</dcterms:modified>
  <cp:category/>
</cp:coreProperties>
</file>
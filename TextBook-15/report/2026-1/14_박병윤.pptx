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qExLu05Q7B90rUn3DwVR6PvW7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816D6A-DA8B-432E-919D-5A9B799D4AF8}">
  <a:tblStyle styleId="{A3816D6A-DA8B-432E-919D-5A9B799D4A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</c:v>
                </c:pt>
              </c:strCache>
            </c:strRef>
          </c:tx>
          <c:spPr>
            <a:solidFill>
              <a:srgbClr val="8B7B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DE-4BE1-BC39-CB00B5D57477}"/>
              </c:ext>
            </c:extLst>
          </c:dPt>
          <c:dPt>
            <c:idx val="1"/>
            <c:invertIfNegative val="0"/>
            <c:bubble3D val="0"/>
            <c:spPr>
              <a:solidFill>
                <a:srgbClr val="34D6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DE-4BE1-BC39-CB00B5D57477}"/>
              </c:ext>
            </c:extLst>
          </c:dPt>
          <c:dPt>
            <c:idx val="2"/>
            <c:invertIfNegative val="0"/>
            <c:bubble3D val="0"/>
            <c:spPr>
              <a:solidFill>
                <a:srgbClr val="F5C2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DE-4BE1-BC39-CB00B5D5747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AF0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GALAXY</c:v>
                </c:pt>
                <c:pt idx="1">
                  <c:v>QSO</c:v>
                </c:pt>
                <c:pt idx="2">
                  <c:v>STAR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65.400000000000006</c:v>
                </c:pt>
                <c:pt idx="1">
                  <c:v>20.3</c:v>
                </c:pt>
                <c:pt idx="2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DE-4BE1-BC39-CB00B5D57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21C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C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balacc</c:v>
                </c:pt>
              </c:strCache>
            </c:strRef>
          </c:tx>
          <c:spPr>
            <a:solidFill>
              <a:srgbClr val="9FB0D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D5-4200-BEAE-D086E81165E5}"/>
              </c:ext>
            </c:extLst>
          </c:dPt>
          <c:dPt>
            <c:idx val="1"/>
            <c:invertIfNegative val="0"/>
            <c:bubble3D val="0"/>
            <c:spPr>
              <a:solidFill>
                <a:srgbClr val="34D6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D5-4200-BEAE-D086E81165E5}"/>
              </c:ext>
            </c:extLst>
          </c:dPt>
          <c:dPt>
            <c:idx val="2"/>
            <c:invertIfNegative val="0"/>
            <c:bubble3D val="0"/>
            <c:spPr>
              <a:solidFill>
                <a:srgbClr val="3FD1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D5-4200-BEAE-D086E81165E5}"/>
              </c:ext>
            </c:extLst>
          </c:dPt>
          <c:dPt>
            <c:idx val="3"/>
            <c:invertIfNegative val="0"/>
            <c:bubble3D val="0"/>
            <c:spPr>
              <a:solidFill>
                <a:srgbClr val="C9A2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D5-4200-BEAE-D086E81165E5}"/>
              </c:ext>
            </c:extLst>
          </c:dPt>
          <c:dPt>
            <c:idx val="4"/>
            <c:invertIfNegative val="0"/>
            <c:bubble3D val="0"/>
            <c:spPr>
              <a:solidFill>
                <a:srgbClr val="6B5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D5-4200-BEAE-D086E81165E5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lang="en-US" altLang="ko-KR"/>
                      <a:t>0.9641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1D5-4200-BEAE-D086E81165E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/>
                      <a:t>0.9648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1D5-4200-BEAE-D086E81165E5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AF0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베이스라인</c:v>
                </c:pt>
                <c:pt idx="1">
                  <c:v>+클래스가중치</c:v>
                </c:pt>
                <c:pt idx="2">
                  <c:v>+피처엔지니어링</c:v>
                </c:pt>
                <c:pt idx="3">
                  <c:v>+Optuna튜닝</c:v>
                </c:pt>
                <c:pt idx="4">
                  <c:v>+앙상블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0.95448999999999995</c:v>
                </c:pt>
                <c:pt idx="1">
                  <c:v>0.96414</c:v>
                </c:pt>
                <c:pt idx="2">
                  <c:v>0.96445999999999998</c:v>
                </c:pt>
                <c:pt idx="3">
                  <c:v>0.96509999999999996</c:v>
                </c:pt>
                <c:pt idx="4">
                  <c:v>0.96589999999999998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D5-4200-BEAE-D086E81165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0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21C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C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S6E6 대회를 방법2로 직접 제출했습니다. u,g,r,i,z는 5개 색 필터 밝기, redshift는 가장 강력한 단서. 목표는 3-클래스 분류. 평가지표는 Balanced Accuracy인데, 클래스가 65:20:14로 불균형해서 정확도는 다수 클래스만 맞혀도 높아 보이는 착시가 있어 클래스별 recall 평균인 이 지표를 씁니다.</a:t>
            </a:r>
            <a:endParaRPr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베이스라인은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손 안 댄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LightGBM으로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0.9545.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평가지표가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소수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클래스를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중시하므로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가중치를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주자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0.9641로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크게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뛰었습니다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색지수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피처를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더해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0.9645.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Optuna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튜닝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약 0.9651)과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XGBoost·CatBoost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약 0.9659)로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소폭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향상을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노립니다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이 두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예상치이며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후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실제값으로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갱신합니다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습관은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한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번에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하나만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바꾸고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점수로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확인하는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것입니다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dirty="0"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1033272"/>
            <a:ext cx="12191695" cy="41148"/>
          </a:xfrm>
          <a:prstGeom prst="rect">
            <a:avLst/>
          </a:prstGeom>
          <a:solidFill>
            <a:srgbClr val="F5C2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1828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C24B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F5C24B"/>
                </a:solidFill>
                <a:latin typeface="Trebuchet MS"/>
                <a:ea typeface="Trebuchet MS"/>
                <a:cs typeface="Trebuchet MS"/>
                <a:sym typeface="Trebuchet MS"/>
              </a:rPr>
              <a:t>KAGGLE PLAYGROUND SERIES S6E6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41148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EAF0FF"/>
                </a:solidFill>
                <a:latin typeface="Georgia"/>
                <a:ea typeface="Georgia"/>
                <a:cs typeface="Georgia"/>
                <a:sym typeface="Georgia"/>
              </a:rPr>
              <a:t>천체 분류 — 데이터와 평가지표 이해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1325880"/>
            <a:ext cx="5532120" cy="278892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1508760"/>
            <a:ext cx="82296" cy="310896"/>
          </a:xfrm>
          <a:prstGeom prst="rect">
            <a:avLst/>
          </a:prstGeom>
          <a:solidFill>
            <a:srgbClr val="F5C2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50392" y="1472184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대회 · 목표 · 데이터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938528"/>
            <a:ext cx="51663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Char char="•"/>
            </a:pPr>
            <a:r>
              <a:rPr lang="en-US" sz="13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목표: GALAXY · QSO(퀘이사) · STAR 3-클래스 분류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Char char="•"/>
            </a:pPr>
            <a:r>
              <a:rPr lang="en-US" sz="130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u, g, r, i, z : 5개 색 필터(자외선→적외)로 측정한 밝기 등급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Char char="•"/>
            </a:pPr>
            <a:r>
              <a:rPr lang="en-US" sz="130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redshift : 적색편이(멀어지는 정도). 별≈0, 퀘이사는 큼 → 가장 강력한 단서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Char char="•"/>
            </a:pPr>
            <a:r>
              <a:rPr lang="en-US" sz="130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spectral_type, galaxy_population : 범주형 피처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Char char="•"/>
            </a:pPr>
            <a:r>
              <a:rPr lang="en-US" sz="130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 : 정답 레이블 (예측 대상)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4251960"/>
            <a:ext cx="5532120" cy="210312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4434840"/>
            <a:ext cx="82296" cy="310896"/>
          </a:xfrm>
          <a:prstGeom prst="rect">
            <a:avLst/>
          </a:prstGeom>
          <a:solidFill>
            <a:srgbClr val="34D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50392" y="4398264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평가지표: Balanced Accuracy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846320"/>
            <a:ext cx="516636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= 클래스별 recall의 평균 (세 종류를 동등하게 평가)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직접적 이유: 대회 공식 채점이 이 지표 → 같은 기준으로 검증해야 함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근본적 이유: 클래스 불균형. 일반 정확도는 다수(GALAXY)만 맞혀도 높아 보이는 착시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263640" y="1325880"/>
            <a:ext cx="5440680" cy="251460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46520" y="1508760"/>
            <a:ext cx="82296" cy="310896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11112" y="147218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클래스 분포 (불균형)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" name="Google Shape;28;p1"/>
          <p:cNvGraphicFramePr/>
          <p:nvPr/>
        </p:nvGraphicFramePr>
        <p:xfrm>
          <a:off x="6400800" y="1874520"/>
          <a:ext cx="52120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Google Shape;29;p1"/>
          <p:cNvSpPr/>
          <p:nvPr/>
        </p:nvSpPr>
        <p:spPr>
          <a:xfrm>
            <a:off x="6263640" y="3977640"/>
            <a:ext cx="5440680" cy="2377440"/>
          </a:xfrm>
          <a:prstGeom prst="rect">
            <a:avLst/>
          </a:prstGeom>
          <a:solidFill>
            <a:srgbClr val="0F1838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263640" y="3977640"/>
            <a:ext cx="109728" cy="2377440"/>
          </a:xfrm>
          <a:prstGeom prst="rect">
            <a:avLst/>
          </a:prstGeom>
          <a:solidFill>
            <a:srgbClr val="34D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46520" y="4160520"/>
            <a:ext cx="82296" cy="310896"/>
          </a:xfrm>
          <a:prstGeom prst="rect">
            <a:avLst/>
          </a:prstGeom>
          <a:solidFill>
            <a:srgbClr val="34D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611112" y="412394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왜 정확도로는 안 되나? (착시 예시)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583680" y="4617720"/>
            <a:ext cx="4983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300"/>
              <a:buFont typeface="Trebuchet MS"/>
              <a:buNone/>
            </a:pPr>
            <a:r>
              <a:rPr lang="en-US" sz="1300" i="1">
                <a:solidFill>
                  <a:srgbClr val="9FB0D6"/>
                </a:solidFill>
                <a:latin typeface="Trebuchet MS"/>
                <a:ea typeface="Trebuchet MS"/>
                <a:cs typeface="Trebuchet MS"/>
                <a:sym typeface="Trebuchet MS"/>
              </a:rPr>
              <a:t>"무조건 GALAXY로 찍기" 모델이라면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Trebuchet MS"/>
              <a:buNone/>
            </a:pPr>
            <a:r>
              <a:rPr lang="en-US" sz="130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일반 정확도 = 0.65   →  잘한 것처럼 보임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Clr>
                <a:srgbClr val="3FD18B"/>
              </a:buClr>
              <a:buSzPts val="1300"/>
              <a:buFont typeface="Trebuchet MS"/>
              <a:buNone/>
            </a:pPr>
            <a:r>
              <a:rPr lang="en-US" sz="1300" b="1">
                <a:solidFill>
                  <a:srgbClr val="3FD18B"/>
                </a:solidFill>
                <a:latin typeface="Trebuchet MS"/>
                <a:ea typeface="Trebuchet MS"/>
                <a:cs typeface="Trebuchet MS"/>
                <a:sym typeface="Trebuchet MS"/>
              </a:rPr>
              <a:t>Balanced Accuracy = (1.0+0+0)/3 = 0.33  →  정직하게 낮음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0" y="1033272"/>
            <a:ext cx="12191695" cy="41148"/>
          </a:xfrm>
          <a:prstGeom prst="rect">
            <a:avLst/>
          </a:prstGeom>
          <a:solidFill>
            <a:srgbClr val="F5C2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1828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C24B"/>
                </a:solidFill>
                <a:latin typeface="Trebuchet MS"/>
                <a:ea typeface="Trebuchet MS"/>
                <a:cs typeface="Trebuchet MS"/>
                <a:sym typeface="Trebuchet MS"/>
              </a:rPr>
              <a:t>KAGGLE PLAYGROUND SERIES S6E6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2920" y="411480"/>
            <a:ext cx="10972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EAF0FF"/>
                </a:solidFill>
                <a:latin typeface="Georgia"/>
                <a:ea typeface="Georgia"/>
                <a:cs typeface="Georgia"/>
                <a:sym typeface="Georgia"/>
              </a:rPr>
              <a:t>LightGBM + 단계별 성능 향상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1325880"/>
            <a:ext cx="3977640" cy="502920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800" y="1508760"/>
            <a:ext cx="82296" cy="310896"/>
          </a:xfrm>
          <a:prstGeom prst="rect">
            <a:avLst/>
          </a:prstGeom>
          <a:solidFill>
            <a:srgbClr val="F5C2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50392" y="147218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모델: LightGBM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" y="1938528"/>
            <a:ext cx="361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그래디언트 부스팅 기반 트리 모델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표 데이터(tabular) 대회의 대표 모델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Char char="•"/>
            </a:pPr>
            <a:r>
              <a:rPr lang="en-US" sz="1250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약한 트리를 쌓아 앞 트리의 오차를 보정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" y="3246120"/>
            <a:ext cx="82296" cy="310896"/>
          </a:xfrm>
          <a:prstGeom prst="rect">
            <a:avLst/>
          </a:prstGeom>
          <a:solidFill>
            <a:srgbClr val="34D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50392" y="320954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핵심 파라미터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31520" y="3657600"/>
            <a:ext cx="3611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learning_rate </a:t>
            </a:r>
            <a:r>
              <a:rPr lang="en-US" sz="1250">
                <a:solidFill>
                  <a:srgbClr val="9FB0D6"/>
                </a:solidFill>
                <a:latin typeface="Trebuchet MS"/>
                <a:ea typeface="Trebuchet MS"/>
                <a:cs typeface="Trebuchet MS"/>
                <a:sym typeface="Trebuchet MS"/>
              </a:rPr>
              <a:t>각 트리 반영 비율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n_estimators </a:t>
            </a:r>
            <a:r>
              <a:rPr lang="en-US" sz="1250">
                <a:solidFill>
                  <a:srgbClr val="9FB0D6"/>
                </a:solidFill>
                <a:latin typeface="Trebuchet MS"/>
                <a:ea typeface="Trebuchet MS"/>
                <a:cs typeface="Trebuchet MS"/>
                <a:sym typeface="Trebuchet MS"/>
              </a:rPr>
              <a:t>트리 개수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Trebuchet MS"/>
              <a:buNone/>
            </a:pPr>
            <a:r>
              <a:rPr lang="en-US" sz="125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num_leaves </a:t>
            </a:r>
            <a:r>
              <a:rPr lang="en-US" sz="1250">
                <a:solidFill>
                  <a:srgbClr val="9FB0D6"/>
                </a:solidFill>
                <a:latin typeface="Trebuchet MS"/>
                <a:ea typeface="Trebuchet MS"/>
                <a:cs typeface="Trebuchet MS"/>
                <a:sym typeface="Trebuchet MS"/>
              </a:rPr>
              <a:t>트리 복잡도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F5C24B"/>
              </a:buClr>
              <a:buSzPts val="1250"/>
              <a:buFont typeface="Trebuchet MS"/>
              <a:buNone/>
            </a:pPr>
            <a:r>
              <a:rPr lang="en-US" sz="1250" i="1">
                <a:solidFill>
                  <a:srgbClr val="F5C24B"/>
                </a:solidFill>
                <a:latin typeface="Trebuchet MS"/>
                <a:ea typeface="Trebuchet MS"/>
                <a:cs typeface="Trebuchet MS"/>
                <a:sym typeface="Trebuchet MS"/>
              </a:rPr>
              <a:t>팁: 학습률은 작게 + 트리는 많이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31520" y="5440680"/>
            <a:ext cx="3520440" cy="777240"/>
          </a:xfrm>
          <a:prstGeom prst="rect">
            <a:avLst/>
          </a:prstGeom>
          <a:solidFill>
            <a:srgbClr val="0F1838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1248" y="5504688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9FB0D6"/>
                </a:solidFill>
                <a:latin typeface="Consolas"/>
                <a:ea typeface="Consolas"/>
                <a:cs typeface="Consolas"/>
                <a:sym typeface="Consolas"/>
              </a:rPr>
              <a:t>베이스모델: n_estimators=400 ·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9FB0D6"/>
                </a:solidFill>
                <a:latin typeface="Consolas"/>
                <a:ea typeface="Consolas"/>
                <a:cs typeface="Consolas"/>
                <a:sym typeface="Consolas"/>
              </a:rPr>
              <a:t>learning_rate=0.05 · num_leaves=63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63440" y="1325880"/>
            <a:ext cx="7040880" cy="306324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46320" y="1508760"/>
            <a:ext cx="82296" cy="310896"/>
          </a:xfrm>
          <a:prstGeom prst="rect">
            <a:avLst/>
          </a:prstGeom>
          <a:solidFill>
            <a:srgbClr val="3FD18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10912" y="1472184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단계별 Balanced Accuracy 향상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" name="Google Shape;56;p2"/>
          <p:cNvGraphicFramePr/>
          <p:nvPr>
            <p:extLst>
              <p:ext uri="{D42A27DB-BD31-4B8C-83A1-F6EECF244321}">
                <p14:modId xmlns:p14="http://schemas.microsoft.com/office/powerpoint/2010/main" val="3666550691"/>
              </p:ext>
            </p:extLst>
          </p:nvPr>
        </p:nvGraphicFramePr>
        <p:xfrm>
          <a:off x="4754880" y="1828800"/>
          <a:ext cx="6903600" cy="233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Google Shape;57;p2"/>
          <p:cNvSpPr/>
          <p:nvPr/>
        </p:nvSpPr>
        <p:spPr>
          <a:xfrm>
            <a:off x="4663440" y="4526280"/>
            <a:ext cx="7040880" cy="1828800"/>
          </a:xfrm>
          <a:prstGeom prst="rect">
            <a:avLst/>
          </a:prstGeom>
          <a:solidFill>
            <a:srgbClr val="121C44"/>
          </a:solidFill>
          <a:ln w="12700" cap="flat" cmpd="sng">
            <a:solidFill>
              <a:srgbClr val="24315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8100000" algn="b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46320" y="4681728"/>
            <a:ext cx="82296" cy="310896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010912" y="4645152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EAF0FF"/>
                </a:solidFill>
                <a:latin typeface="Trebuchet MS"/>
                <a:ea typeface="Trebuchet MS"/>
                <a:cs typeface="Trebuchet MS"/>
                <a:sym typeface="Trebuchet MS"/>
              </a:rPr>
              <a:t>최적화 단계 요약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Google Shape;60;p2"/>
          <p:cNvGraphicFramePr/>
          <p:nvPr/>
        </p:nvGraphicFramePr>
        <p:xfrm>
          <a:off x="4846320" y="5029200"/>
          <a:ext cx="6675100" cy="1536252"/>
        </p:xfrm>
        <a:graphic>
          <a:graphicData uri="http://schemas.openxmlformats.org/drawingml/2006/table">
            <a:tbl>
              <a:tblPr>
                <a:noFill/>
                <a:tableStyleId>{A3816D6A-DA8B-432E-919D-5A9B799D4AF8}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230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0A123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단계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2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230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0A123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무엇을 / 왜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2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230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0A123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Bal.Acc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① 베이스라인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손 안 댄 LightGBM 기준점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0.9545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② 클래스 가중치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소수 클래스 가중(STAR×2.33) → 지표 직격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D18B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FD18B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0.9641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③ 피처 엔지니어링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색지수·redshift 상호작용 (10→23)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0.9645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④ Optuna 튜닝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하이퍼파라미터 탐색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24B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i="1" u="none" strike="noStrike" cap="none" dirty="0">
                          <a:solidFill>
                            <a:srgbClr val="F5C24B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0.96</a:t>
                      </a:r>
                      <a:r>
                        <a:rPr lang="en-US" sz="1080" i="1" dirty="0">
                          <a:solidFill>
                            <a:srgbClr val="F5C24B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41</a:t>
                      </a:r>
                      <a:endParaRPr sz="1080" u="none" strike="noStrike" cap="none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⑤ 앙상블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F0FF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u="none" strike="noStrike" cap="none">
                          <a:solidFill>
                            <a:srgbClr val="EAF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XGBoost·CatBoost 블렌딩</a:t>
                      </a:r>
                      <a:endParaRPr sz="1080" u="none" strike="noStrike" cap="non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24B"/>
                        </a:buClr>
                        <a:buSzPts val="1080"/>
                        <a:buFont typeface="Trebuchet MS"/>
                        <a:buNone/>
                      </a:pPr>
                      <a:r>
                        <a:rPr lang="en-US" sz="1080" i="1" u="none" strike="noStrike" cap="none" dirty="0">
                          <a:solidFill>
                            <a:srgbClr val="F5C24B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0.96</a:t>
                      </a:r>
                      <a:r>
                        <a:rPr lang="en-US" sz="1080" i="1" dirty="0">
                          <a:solidFill>
                            <a:srgbClr val="F5C24B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48</a:t>
                      </a:r>
                      <a:endParaRPr sz="1080" u="none" strike="noStrike" cap="none" dirty="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2431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와이드스크린</PresentationFormat>
  <Paragraphs>57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Malgun Gothic</vt:lpstr>
      <vt:lpstr>Arial</vt:lpstr>
      <vt:lpstr>Calibri</vt:lpstr>
      <vt:lpstr>Consolas</vt:lpstr>
      <vt:lpstr>Georgia</vt:lpstr>
      <vt:lpstr>Trebuchet MS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ByeongYoon Park</cp:lastModifiedBy>
  <cp:revision>2</cp:revision>
  <dcterms:created xsi:type="dcterms:W3CDTF">2026-06-10T16:10:38Z</dcterms:created>
  <dcterms:modified xsi:type="dcterms:W3CDTF">2026-06-11T07:47:12Z</dcterms:modified>
</cp:coreProperties>
</file>
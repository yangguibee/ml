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53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610297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예시
1. 이번 발표는 Kaggle의 M5 Forecasting - Accuracy 대회를 기반으로 머신러닝 모델 최적화 사례를 정리한 것입니다.
2. 이 대회는 Walmart 매장의 상품별 판매량을 28일 ahead로 예측하는 시계열 회귀 문제입니다.
3. 데이터는 단순 판매량만 있는 것이 아니라 캘린더, 이벤트, SNAP, 가격 정보가 함께 주어집니다.
4. 특히 품목별 판매 패턴이 다르고, 판매가 없는 날이 많은 간헐적 수요가 존재하며, 평가도 최하위 상품뿐 아니라 상위 계층까지 포함하기 때문에 피처 설계와 검증 전략이 중요합니다.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 예시
1. M5 사례에서 중요한 점은 LightGBM이라는 모델명 자체보다, 시계열 데이터를 모델이 학습할 수 있는 표 형태의 피처로 바꾼 전략입니다.
2. 첫째, lag feature를 만들어 과거 특정 시점의 판매량을 현재 예측에 활용했습니다. 예를 들어 일주일 전이나 28일 전 판매량은 요일 효과와 월별 패턴을 반영하는 데 도움이 됩니다.
3. 둘째, rolling feature를 사용해 최근 판매량의 평균과 변동성을 반영했습니다. 이는 특정 상품의 단기 추세와 수요 변동을 잡는 데 유리합니다.
4. 셋째, 요일, 월, 이벤트, SNAP, 가격 변화를 함께 반영했습니다. 판매량은 상품 자체뿐 아니라 가격과 행사, 계절성의 영향을 받기 때문입니다.
5. 검증은 시계열 순서를 지키는 방식이 중요합니다. 미래 데이터를 학습에 섞으면 실제 운영 상황보다 과대평가될 수 있습니다.
6. 결론적으로 이 사례는 머신러닝 모델 최적화가 단순히 파라미터 튜닝이 아니라, 데이터 구조 이해, 피처 생성, 평가 지표 대응, 앙상블까지 포함하는 과정임을 보여줍니다.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CDF"/>
          </a:solidFill>
          <a:ln w="12700">
            <a:solidFill>
              <a:srgbClr val="2D6CDF"/>
            </a:solidFill>
            <a:prstDash val="solid"/>
          </a:ln>
        </p:spPr>
      </p:sp>
      <p:sp>
        <p:nvSpPr>
          <p:cNvPr id="3" name="Text 1"/>
          <p:cNvSpPr/>
          <p:nvPr/>
        </p:nvSpPr>
        <p:spPr>
          <a:xfrm>
            <a:off x="502920" y="292608"/>
            <a:ext cx="8732520" cy="384048"/>
          </a:xfrm>
          <a:prstGeom prst="rect">
            <a:avLst/>
          </a:prstGeom>
          <a:noFill/>
          <a:ln/>
        </p:spPr>
        <p:txBody>
          <a:bodyPr wrap="square" lIns="0" tIns="0" rIns="0" bIns="0" rtlCol="0" anchor="ctr">
            <a:normAutofit/>
          </a:bodyPr>
          <a:lstStyle/>
          <a:p>
            <a:pPr marL="0" indent="0">
              <a:buNone/>
            </a:pPr>
            <a:r>
              <a:rPr lang="en-US" sz="2600" b="1" dirty="0">
                <a:solidFill>
                  <a:srgbClr val="17324D"/>
                </a:solidFill>
                <a:latin typeface="Noto Sans CJK KR" pitchFamily="34" charset="0"/>
                <a:ea typeface="Noto Sans CJK KR" pitchFamily="34" charset="-122"/>
                <a:cs typeface="Noto Sans CJK KR" pitchFamily="34" charset="-120"/>
              </a:rPr>
              <a:t>머신러닝 모델의 최적화 사례: M5 Forecasting - Accuracy</a:t>
            </a:r>
            <a:endParaRPr lang="en-US" sz="2600" dirty="0"/>
          </a:p>
        </p:txBody>
      </p:sp>
      <p:sp>
        <p:nvSpPr>
          <p:cNvPr id="4" name="Text 2"/>
          <p:cNvSpPr/>
          <p:nvPr/>
        </p:nvSpPr>
        <p:spPr>
          <a:xfrm>
            <a:off x="521208" y="731520"/>
            <a:ext cx="9601200" cy="274320"/>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Noto Sans CJK KR" pitchFamily="34" charset="0"/>
                <a:ea typeface="Noto Sans CJK KR" pitchFamily="34" charset="-122"/>
                <a:cs typeface="Noto Sans CJK KR" pitchFamily="34" charset="-120"/>
              </a:rPr>
              <a:t>Kaggle 완료 챌린지 기반 · Walmart 상품 판매량 28일 예측</a:t>
            </a:r>
            <a:endParaRPr lang="en-US" sz="1250" dirty="0"/>
          </a:p>
        </p:txBody>
      </p:sp>
      <p:sp>
        <p:nvSpPr>
          <p:cNvPr id="5" name="Text 3"/>
          <p:cNvSpPr/>
          <p:nvPr/>
        </p:nvSpPr>
        <p:spPr>
          <a:xfrm>
            <a:off x="9738360" y="329184"/>
            <a:ext cx="1920240" cy="310896"/>
          </a:xfrm>
          <a:prstGeom prst="rect">
            <a:avLst/>
          </a:prstGeom>
          <a:noFill/>
          <a:ln/>
        </p:spPr>
        <p:txBody>
          <a:bodyPr wrap="square" lIns="0" tIns="0" rIns="0" bIns="0" rtlCol="0" anchor="ctr">
            <a:normAutofit/>
          </a:bodyPr>
          <a:lstStyle/>
          <a:p>
            <a:pPr marL="0" indent="0" algn="r">
              <a:buNone/>
            </a:pPr>
            <a:r>
              <a:rPr lang="en-US" sz="1100" b="1" dirty="0">
                <a:solidFill>
                  <a:srgbClr val="3F4A5A"/>
                </a:solidFill>
                <a:latin typeface="Noto Sans CJK KR" pitchFamily="34" charset="0"/>
                <a:ea typeface="Noto Sans CJK KR" pitchFamily="34" charset="-122"/>
                <a:cs typeface="Noto Sans CJK KR" pitchFamily="34" charset="-120"/>
              </a:rPr>
              <a:t>15장(발표) · 이지민 202476721</a:t>
            </a:r>
            <a:endParaRPr lang="en-US" sz="1100" dirty="0"/>
          </a:p>
        </p:txBody>
      </p:sp>
      <p:pic>
        <p:nvPicPr>
          <p:cNvPr id="6" name="Image 0" descr="/mnt/data/wide_clean_corporate_infographic_scene_blending.png"/>
          <p:cNvPicPr>
            <a:picLocks noChangeAspect="1"/>
          </p:cNvPicPr>
          <p:nvPr/>
        </p:nvPicPr>
        <p:blipFill>
          <a:blip r:embed="rId3"/>
          <a:srcRect l="2379" r="2379"/>
          <a:stretch/>
        </p:blipFill>
        <p:spPr>
          <a:xfrm>
            <a:off x="502920" y="1234440"/>
            <a:ext cx="5029200" cy="2971800"/>
          </a:xfrm>
          <a:prstGeom prst="rect">
            <a:avLst/>
          </a:prstGeom>
        </p:spPr>
      </p:pic>
      <p:sp>
        <p:nvSpPr>
          <p:cNvPr id="7" name="Text 4"/>
          <p:cNvSpPr/>
          <p:nvPr/>
        </p:nvSpPr>
        <p:spPr>
          <a:xfrm>
            <a:off x="640080" y="4297680"/>
            <a:ext cx="4709160" cy="256032"/>
          </a:xfrm>
          <a:prstGeom prst="rect">
            <a:avLst/>
          </a:prstGeom>
          <a:noFill/>
          <a:ln/>
        </p:spPr>
        <p:txBody>
          <a:bodyPr wrap="square" lIns="0" tIns="0" rIns="0" bIns="0" rtlCol="0" anchor="ctr"/>
          <a:lstStyle/>
          <a:p>
            <a:pPr marL="0" indent="0">
              <a:buNone/>
            </a:pPr>
            <a:r>
              <a:rPr lang="en-US" sz="1500" b="1" dirty="0">
                <a:solidFill>
                  <a:srgbClr val="17324D"/>
                </a:solidFill>
                <a:latin typeface="Noto Sans CJK KR" pitchFamily="34" charset="0"/>
                <a:ea typeface="Noto Sans CJK KR" pitchFamily="34" charset="-122"/>
                <a:cs typeface="Noto Sans CJK KR" pitchFamily="34" charset="-120"/>
              </a:rPr>
              <a:t>수요예측 문제의 구조</a:t>
            </a:r>
            <a:endParaRPr lang="en-US" sz="1500" dirty="0"/>
          </a:p>
        </p:txBody>
      </p:sp>
      <p:sp>
        <p:nvSpPr>
          <p:cNvPr id="8" name="Text 5"/>
          <p:cNvSpPr/>
          <p:nvPr/>
        </p:nvSpPr>
        <p:spPr>
          <a:xfrm>
            <a:off x="640080" y="4617720"/>
            <a:ext cx="4709160" cy="502920"/>
          </a:xfrm>
          <a:prstGeom prst="rect">
            <a:avLst/>
          </a:prstGeom>
          <a:noFill/>
          <a:ln/>
        </p:spPr>
        <p:txBody>
          <a:bodyPr wrap="square" lIns="254" tIns="254" rIns="254" bIns="254" rtlCol="0" anchor="t">
            <a:normAutofit/>
          </a:bodyPr>
          <a:lstStyle/>
          <a:p>
            <a:pPr marL="0" indent="0">
              <a:buNone/>
            </a:pPr>
            <a:r>
              <a:rPr lang="en-US" sz="1300" dirty="0">
                <a:solidFill>
                  <a:srgbClr val="3F4A5A"/>
                </a:solidFill>
                <a:latin typeface="Noto Sans CJK KR" pitchFamily="34" charset="0"/>
                <a:ea typeface="Noto Sans CJK KR" pitchFamily="34" charset="-122"/>
                <a:cs typeface="Noto Sans CJK KR" pitchFamily="34" charset="-120"/>
              </a:rPr>
              <a:t>과거 판매량과 가격·캘린더 정보를 이용해 다음 28일의 상품별 판매량을 예측합니다.</a:t>
            </a:r>
            <a:endParaRPr lang="en-US" sz="1300" dirty="0"/>
          </a:p>
        </p:txBody>
      </p:sp>
      <p:sp>
        <p:nvSpPr>
          <p:cNvPr id="9" name="Shape 6"/>
          <p:cNvSpPr/>
          <p:nvPr/>
        </p:nvSpPr>
        <p:spPr>
          <a:xfrm>
            <a:off x="5806440" y="1234440"/>
            <a:ext cx="5806440" cy="2057400"/>
          </a:xfrm>
          <a:prstGeom prst="roundRect">
            <a:avLst>
              <a:gd name="adj" fmla="val 3556"/>
            </a:avLst>
          </a:prstGeom>
          <a:solidFill>
            <a:srgbClr val="FFFFFF"/>
          </a:solidFill>
          <a:ln w="12700">
            <a:solidFill>
              <a:srgbClr val="D7DEE8"/>
            </a:solidFill>
            <a:prstDash val="solid"/>
          </a:ln>
        </p:spPr>
      </p:sp>
      <p:sp>
        <p:nvSpPr>
          <p:cNvPr id="10" name="Text 7"/>
          <p:cNvSpPr/>
          <p:nvPr/>
        </p:nvSpPr>
        <p:spPr>
          <a:xfrm>
            <a:off x="5971032" y="1353312"/>
            <a:ext cx="5477256" cy="292608"/>
          </a:xfrm>
          <a:prstGeom prst="rect">
            <a:avLst/>
          </a:prstGeom>
          <a:noFill/>
          <a:ln/>
        </p:spPr>
        <p:txBody>
          <a:bodyPr wrap="square" lIns="0" tIns="0" rIns="0" bIns="0" rtlCol="0" anchor="ctr">
            <a:normAutofit/>
          </a:bodyPr>
          <a:lstStyle/>
          <a:p>
            <a:pPr marL="0" indent="0">
              <a:buNone/>
            </a:pPr>
            <a:r>
              <a:rPr lang="en-US" sz="1600" b="1" dirty="0">
                <a:solidFill>
                  <a:srgbClr val="2D6CDF"/>
                </a:solidFill>
                <a:latin typeface="Noto Sans CJK KR" pitchFamily="34" charset="0"/>
                <a:ea typeface="Noto Sans CJK KR" pitchFamily="34" charset="-122"/>
                <a:cs typeface="Noto Sans CJK KR" pitchFamily="34" charset="-120"/>
              </a:rPr>
              <a:t>대회 개요</a:t>
            </a:r>
            <a:endParaRPr lang="en-US" sz="1600" dirty="0"/>
          </a:p>
        </p:txBody>
      </p:sp>
      <p:sp>
        <p:nvSpPr>
          <p:cNvPr id="11" name="Text 8"/>
          <p:cNvSpPr/>
          <p:nvPr/>
        </p:nvSpPr>
        <p:spPr>
          <a:xfrm>
            <a:off x="5989320" y="1764792"/>
            <a:ext cx="5440680" cy="1399032"/>
          </a:xfrm>
          <a:prstGeom prst="rect">
            <a:avLst/>
          </a:prstGeom>
          <a:noFill/>
          <a:ln/>
        </p:spPr>
        <p:txBody>
          <a:bodyPr wrap="square" lIns="0" tIns="0" rIns="0" bIns="0" rtlCol="0" anchor="ctr">
            <a:normAutofit/>
          </a:bodyPr>
          <a:lstStyle/>
          <a:p>
            <a:pPr marL="0" indent="0">
              <a:buNone/>
            </a:pPr>
            <a:r>
              <a:rPr lang="en-US" sz="1220" b="1" dirty="0">
                <a:solidFill>
                  <a:srgbClr val="2D6CDF"/>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검색 사이트: Kaggle / 검색어: M5 Forecasting Accuracy, 1st place solution, LightGBM
</a:t>
            </a:r>
            <a:r>
              <a:rPr lang="en-US" sz="1220" b="1" dirty="0">
                <a:solidFill>
                  <a:srgbClr val="2D6CDF"/>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문제 유형: 시계열 회귀 예측 — Walmart 상품의 일별 판매량 예측
</a:t>
            </a:r>
            <a:r>
              <a:rPr lang="en-US" sz="1220" b="1" dirty="0">
                <a:solidFill>
                  <a:srgbClr val="2D6CDF"/>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예측 단위: 최하위 30,490개 상품×매장 조합, 상위 집계 포함 42,840개 계층 시계열
</a:t>
            </a:r>
            <a:r>
              <a:rPr lang="en-US" sz="1220" b="1" dirty="0">
                <a:solidFill>
                  <a:srgbClr val="2D6CDF"/>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평가 방식: WRMSSE — 매출 비중이 큰 시계열에 더 큰 가중치를 주는 오차 지표</a:t>
            </a:r>
            <a:endParaRPr lang="en-US" sz="1220" dirty="0"/>
          </a:p>
        </p:txBody>
      </p:sp>
      <p:sp>
        <p:nvSpPr>
          <p:cNvPr id="12" name="Shape 9"/>
          <p:cNvSpPr/>
          <p:nvPr/>
        </p:nvSpPr>
        <p:spPr>
          <a:xfrm>
            <a:off x="5806440" y="3520440"/>
            <a:ext cx="2816352" cy="1874520"/>
          </a:xfrm>
          <a:prstGeom prst="roundRect">
            <a:avLst>
              <a:gd name="adj" fmla="val 3902"/>
            </a:avLst>
          </a:prstGeom>
          <a:solidFill>
            <a:srgbClr val="FFFFFF"/>
          </a:solidFill>
          <a:ln w="12700">
            <a:solidFill>
              <a:srgbClr val="D7DEE8"/>
            </a:solidFill>
            <a:prstDash val="solid"/>
          </a:ln>
        </p:spPr>
      </p:sp>
      <p:sp>
        <p:nvSpPr>
          <p:cNvPr id="13" name="Text 10"/>
          <p:cNvSpPr/>
          <p:nvPr/>
        </p:nvSpPr>
        <p:spPr>
          <a:xfrm>
            <a:off x="5971032" y="3639312"/>
            <a:ext cx="2487168" cy="292608"/>
          </a:xfrm>
          <a:prstGeom prst="rect">
            <a:avLst/>
          </a:prstGeom>
          <a:noFill/>
          <a:ln/>
        </p:spPr>
        <p:txBody>
          <a:bodyPr wrap="square" lIns="0" tIns="0" rIns="0" bIns="0" rtlCol="0" anchor="ctr">
            <a:normAutofit/>
          </a:bodyPr>
          <a:lstStyle/>
          <a:p>
            <a:pPr marL="0" indent="0">
              <a:buNone/>
            </a:pPr>
            <a:r>
              <a:rPr lang="en-US" sz="1600" b="1" dirty="0">
                <a:solidFill>
                  <a:srgbClr val="00806B"/>
                </a:solidFill>
                <a:latin typeface="Noto Sans CJK KR" pitchFamily="34" charset="0"/>
                <a:ea typeface="Noto Sans CJK KR" pitchFamily="34" charset="-122"/>
                <a:cs typeface="Noto Sans CJK KR" pitchFamily="34" charset="-120"/>
              </a:rPr>
              <a:t>데이터 구성</a:t>
            </a:r>
            <a:endParaRPr lang="en-US" sz="1600" dirty="0"/>
          </a:p>
        </p:txBody>
      </p:sp>
      <p:sp>
        <p:nvSpPr>
          <p:cNvPr id="14" name="Text 11"/>
          <p:cNvSpPr/>
          <p:nvPr/>
        </p:nvSpPr>
        <p:spPr>
          <a:xfrm>
            <a:off x="5989320" y="4050792"/>
            <a:ext cx="2450592" cy="1216152"/>
          </a:xfrm>
          <a:prstGeom prst="rect">
            <a:avLst/>
          </a:prstGeom>
          <a:noFill/>
          <a:ln/>
        </p:spPr>
        <p:txBody>
          <a:bodyPr wrap="square" lIns="0" tIns="0" rIns="0" bIns="0" rtlCol="0" anchor="ctr">
            <a:normAutofit/>
          </a:bodyPr>
          <a:lstStyle/>
          <a:p>
            <a:pPr marL="0" indent="0">
              <a:buNone/>
            </a:pPr>
            <a:r>
              <a:rPr lang="en-US" sz="1220" b="1" dirty="0">
                <a:solidFill>
                  <a:srgbClr val="00806B"/>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sales_train: 상품별 과거 일별 판매량
</a:t>
            </a:r>
            <a:r>
              <a:rPr lang="en-US" sz="1220" b="1" dirty="0">
                <a:solidFill>
                  <a:srgbClr val="00806B"/>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calendar: 요일, 월, 이벤트, SNAP 등 시간 관련 변수
</a:t>
            </a:r>
            <a:r>
              <a:rPr lang="en-US" sz="1220" b="1" dirty="0">
                <a:solidFill>
                  <a:srgbClr val="00806B"/>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sell_prices: 매장·상품·주차별 판매가격
</a:t>
            </a:r>
            <a:r>
              <a:rPr lang="en-US" sz="1220" b="1" dirty="0">
                <a:solidFill>
                  <a:srgbClr val="00806B"/>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핵심 난점: 품목별 판매 패턴 차이, 간헐적 수요, 계층형 평가 구조</a:t>
            </a:r>
            <a:endParaRPr lang="en-US" sz="1220" dirty="0"/>
          </a:p>
        </p:txBody>
      </p:sp>
      <p:sp>
        <p:nvSpPr>
          <p:cNvPr id="15" name="Shape 12"/>
          <p:cNvSpPr/>
          <p:nvPr/>
        </p:nvSpPr>
        <p:spPr>
          <a:xfrm>
            <a:off x="8796528" y="3520440"/>
            <a:ext cx="2816352" cy="1874520"/>
          </a:xfrm>
          <a:prstGeom prst="roundRect">
            <a:avLst>
              <a:gd name="adj" fmla="val 3902"/>
            </a:avLst>
          </a:prstGeom>
          <a:solidFill>
            <a:srgbClr val="FFFFFF"/>
          </a:solidFill>
          <a:ln w="12700">
            <a:solidFill>
              <a:srgbClr val="D7DEE8"/>
            </a:solidFill>
            <a:prstDash val="solid"/>
          </a:ln>
        </p:spPr>
      </p:sp>
      <p:sp>
        <p:nvSpPr>
          <p:cNvPr id="16" name="Text 13"/>
          <p:cNvSpPr/>
          <p:nvPr/>
        </p:nvSpPr>
        <p:spPr>
          <a:xfrm>
            <a:off x="8961120" y="3639312"/>
            <a:ext cx="2487168" cy="292608"/>
          </a:xfrm>
          <a:prstGeom prst="rect">
            <a:avLst/>
          </a:prstGeom>
          <a:noFill/>
          <a:ln/>
        </p:spPr>
        <p:txBody>
          <a:bodyPr wrap="square" lIns="0" tIns="0" rIns="0" bIns="0" rtlCol="0" anchor="ctr">
            <a:normAutofit/>
          </a:bodyPr>
          <a:lstStyle/>
          <a:p>
            <a:pPr marL="0" indent="0">
              <a:buNone/>
            </a:pPr>
            <a:r>
              <a:rPr lang="en-US" sz="1600" b="1" dirty="0">
                <a:solidFill>
                  <a:srgbClr val="E67E22"/>
                </a:solidFill>
                <a:latin typeface="Noto Sans CJK KR" pitchFamily="34" charset="0"/>
                <a:ea typeface="Noto Sans CJK KR" pitchFamily="34" charset="-122"/>
                <a:cs typeface="Noto Sans CJK KR" pitchFamily="34" charset="-120"/>
              </a:rPr>
              <a:t>선택 이유</a:t>
            </a:r>
            <a:endParaRPr lang="en-US" sz="1600" dirty="0"/>
          </a:p>
        </p:txBody>
      </p:sp>
      <p:sp>
        <p:nvSpPr>
          <p:cNvPr id="17" name="Text 14"/>
          <p:cNvSpPr/>
          <p:nvPr/>
        </p:nvSpPr>
        <p:spPr>
          <a:xfrm>
            <a:off x="8979408" y="4050792"/>
            <a:ext cx="2450592" cy="1216152"/>
          </a:xfrm>
          <a:prstGeom prst="rect">
            <a:avLst/>
          </a:prstGeom>
          <a:noFill/>
          <a:ln/>
        </p:spPr>
        <p:txBody>
          <a:bodyPr wrap="square" lIns="0" tIns="0" rIns="0" bIns="0" rtlCol="0" anchor="ctr">
            <a:normAutofit/>
          </a:bodyPr>
          <a:lstStyle/>
          <a:p>
            <a:pPr marL="0" indent="0">
              <a:buNone/>
            </a:pPr>
            <a:r>
              <a:rPr lang="en-US" sz="1220" b="1" dirty="0">
                <a:solidFill>
                  <a:srgbClr val="E67E22"/>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논문 과제와 겹치지 않는 판매·수요예측 주제
</a:t>
            </a:r>
            <a:r>
              <a:rPr lang="en-US" sz="1220" b="1" dirty="0">
                <a:solidFill>
                  <a:srgbClr val="E67E22"/>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모델 성능보다 피처 엔지니어링과 검증전략의 중요성이 잘 드러남
</a:t>
            </a:r>
            <a:r>
              <a:rPr lang="en-US" sz="1220" b="1" dirty="0">
                <a:solidFill>
                  <a:srgbClr val="E67E22"/>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재고관리·물류·리테일 AI로 확장 가능</a:t>
            </a:r>
            <a:endParaRPr lang="en-US" sz="1220" dirty="0"/>
          </a:p>
        </p:txBody>
      </p:sp>
      <p:sp>
        <p:nvSpPr>
          <p:cNvPr id="18" name="Text 15"/>
          <p:cNvSpPr/>
          <p:nvPr/>
        </p:nvSpPr>
        <p:spPr>
          <a:xfrm>
            <a:off x="640080" y="5878260"/>
            <a:ext cx="1600200" cy="228600"/>
          </a:xfrm>
          <a:prstGeom prst="rect">
            <a:avLst/>
          </a:prstGeom>
          <a:noFill/>
          <a:ln/>
        </p:spPr>
        <p:txBody>
          <a:bodyPr wrap="square" lIns="0" tIns="0" rIns="0" bIns="0" rtlCol="0" anchor="ctr"/>
          <a:lstStyle/>
          <a:p>
            <a:pPr marL="0" indent="0">
              <a:buNone/>
            </a:pPr>
            <a:r>
              <a:rPr lang="en-US" sz="1200" b="1" dirty="0">
                <a:solidFill>
                  <a:srgbClr val="3F4A5A"/>
                </a:solidFill>
                <a:latin typeface="Noto Sans CJK KR" pitchFamily="34" charset="0"/>
                <a:ea typeface="Noto Sans CJK KR" pitchFamily="34" charset="-122"/>
                <a:cs typeface="Noto Sans CJK KR" pitchFamily="34" charset="-120"/>
              </a:rPr>
              <a:t>계층형 예측 구조</a:t>
            </a:r>
            <a:endParaRPr lang="en-US" sz="1200" dirty="0"/>
          </a:p>
        </p:txBody>
      </p:sp>
      <p:sp>
        <p:nvSpPr>
          <p:cNvPr id="19" name="Text 16"/>
          <p:cNvSpPr/>
          <p:nvPr/>
        </p:nvSpPr>
        <p:spPr>
          <a:xfrm>
            <a:off x="2560320" y="5786820"/>
            <a:ext cx="868680" cy="329184"/>
          </a:xfrm>
          <a:prstGeom prst="rect">
            <a:avLst/>
          </a:prstGeom>
          <a:solidFill>
            <a:srgbClr val="2D6CDF"/>
          </a:solidFill>
          <a:ln>
            <a:solidFill>
              <a:srgbClr val="2D6CDF"/>
            </a:solidFill>
          </a:ln>
        </p:spPr>
        <p:txBody>
          <a:bodyPr wrap="square" lIns="254" tIns="254" rIns="254" bIns="254" rtlCol="0" anchor="ctr"/>
          <a:lstStyle/>
          <a:p>
            <a:pPr marL="0" indent="0" algn="ctr">
              <a:buNone/>
            </a:pPr>
            <a:r>
              <a:rPr lang="en-US" sz="1050" b="1" dirty="0">
                <a:solidFill>
                  <a:srgbClr val="FFFFFF"/>
                </a:solidFill>
                <a:latin typeface="Noto Sans CJK KR" pitchFamily="34" charset="0"/>
                <a:ea typeface="Noto Sans CJK KR" pitchFamily="34" charset="-122"/>
                <a:cs typeface="Noto Sans CJK KR" pitchFamily="34" charset="-120"/>
              </a:rPr>
              <a:t>Total</a:t>
            </a:r>
            <a:endParaRPr lang="en-US" sz="1050" dirty="0"/>
          </a:p>
        </p:txBody>
      </p:sp>
      <p:sp>
        <p:nvSpPr>
          <p:cNvPr id="20" name="Shape 17"/>
          <p:cNvSpPr/>
          <p:nvPr/>
        </p:nvSpPr>
        <p:spPr>
          <a:xfrm>
            <a:off x="3429000" y="5951412"/>
            <a:ext cx="301752" cy="0"/>
          </a:xfrm>
          <a:prstGeom prst="line">
            <a:avLst/>
          </a:prstGeom>
          <a:noFill/>
          <a:ln w="15240">
            <a:solidFill>
              <a:srgbClr val="CBD5E1"/>
            </a:solidFill>
            <a:prstDash val="solid"/>
            <a:headEnd type="none"/>
            <a:tailEnd type="triangle"/>
          </a:ln>
        </p:spPr>
      </p:sp>
      <p:sp>
        <p:nvSpPr>
          <p:cNvPr id="21" name="Text 18"/>
          <p:cNvSpPr/>
          <p:nvPr/>
        </p:nvSpPr>
        <p:spPr>
          <a:xfrm>
            <a:off x="3703320" y="5786820"/>
            <a:ext cx="868680" cy="329184"/>
          </a:xfrm>
          <a:prstGeom prst="rect">
            <a:avLst/>
          </a:prstGeom>
          <a:solidFill>
            <a:srgbClr val="2D6CDF"/>
          </a:solidFill>
          <a:ln>
            <a:solidFill>
              <a:srgbClr val="2D6CDF"/>
            </a:solidFill>
          </a:ln>
        </p:spPr>
        <p:txBody>
          <a:bodyPr wrap="square" lIns="254" tIns="254" rIns="254" bIns="254" rtlCol="0" anchor="ctr"/>
          <a:lstStyle/>
          <a:p>
            <a:pPr marL="0" indent="0" algn="ctr">
              <a:buNone/>
            </a:pPr>
            <a:r>
              <a:rPr lang="en-US" sz="1050" b="1" dirty="0">
                <a:solidFill>
                  <a:srgbClr val="FFFFFF"/>
                </a:solidFill>
                <a:latin typeface="Noto Sans CJK KR" pitchFamily="34" charset="0"/>
                <a:ea typeface="Noto Sans CJK KR" pitchFamily="34" charset="-122"/>
                <a:cs typeface="Noto Sans CJK KR" pitchFamily="34" charset="-120"/>
              </a:rPr>
              <a:t>State</a:t>
            </a:r>
            <a:endParaRPr lang="en-US" sz="1050" dirty="0"/>
          </a:p>
        </p:txBody>
      </p:sp>
      <p:sp>
        <p:nvSpPr>
          <p:cNvPr id="22" name="Shape 19"/>
          <p:cNvSpPr/>
          <p:nvPr/>
        </p:nvSpPr>
        <p:spPr>
          <a:xfrm>
            <a:off x="4572000" y="5951412"/>
            <a:ext cx="301752" cy="0"/>
          </a:xfrm>
          <a:prstGeom prst="line">
            <a:avLst/>
          </a:prstGeom>
          <a:noFill/>
          <a:ln w="15240">
            <a:solidFill>
              <a:srgbClr val="CBD5E1"/>
            </a:solidFill>
            <a:prstDash val="solid"/>
            <a:headEnd type="none"/>
            <a:tailEnd type="triangle"/>
          </a:ln>
        </p:spPr>
      </p:sp>
      <p:sp>
        <p:nvSpPr>
          <p:cNvPr id="23" name="Text 20"/>
          <p:cNvSpPr/>
          <p:nvPr/>
        </p:nvSpPr>
        <p:spPr>
          <a:xfrm>
            <a:off x="4846320" y="5786820"/>
            <a:ext cx="868680" cy="329184"/>
          </a:xfrm>
          <a:prstGeom prst="rect">
            <a:avLst/>
          </a:prstGeom>
          <a:solidFill>
            <a:srgbClr val="2D6CDF"/>
          </a:solidFill>
          <a:ln>
            <a:solidFill>
              <a:srgbClr val="2D6CDF"/>
            </a:solidFill>
          </a:ln>
        </p:spPr>
        <p:txBody>
          <a:bodyPr wrap="square" lIns="254" tIns="254" rIns="254" bIns="254" rtlCol="0" anchor="ctr"/>
          <a:lstStyle/>
          <a:p>
            <a:pPr marL="0" indent="0" algn="ctr">
              <a:buNone/>
            </a:pPr>
            <a:r>
              <a:rPr lang="en-US" sz="1050" b="1" dirty="0">
                <a:solidFill>
                  <a:srgbClr val="FFFFFF"/>
                </a:solidFill>
                <a:latin typeface="Noto Sans CJK KR" pitchFamily="34" charset="0"/>
                <a:ea typeface="Noto Sans CJK KR" pitchFamily="34" charset="-122"/>
                <a:cs typeface="Noto Sans CJK KR" pitchFamily="34" charset="-120"/>
              </a:rPr>
              <a:t>Store</a:t>
            </a:r>
            <a:endParaRPr lang="en-US" sz="1050" dirty="0"/>
          </a:p>
        </p:txBody>
      </p:sp>
      <p:sp>
        <p:nvSpPr>
          <p:cNvPr id="24" name="Shape 21"/>
          <p:cNvSpPr/>
          <p:nvPr/>
        </p:nvSpPr>
        <p:spPr>
          <a:xfrm>
            <a:off x="5715000" y="5951412"/>
            <a:ext cx="301752" cy="0"/>
          </a:xfrm>
          <a:prstGeom prst="line">
            <a:avLst/>
          </a:prstGeom>
          <a:noFill/>
          <a:ln w="15240">
            <a:solidFill>
              <a:srgbClr val="CBD5E1"/>
            </a:solidFill>
            <a:prstDash val="solid"/>
            <a:headEnd type="none"/>
            <a:tailEnd type="triangle"/>
          </a:ln>
        </p:spPr>
      </p:sp>
      <p:sp>
        <p:nvSpPr>
          <p:cNvPr id="25" name="Text 22"/>
          <p:cNvSpPr/>
          <p:nvPr/>
        </p:nvSpPr>
        <p:spPr>
          <a:xfrm>
            <a:off x="5989320" y="5786820"/>
            <a:ext cx="868680" cy="329184"/>
          </a:xfrm>
          <a:prstGeom prst="rect">
            <a:avLst/>
          </a:prstGeom>
          <a:solidFill>
            <a:srgbClr val="1E9CB7"/>
          </a:solidFill>
          <a:ln>
            <a:solidFill>
              <a:srgbClr val="1E9CB7"/>
            </a:solidFill>
          </a:ln>
        </p:spPr>
        <p:txBody>
          <a:bodyPr wrap="square" lIns="254" tIns="254" rIns="254" bIns="254" rtlCol="0" anchor="ctr"/>
          <a:lstStyle/>
          <a:p>
            <a:pPr marL="0" indent="0" algn="ctr">
              <a:buNone/>
            </a:pPr>
            <a:r>
              <a:rPr lang="en-US" sz="1050" b="1" dirty="0">
                <a:solidFill>
                  <a:srgbClr val="FFFFFF"/>
                </a:solidFill>
                <a:latin typeface="Noto Sans CJK KR" pitchFamily="34" charset="0"/>
                <a:ea typeface="Noto Sans CJK KR" pitchFamily="34" charset="-122"/>
                <a:cs typeface="Noto Sans CJK KR" pitchFamily="34" charset="-120"/>
              </a:rPr>
              <a:t>Category</a:t>
            </a:r>
            <a:endParaRPr lang="en-US" sz="1050" dirty="0"/>
          </a:p>
        </p:txBody>
      </p:sp>
      <p:sp>
        <p:nvSpPr>
          <p:cNvPr id="26" name="Shape 23"/>
          <p:cNvSpPr/>
          <p:nvPr/>
        </p:nvSpPr>
        <p:spPr>
          <a:xfrm>
            <a:off x="6858000" y="5951412"/>
            <a:ext cx="301752" cy="0"/>
          </a:xfrm>
          <a:prstGeom prst="line">
            <a:avLst/>
          </a:prstGeom>
          <a:noFill/>
          <a:ln w="15240">
            <a:solidFill>
              <a:srgbClr val="CBD5E1"/>
            </a:solidFill>
            <a:prstDash val="solid"/>
            <a:headEnd type="none"/>
            <a:tailEnd type="triangle"/>
          </a:ln>
        </p:spPr>
      </p:sp>
      <p:sp>
        <p:nvSpPr>
          <p:cNvPr id="27" name="Text 24"/>
          <p:cNvSpPr/>
          <p:nvPr/>
        </p:nvSpPr>
        <p:spPr>
          <a:xfrm>
            <a:off x="7132320" y="5786820"/>
            <a:ext cx="868680" cy="329184"/>
          </a:xfrm>
          <a:prstGeom prst="rect">
            <a:avLst/>
          </a:prstGeom>
          <a:solidFill>
            <a:srgbClr val="1E9CB7"/>
          </a:solidFill>
          <a:ln>
            <a:solidFill>
              <a:srgbClr val="1E9CB7"/>
            </a:solidFill>
          </a:ln>
        </p:spPr>
        <p:txBody>
          <a:bodyPr wrap="square" lIns="254" tIns="254" rIns="254" bIns="254" rtlCol="0" anchor="ctr"/>
          <a:lstStyle/>
          <a:p>
            <a:pPr marL="0" indent="0" algn="ctr">
              <a:buNone/>
            </a:pPr>
            <a:r>
              <a:rPr lang="en-US" sz="1050" b="1" dirty="0">
                <a:solidFill>
                  <a:srgbClr val="FFFFFF"/>
                </a:solidFill>
                <a:latin typeface="Noto Sans CJK KR" pitchFamily="34" charset="0"/>
                <a:ea typeface="Noto Sans CJK KR" pitchFamily="34" charset="-122"/>
                <a:cs typeface="Noto Sans CJK KR" pitchFamily="34" charset="-120"/>
              </a:rPr>
              <a:t>Department</a:t>
            </a:r>
            <a:endParaRPr lang="en-US" sz="1050" dirty="0"/>
          </a:p>
        </p:txBody>
      </p:sp>
      <p:sp>
        <p:nvSpPr>
          <p:cNvPr id="28" name="Shape 25"/>
          <p:cNvSpPr/>
          <p:nvPr/>
        </p:nvSpPr>
        <p:spPr>
          <a:xfrm>
            <a:off x="8001000" y="5951412"/>
            <a:ext cx="301752" cy="0"/>
          </a:xfrm>
          <a:prstGeom prst="line">
            <a:avLst/>
          </a:prstGeom>
          <a:noFill/>
          <a:ln w="15240">
            <a:solidFill>
              <a:srgbClr val="CBD5E1"/>
            </a:solidFill>
            <a:prstDash val="solid"/>
            <a:headEnd type="none"/>
            <a:tailEnd type="triangle"/>
          </a:ln>
        </p:spPr>
      </p:sp>
      <p:sp>
        <p:nvSpPr>
          <p:cNvPr id="29" name="Text 26"/>
          <p:cNvSpPr/>
          <p:nvPr/>
        </p:nvSpPr>
        <p:spPr>
          <a:xfrm>
            <a:off x="8275320" y="5786820"/>
            <a:ext cx="868680" cy="329184"/>
          </a:xfrm>
          <a:prstGeom prst="rect">
            <a:avLst/>
          </a:prstGeom>
          <a:solidFill>
            <a:srgbClr val="1E9CB7"/>
          </a:solidFill>
          <a:ln>
            <a:solidFill>
              <a:srgbClr val="1E9CB7"/>
            </a:solidFill>
          </a:ln>
        </p:spPr>
        <p:txBody>
          <a:bodyPr wrap="square" lIns="254" tIns="254" rIns="254" bIns="254" rtlCol="0" anchor="ctr"/>
          <a:lstStyle/>
          <a:p>
            <a:pPr marL="0" indent="0" algn="ctr">
              <a:buNone/>
            </a:pPr>
            <a:r>
              <a:rPr lang="en-US" sz="1050" b="1" dirty="0">
                <a:solidFill>
                  <a:srgbClr val="FFFFFF"/>
                </a:solidFill>
                <a:latin typeface="Noto Sans CJK KR" pitchFamily="34" charset="0"/>
                <a:ea typeface="Noto Sans CJK KR" pitchFamily="34" charset="-122"/>
                <a:cs typeface="Noto Sans CJK KR" pitchFamily="34" charset="-120"/>
              </a:rPr>
              <a:t>Item</a:t>
            </a:r>
            <a:endParaRPr lang="en-US" sz="1050" dirty="0"/>
          </a:p>
        </p:txBody>
      </p:sp>
      <p:sp>
        <p:nvSpPr>
          <p:cNvPr id="30" name="Text 27"/>
          <p:cNvSpPr/>
          <p:nvPr/>
        </p:nvSpPr>
        <p:spPr>
          <a:xfrm>
            <a:off x="9372600" y="5832540"/>
            <a:ext cx="2240280" cy="256032"/>
          </a:xfrm>
          <a:prstGeom prst="rect">
            <a:avLst/>
          </a:prstGeom>
          <a:noFill/>
          <a:ln/>
        </p:spPr>
        <p:txBody>
          <a:bodyPr wrap="square" lIns="0" tIns="0" rIns="0" bIns="0" rtlCol="0" anchor="ctr">
            <a:normAutofit fontScale="92500" lnSpcReduction="20000"/>
          </a:bodyPr>
          <a:lstStyle/>
          <a:p>
            <a:pPr marL="0" indent="0">
              <a:buNone/>
            </a:pPr>
            <a:r>
              <a:rPr lang="en-US" sz="1080" dirty="0">
                <a:solidFill>
                  <a:srgbClr val="3F4A5A"/>
                </a:solidFill>
                <a:latin typeface="Noto Sans CJK KR" pitchFamily="34" charset="0"/>
                <a:ea typeface="Noto Sans CJK KR" pitchFamily="34" charset="-122"/>
                <a:cs typeface="Noto Sans CJK KR" pitchFamily="34" charset="-120"/>
              </a:rPr>
              <a:t>→ 최하위 예측값을 합산해 상위 계층 성능까지 평가</a:t>
            </a:r>
            <a:endParaRPr lang="en-US" sz="1080" dirty="0"/>
          </a:p>
        </p:txBody>
      </p:sp>
      <p:sp>
        <p:nvSpPr>
          <p:cNvPr id="31" name="Text 28"/>
          <p:cNvSpPr/>
          <p:nvPr/>
        </p:nvSpPr>
        <p:spPr>
          <a:xfrm>
            <a:off x="530352" y="6473952"/>
            <a:ext cx="11155680" cy="201168"/>
          </a:xfrm>
          <a:prstGeom prst="rect">
            <a:avLst/>
          </a:prstGeom>
          <a:noFill/>
          <a:ln/>
        </p:spPr>
        <p:txBody>
          <a:bodyPr wrap="square" lIns="0" tIns="0" rIns="0" bIns="0" rtlCol="0" anchor="ctr">
            <a:normAutofit/>
          </a:bodyPr>
          <a:lstStyle/>
          <a:p>
            <a:pPr marL="0" indent="0">
              <a:buNone/>
            </a:pPr>
            <a:r>
              <a:rPr lang="en-US" sz="750" dirty="0">
                <a:solidFill>
                  <a:srgbClr val="7B8794"/>
                </a:solidFill>
                <a:latin typeface="Noto Sans CJK KR" pitchFamily="34" charset="0"/>
                <a:ea typeface="Noto Sans CJK KR" pitchFamily="34" charset="-122"/>
                <a:cs typeface="Noto Sans CJK KR" pitchFamily="34" charset="-120"/>
              </a:rPr>
              <a:t>Sources: Kaggle M5 Forecasting - Accuracy; Makridakis, Spiliotis &amp; Assimakopoulos (2022), International Journal of Forecasting; Kaggle 1st place solution write-up.</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CDF"/>
          </a:solidFill>
          <a:ln w="12700">
            <a:solidFill>
              <a:srgbClr val="2D6CDF"/>
            </a:solidFill>
            <a:prstDash val="solid"/>
          </a:ln>
        </p:spPr>
      </p:sp>
      <p:sp>
        <p:nvSpPr>
          <p:cNvPr id="3" name="Text 1"/>
          <p:cNvSpPr/>
          <p:nvPr/>
        </p:nvSpPr>
        <p:spPr>
          <a:xfrm>
            <a:off x="502920" y="292608"/>
            <a:ext cx="8732520" cy="384048"/>
          </a:xfrm>
          <a:prstGeom prst="rect">
            <a:avLst/>
          </a:prstGeom>
          <a:noFill/>
          <a:ln/>
        </p:spPr>
        <p:txBody>
          <a:bodyPr wrap="square" lIns="0" tIns="0" rIns="0" bIns="0" rtlCol="0" anchor="ctr">
            <a:normAutofit/>
          </a:bodyPr>
          <a:lstStyle/>
          <a:p>
            <a:pPr marL="0" indent="0">
              <a:buNone/>
            </a:pPr>
            <a:r>
              <a:rPr lang="en-US" sz="2600" b="1" dirty="0">
                <a:solidFill>
                  <a:srgbClr val="17324D"/>
                </a:solidFill>
                <a:latin typeface="Noto Sans CJK KR" pitchFamily="34" charset="0"/>
                <a:ea typeface="Noto Sans CJK KR" pitchFamily="34" charset="-122"/>
                <a:cs typeface="Noto Sans CJK KR" pitchFamily="34" charset="-120"/>
              </a:rPr>
              <a:t>최적화 방법 리뷰: LightGBM 기반 시계열 피처 설계</a:t>
            </a:r>
            <a:endParaRPr lang="en-US" sz="2600" dirty="0"/>
          </a:p>
        </p:txBody>
      </p:sp>
      <p:sp>
        <p:nvSpPr>
          <p:cNvPr id="4" name="Text 2"/>
          <p:cNvSpPr/>
          <p:nvPr/>
        </p:nvSpPr>
        <p:spPr>
          <a:xfrm>
            <a:off x="521208" y="731520"/>
            <a:ext cx="9601200" cy="274320"/>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Noto Sans CJK KR" pitchFamily="34" charset="0"/>
                <a:ea typeface="Noto Sans CJK KR" pitchFamily="34" charset="-122"/>
                <a:cs typeface="Noto Sans CJK KR" pitchFamily="34" charset="-120"/>
              </a:rPr>
              <a:t>방법1: 완료된 Kaggle 챌린지의 머신러닝 모델 최적화 사례 분석</a:t>
            </a:r>
            <a:endParaRPr lang="en-US" sz="1250" dirty="0"/>
          </a:p>
        </p:txBody>
      </p:sp>
      <p:sp>
        <p:nvSpPr>
          <p:cNvPr id="5" name="Text 3"/>
          <p:cNvSpPr/>
          <p:nvPr/>
        </p:nvSpPr>
        <p:spPr>
          <a:xfrm>
            <a:off x="9738360" y="329184"/>
            <a:ext cx="1920240" cy="310896"/>
          </a:xfrm>
          <a:prstGeom prst="rect">
            <a:avLst/>
          </a:prstGeom>
          <a:noFill/>
          <a:ln/>
        </p:spPr>
        <p:txBody>
          <a:bodyPr wrap="square" lIns="0" tIns="0" rIns="0" bIns="0" rtlCol="0" anchor="ctr">
            <a:normAutofit/>
          </a:bodyPr>
          <a:lstStyle/>
          <a:p>
            <a:pPr marL="0" indent="0" algn="r">
              <a:buNone/>
            </a:pPr>
            <a:r>
              <a:rPr lang="en-US" sz="1100" b="1" dirty="0">
                <a:solidFill>
                  <a:srgbClr val="3F4A5A"/>
                </a:solidFill>
                <a:latin typeface="Noto Sans CJK KR" pitchFamily="34" charset="0"/>
                <a:ea typeface="Noto Sans CJK KR" pitchFamily="34" charset="-122"/>
                <a:cs typeface="Noto Sans CJK KR" pitchFamily="34" charset="-120"/>
              </a:rPr>
              <a:t>15장(발표) · 이지민 202476721</a:t>
            </a:r>
            <a:endParaRPr lang="en-US" sz="1100" dirty="0"/>
          </a:p>
        </p:txBody>
      </p:sp>
      <p:sp>
        <p:nvSpPr>
          <p:cNvPr id="6" name="Text 4"/>
          <p:cNvSpPr/>
          <p:nvPr/>
        </p:nvSpPr>
        <p:spPr>
          <a:xfrm>
            <a:off x="530352" y="1133856"/>
            <a:ext cx="1188720" cy="292608"/>
          </a:xfrm>
          <a:prstGeom prst="rect">
            <a:avLst/>
          </a:prstGeom>
          <a:solidFill>
            <a:srgbClr val="17324D"/>
          </a:solidFill>
          <a:ln>
            <a:solidFill>
              <a:srgbClr val="17324D"/>
            </a:solidFill>
          </a:ln>
        </p:spPr>
        <p:txBody>
          <a:bodyPr wrap="square" lIns="0" tIns="0" rIns="0" bIns="0" rtlCol="0" anchor="ctr"/>
          <a:lstStyle/>
          <a:p>
            <a:pPr marL="0" indent="0" algn="ctr">
              <a:buNone/>
            </a:pPr>
            <a:r>
              <a:rPr lang="en-US" sz="1400" b="1" dirty="0">
                <a:solidFill>
                  <a:srgbClr val="FFFFFF"/>
                </a:solidFill>
                <a:latin typeface="Noto Sans CJK KR" pitchFamily="34" charset="0"/>
                <a:ea typeface="Noto Sans CJK KR" pitchFamily="34" charset="-122"/>
                <a:cs typeface="Noto Sans CJK KR" pitchFamily="34" charset="-120"/>
              </a:rPr>
              <a:t>핵심 결론</a:t>
            </a:r>
            <a:endParaRPr lang="en-US" sz="1400" dirty="0"/>
          </a:p>
        </p:txBody>
      </p:sp>
      <p:sp>
        <p:nvSpPr>
          <p:cNvPr id="7" name="Text 5"/>
          <p:cNvSpPr/>
          <p:nvPr/>
        </p:nvSpPr>
        <p:spPr>
          <a:xfrm>
            <a:off x="1847088" y="1088136"/>
            <a:ext cx="9784080" cy="402336"/>
          </a:xfrm>
          <a:prstGeom prst="rect">
            <a:avLst/>
          </a:prstGeom>
          <a:noFill/>
          <a:ln/>
        </p:spPr>
        <p:txBody>
          <a:bodyPr wrap="square" lIns="254" tIns="254" rIns="254" bIns="254" rtlCol="0" anchor="ctr">
            <a:normAutofit/>
          </a:bodyPr>
          <a:lstStyle/>
          <a:p>
            <a:pPr marL="0" indent="0">
              <a:buNone/>
            </a:pPr>
            <a:r>
              <a:rPr lang="en-US" sz="1700" b="1" dirty="0">
                <a:solidFill>
                  <a:srgbClr val="17324D"/>
                </a:solidFill>
                <a:latin typeface="Noto Sans CJK KR" pitchFamily="34" charset="0"/>
                <a:ea typeface="Noto Sans CJK KR" pitchFamily="34" charset="-122"/>
                <a:cs typeface="Noto Sans CJK KR" pitchFamily="34" charset="-120"/>
              </a:rPr>
              <a:t>M5 상위권 사례의 본질은 “새로운 모델”보다 시계열 문제를 표 형태로 바꾸는 피처 엔지니어링과 검증전략 최적화에 있었다.</a:t>
            </a:r>
            <a:endParaRPr lang="en-US" sz="1700" dirty="0"/>
          </a:p>
        </p:txBody>
      </p:sp>
      <p:sp>
        <p:nvSpPr>
          <p:cNvPr id="8" name="Text 6"/>
          <p:cNvSpPr/>
          <p:nvPr/>
        </p:nvSpPr>
        <p:spPr>
          <a:xfrm>
            <a:off x="548640" y="1737360"/>
            <a:ext cx="2011680" cy="274320"/>
          </a:xfrm>
          <a:prstGeom prst="rect">
            <a:avLst/>
          </a:prstGeom>
          <a:noFill/>
          <a:ln/>
        </p:spPr>
        <p:txBody>
          <a:bodyPr wrap="square" lIns="0" tIns="0" rIns="0" bIns="0" rtlCol="0" anchor="ctr"/>
          <a:lstStyle/>
          <a:p>
            <a:pPr marL="0" indent="0">
              <a:buNone/>
            </a:pPr>
            <a:r>
              <a:rPr lang="en-US" sz="1500" b="1" dirty="0">
                <a:solidFill>
                  <a:srgbClr val="1F2937"/>
                </a:solidFill>
                <a:latin typeface="Noto Sans CJK KR" pitchFamily="34" charset="0"/>
                <a:ea typeface="Noto Sans CJK KR" pitchFamily="34" charset="-122"/>
                <a:cs typeface="Noto Sans CJK KR" pitchFamily="34" charset="-120"/>
              </a:rPr>
              <a:t>최적화 파이프라인</a:t>
            </a:r>
            <a:endParaRPr lang="en-US" sz="1500" dirty="0"/>
          </a:p>
        </p:txBody>
      </p:sp>
      <p:sp>
        <p:nvSpPr>
          <p:cNvPr id="9" name="Text 7"/>
          <p:cNvSpPr/>
          <p:nvPr/>
        </p:nvSpPr>
        <p:spPr>
          <a:xfrm>
            <a:off x="566928" y="2084832"/>
            <a:ext cx="1920240" cy="685800"/>
          </a:xfrm>
          <a:prstGeom prst="rect">
            <a:avLst/>
          </a:prstGeom>
          <a:solidFill>
            <a:srgbClr val="2D6CDF"/>
          </a:solidFill>
          <a:ln>
            <a:solidFill>
              <a:srgbClr val="2D6CDF"/>
            </a:solidFill>
          </a:ln>
        </p:spPr>
        <p:txBody>
          <a:bodyPr wrap="square" lIns="508" tIns="508" rIns="508" bIns="508" rtlCol="0" anchor="ctr">
            <a:normAutofit/>
          </a:bodyPr>
          <a:lstStyle/>
          <a:p>
            <a:pPr marL="0" indent="0" algn="ctr">
              <a:buNone/>
            </a:pPr>
            <a:r>
              <a:rPr lang="en-US" sz="1220" b="1" dirty="0">
                <a:solidFill>
                  <a:srgbClr val="FFFFFF"/>
                </a:solidFill>
                <a:latin typeface="Noto Sans CJK KR" pitchFamily="34" charset="0"/>
                <a:ea typeface="Noto Sans CJK KR" pitchFamily="34" charset="-122"/>
                <a:cs typeface="Noto Sans CJK KR" pitchFamily="34" charset="-120"/>
              </a:rPr>
              <a:t>Raw data</a:t>
            </a:r>
            <a:endParaRPr lang="en-US" sz="1220" dirty="0"/>
          </a:p>
          <a:p>
            <a:pPr marL="0" indent="0" algn="ctr">
              <a:buNone/>
            </a:pPr>
            <a:r>
              <a:rPr lang="en-US" sz="1220" dirty="0">
                <a:solidFill>
                  <a:srgbClr val="EAF2FF"/>
                </a:solidFill>
                <a:latin typeface="Noto Sans CJK KR" pitchFamily="34" charset="0"/>
                <a:ea typeface="Noto Sans CJK KR" pitchFamily="34" charset="-122"/>
                <a:cs typeface="Noto Sans CJK KR" pitchFamily="34" charset="-120"/>
              </a:rPr>
              <a:t>판매량·가격·캘린더</a:t>
            </a:r>
            <a:endParaRPr lang="en-US" sz="1220" dirty="0"/>
          </a:p>
        </p:txBody>
      </p:sp>
      <p:sp>
        <p:nvSpPr>
          <p:cNvPr id="10" name="Shape 8"/>
          <p:cNvSpPr/>
          <p:nvPr/>
        </p:nvSpPr>
        <p:spPr>
          <a:xfrm>
            <a:off x="2496312" y="2432304"/>
            <a:ext cx="274320" cy="0"/>
          </a:xfrm>
          <a:prstGeom prst="line">
            <a:avLst/>
          </a:prstGeom>
          <a:noFill/>
          <a:ln w="17780">
            <a:solidFill>
              <a:srgbClr val="CBD5E1"/>
            </a:solidFill>
            <a:prstDash val="solid"/>
            <a:tailEnd type="triangle"/>
          </a:ln>
        </p:spPr>
      </p:sp>
      <p:sp>
        <p:nvSpPr>
          <p:cNvPr id="11" name="Text 9"/>
          <p:cNvSpPr/>
          <p:nvPr/>
        </p:nvSpPr>
        <p:spPr>
          <a:xfrm>
            <a:off x="2834640" y="2084832"/>
            <a:ext cx="1920240" cy="685800"/>
          </a:xfrm>
          <a:prstGeom prst="rect">
            <a:avLst/>
          </a:prstGeom>
          <a:solidFill>
            <a:srgbClr val="2D6CDF"/>
          </a:solidFill>
          <a:ln>
            <a:solidFill>
              <a:srgbClr val="2D6CDF"/>
            </a:solidFill>
          </a:ln>
        </p:spPr>
        <p:txBody>
          <a:bodyPr wrap="square" lIns="508" tIns="508" rIns="508" bIns="508" rtlCol="0" anchor="ctr">
            <a:normAutofit/>
          </a:bodyPr>
          <a:lstStyle/>
          <a:p>
            <a:pPr marL="0" indent="0" algn="ctr">
              <a:buNone/>
            </a:pPr>
            <a:r>
              <a:rPr lang="en-US" sz="1220" b="1" dirty="0">
                <a:solidFill>
                  <a:srgbClr val="FFFFFF"/>
                </a:solidFill>
                <a:latin typeface="Noto Sans CJK KR" pitchFamily="34" charset="0"/>
                <a:ea typeface="Noto Sans CJK KR" pitchFamily="34" charset="-122"/>
                <a:cs typeface="Noto Sans CJK KR" pitchFamily="34" charset="-120"/>
              </a:rPr>
              <a:t>Feature</a:t>
            </a:r>
            <a:endParaRPr lang="en-US" sz="1220" dirty="0"/>
          </a:p>
          <a:p>
            <a:pPr marL="0" indent="0" algn="ctr">
              <a:buNone/>
            </a:pPr>
            <a:r>
              <a:rPr lang="en-US" sz="1220" dirty="0">
                <a:solidFill>
                  <a:srgbClr val="EAF2FF"/>
                </a:solidFill>
                <a:latin typeface="Noto Sans CJK KR" pitchFamily="34" charset="0"/>
                <a:ea typeface="Noto Sans CJK KR" pitchFamily="34" charset="-122"/>
                <a:cs typeface="Noto Sans CJK KR" pitchFamily="34" charset="-120"/>
              </a:rPr>
              <a:t>Lag / Rolling / 이벤트</a:t>
            </a:r>
            <a:endParaRPr lang="en-US" sz="1220" dirty="0"/>
          </a:p>
        </p:txBody>
      </p:sp>
      <p:sp>
        <p:nvSpPr>
          <p:cNvPr id="12" name="Shape 10"/>
          <p:cNvSpPr/>
          <p:nvPr/>
        </p:nvSpPr>
        <p:spPr>
          <a:xfrm>
            <a:off x="4764024" y="2432304"/>
            <a:ext cx="274320" cy="0"/>
          </a:xfrm>
          <a:prstGeom prst="line">
            <a:avLst/>
          </a:prstGeom>
          <a:noFill/>
          <a:ln w="17780">
            <a:solidFill>
              <a:srgbClr val="CBD5E1"/>
            </a:solidFill>
            <a:prstDash val="solid"/>
            <a:tailEnd type="triangle"/>
          </a:ln>
        </p:spPr>
      </p:sp>
      <p:sp>
        <p:nvSpPr>
          <p:cNvPr id="13" name="Text 11"/>
          <p:cNvSpPr/>
          <p:nvPr/>
        </p:nvSpPr>
        <p:spPr>
          <a:xfrm>
            <a:off x="5102352" y="2084832"/>
            <a:ext cx="1920240" cy="685800"/>
          </a:xfrm>
          <a:prstGeom prst="rect">
            <a:avLst/>
          </a:prstGeom>
          <a:solidFill>
            <a:srgbClr val="00806B"/>
          </a:solidFill>
          <a:ln>
            <a:solidFill>
              <a:srgbClr val="00806B"/>
            </a:solidFill>
          </a:ln>
        </p:spPr>
        <p:txBody>
          <a:bodyPr wrap="square" lIns="508" tIns="508" rIns="508" bIns="508" rtlCol="0" anchor="ctr">
            <a:normAutofit/>
          </a:bodyPr>
          <a:lstStyle/>
          <a:p>
            <a:pPr marL="0" indent="0" algn="ctr">
              <a:buNone/>
            </a:pPr>
            <a:r>
              <a:rPr lang="en-US" sz="1220" b="1" dirty="0">
                <a:solidFill>
                  <a:srgbClr val="FFFFFF"/>
                </a:solidFill>
                <a:latin typeface="Noto Sans CJK KR" pitchFamily="34" charset="0"/>
                <a:ea typeface="Noto Sans CJK KR" pitchFamily="34" charset="-122"/>
                <a:cs typeface="Noto Sans CJK KR" pitchFamily="34" charset="-120"/>
              </a:rPr>
              <a:t>Model</a:t>
            </a:r>
            <a:endParaRPr lang="en-US" sz="1220" dirty="0"/>
          </a:p>
          <a:p>
            <a:pPr marL="0" indent="0" algn="ctr">
              <a:buNone/>
            </a:pPr>
            <a:r>
              <a:rPr lang="en-US" sz="1220" dirty="0">
                <a:solidFill>
                  <a:srgbClr val="EAF2FF"/>
                </a:solidFill>
                <a:latin typeface="Noto Sans CJK KR" pitchFamily="34" charset="0"/>
                <a:ea typeface="Noto Sans CJK KR" pitchFamily="34" charset="-122"/>
                <a:cs typeface="Noto Sans CJK KR" pitchFamily="34" charset="-120"/>
              </a:rPr>
              <a:t>LightGBM 중심 학습</a:t>
            </a:r>
            <a:endParaRPr lang="en-US" sz="1220" dirty="0"/>
          </a:p>
        </p:txBody>
      </p:sp>
      <p:sp>
        <p:nvSpPr>
          <p:cNvPr id="14" name="Shape 12"/>
          <p:cNvSpPr/>
          <p:nvPr/>
        </p:nvSpPr>
        <p:spPr>
          <a:xfrm>
            <a:off x="7031736" y="2432304"/>
            <a:ext cx="274320" cy="0"/>
          </a:xfrm>
          <a:prstGeom prst="line">
            <a:avLst/>
          </a:prstGeom>
          <a:noFill/>
          <a:ln w="17780">
            <a:solidFill>
              <a:srgbClr val="CBD5E1"/>
            </a:solidFill>
            <a:prstDash val="solid"/>
            <a:tailEnd type="triangle"/>
          </a:ln>
        </p:spPr>
      </p:sp>
      <p:sp>
        <p:nvSpPr>
          <p:cNvPr id="15" name="Text 13"/>
          <p:cNvSpPr/>
          <p:nvPr/>
        </p:nvSpPr>
        <p:spPr>
          <a:xfrm>
            <a:off x="7370064" y="2084832"/>
            <a:ext cx="1920240" cy="685800"/>
          </a:xfrm>
          <a:prstGeom prst="rect">
            <a:avLst/>
          </a:prstGeom>
          <a:solidFill>
            <a:srgbClr val="E67E22"/>
          </a:solidFill>
          <a:ln>
            <a:solidFill>
              <a:srgbClr val="E67E22"/>
            </a:solidFill>
          </a:ln>
        </p:spPr>
        <p:txBody>
          <a:bodyPr wrap="square" lIns="508" tIns="508" rIns="508" bIns="508" rtlCol="0" anchor="ctr">
            <a:normAutofit/>
          </a:bodyPr>
          <a:lstStyle/>
          <a:p>
            <a:pPr marL="0" indent="0" algn="ctr">
              <a:buNone/>
            </a:pPr>
            <a:r>
              <a:rPr lang="en-US" sz="1220" b="1" dirty="0">
                <a:solidFill>
                  <a:srgbClr val="FFFFFF"/>
                </a:solidFill>
                <a:latin typeface="Noto Sans CJK KR" pitchFamily="34" charset="0"/>
                <a:ea typeface="Noto Sans CJK KR" pitchFamily="34" charset="-122"/>
                <a:cs typeface="Noto Sans CJK KR" pitchFamily="34" charset="-120"/>
              </a:rPr>
              <a:t>Validation</a:t>
            </a:r>
            <a:endParaRPr lang="en-US" sz="1220" dirty="0"/>
          </a:p>
          <a:p>
            <a:pPr marL="0" indent="0" algn="ctr">
              <a:buNone/>
            </a:pPr>
            <a:r>
              <a:rPr lang="en-US" sz="1220" dirty="0">
                <a:solidFill>
                  <a:srgbClr val="EAF2FF"/>
                </a:solidFill>
                <a:latin typeface="Noto Sans CJK KR" pitchFamily="34" charset="0"/>
                <a:ea typeface="Noto Sans CJK KR" pitchFamily="34" charset="-122"/>
                <a:cs typeface="Noto Sans CJK KR" pitchFamily="34" charset="-120"/>
              </a:rPr>
              <a:t>WRMSSE 대응 검증</a:t>
            </a:r>
            <a:endParaRPr lang="en-US" sz="1220" dirty="0"/>
          </a:p>
        </p:txBody>
      </p:sp>
      <p:sp>
        <p:nvSpPr>
          <p:cNvPr id="16" name="Shape 14"/>
          <p:cNvSpPr/>
          <p:nvPr/>
        </p:nvSpPr>
        <p:spPr>
          <a:xfrm>
            <a:off x="9299448" y="2432304"/>
            <a:ext cx="274320" cy="0"/>
          </a:xfrm>
          <a:prstGeom prst="line">
            <a:avLst/>
          </a:prstGeom>
          <a:noFill/>
          <a:ln w="17780">
            <a:solidFill>
              <a:srgbClr val="CBD5E1"/>
            </a:solidFill>
            <a:prstDash val="solid"/>
            <a:tailEnd type="triangle"/>
          </a:ln>
        </p:spPr>
      </p:sp>
      <p:sp>
        <p:nvSpPr>
          <p:cNvPr id="17" name="Text 15"/>
          <p:cNvSpPr/>
          <p:nvPr/>
        </p:nvSpPr>
        <p:spPr>
          <a:xfrm>
            <a:off x="9637776" y="2084832"/>
            <a:ext cx="1920240" cy="685800"/>
          </a:xfrm>
          <a:prstGeom prst="rect">
            <a:avLst/>
          </a:prstGeom>
          <a:solidFill>
            <a:srgbClr val="E67E22"/>
          </a:solidFill>
          <a:ln>
            <a:solidFill>
              <a:srgbClr val="E67E22"/>
            </a:solidFill>
          </a:ln>
        </p:spPr>
        <p:txBody>
          <a:bodyPr wrap="square" lIns="508" tIns="508" rIns="508" bIns="508" rtlCol="0" anchor="ctr">
            <a:normAutofit/>
          </a:bodyPr>
          <a:lstStyle/>
          <a:p>
            <a:pPr marL="0" indent="0" algn="ctr">
              <a:buNone/>
            </a:pPr>
            <a:r>
              <a:rPr lang="en-US" sz="1220" b="1" dirty="0">
                <a:solidFill>
                  <a:srgbClr val="FFFFFF"/>
                </a:solidFill>
                <a:latin typeface="Noto Sans CJK KR" pitchFamily="34" charset="0"/>
                <a:ea typeface="Noto Sans CJK KR" pitchFamily="34" charset="-122"/>
                <a:cs typeface="Noto Sans CJK KR" pitchFamily="34" charset="-120"/>
              </a:rPr>
              <a:t>Ensemble</a:t>
            </a:r>
            <a:endParaRPr lang="en-US" sz="1220" dirty="0"/>
          </a:p>
          <a:p>
            <a:pPr marL="0" indent="0" algn="ctr">
              <a:buNone/>
            </a:pPr>
            <a:r>
              <a:rPr lang="en-US" sz="1220" dirty="0">
                <a:solidFill>
                  <a:srgbClr val="EAF2FF"/>
                </a:solidFill>
                <a:latin typeface="Noto Sans CJK KR" pitchFamily="34" charset="0"/>
                <a:ea typeface="Noto Sans CJK KR" pitchFamily="34" charset="-122"/>
                <a:cs typeface="Noto Sans CJK KR" pitchFamily="34" charset="-120"/>
              </a:rPr>
              <a:t>모델·기간·그룹 결합</a:t>
            </a:r>
            <a:endParaRPr lang="en-US" sz="1220" dirty="0"/>
          </a:p>
        </p:txBody>
      </p:sp>
      <p:sp>
        <p:nvSpPr>
          <p:cNvPr id="18" name="Shape 16"/>
          <p:cNvSpPr/>
          <p:nvPr/>
        </p:nvSpPr>
        <p:spPr>
          <a:xfrm>
            <a:off x="566928" y="3154680"/>
            <a:ext cx="3685032" cy="1627632"/>
          </a:xfrm>
          <a:prstGeom prst="roundRect">
            <a:avLst>
              <a:gd name="adj" fmla="val 4494"/>
            </a:avLst>
          </a:prstGeom>
          <a:solidFill>
            <a:srgbClr val="FFFFFF"/>
          </a:solidFill>
          <a:ln w="12700">
            <a:solidFill>
              <a:srgbClr val="D7DEE8"/>
            </a:solidFill>
            <a:prstDash val="solid"/>
          </a:ln>
        </p:spPr>
      </p:sp>
      <p:sp>
        <p:nvSpPr>
          <p:cNvPr id="19" name="Text 17"/>
          <p:cNvSpPr/>
          <p:nvPr/>
        </p:nvSpPr>
        <p:spPr>
          <a:xfrm>
            <a:off x="731520" y="3273552"/>
            <a:ext cx="3355848" cy="292608"/>
          </a:xfrm>
          <a:prstGeom prst="rect">
            <a:avLst/>
          </a:prstGeom>
          <a:noFill/>
          <a:ln/>
        </p:spPr>
        <p:txBody>
          <a:bodyPr wrap="square" lIns="0" tIns="0" rIns="0" bIns="0" rtlCol="0" anchor="ctr">
            <a:normAutofit/>
          </a:bodyPr>
          <a:lstStyle/>
          <a:p>
            <a:pPr marL="0" indent="0">
              <a:buNone/>
            </a:pPr>
            <a:r>
              <a:rPr lang="en-US" sz="1600" b="1" dirty="0">
                <a:solidFill>
                  <a:srgbClr val="2D6CDF"/>
                </a:solidFill>
                <a:latin typeface="Noto Sans CJK KR" pitchFamily="34" charset="0"/>
                <a:ea typeface="Noto Sans CJK KR" pitchFamily="34" charset="-122"/>
                <a:cs typeface="Noto Sans CJK KR" pitchFamily="34" charset="-120"/>
              </a:rPr>
              <a:t>① 피처 엔지니어링</a:t>
            </a:r>
            <a:endParaRPr lang="en-US" sz="1600" dirty="0"/>
          </a:p>
        </p:txBody>
      </p:sp>
      <p:sp>
        <p:nvSpPr>
          <p:cNvPr id="20" name="Text 18"/>
          <p:cNvSpPr/>
          <p:nvPr/>
        </p:nvSpPr>
        <p:spPr>
          <a:xfrm>
            <a:off x="749808" y="3685032"/>
            <a:ext cx="3319272" cy="969264"/>
          </a:xfrm>
          <a:prstGeom prst="rect">
            <a:avLst/>
          </a:prstGeom>
          <a:noFill/>
          <a:ln/>
        </p:spPr>
        <p:txBody>
          <a:bodyPr wrap="square" lIns="0" tIns="0" rIns="0" bIns="0" rtlCol="0" anchor="ctr">
            <a:normAutofit/>
          </a:bodyPr>
          <a:lstStyle/>
          <a:p>
            <a:pPr marL="0" indent="0">
              <a:buNone/>
            </a:pPr>
            <a:r>
              <a:rPr lang="en-US" sz="1220" b="1" dirty="0">
                <a:solidFill>
                  <a:srgbClr val="2D6CDF"/>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Lag Feature: t-7, t-28 등 과거 판매량을 현재 입력값으로 변환
</a:t>
            </a:r>
            <a:r>
              <a:rPr lang="en-US" sz="1220" b="1" dirty="0">
                <a:solidFill>
                  <a:srgbClr val="2D6CDF"/>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Rolling Feature: 7·14·28일 이동평균/표준편차로 추세와 변동성 반영
</a:t>
            </a:r>
            <a:r>
              <a:rPr lang="en-US" sz="1220" b="1" dirty="0">
                <a:solidFill>
                  <a:srgbClr val="2D6CDF"/>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Calendar/Price Feature: 이벤트, 요일, 월, SNAP, 가격 변화 반영</a:t>
            </a:r>
            <a:endParaRPr lang="en-US" sz="1220" dirty="0"/>
          </a:p>
        </p:txBody>
      </p:sp>
      <p:sp>
        <p:nvSpPr>
          <p:cNvPr id="21" name="Shape 19"/>
          <p:cNvSpPr/>
          <p:nvPr/>
        </p:nvSpPr>
        <p:spPr>
          <a:xfrm>
            <a:off x="4453128" y="3154680"/>
            <a:ext cx="3685032" cy="1627632"/>
          </a:xfrm>
          <a:prstGeom prst="roundRect">
            <a:avLst>
              <a:gd name="adj" fmla="val 4494"/>
            </a:avLst>
          </a:prstGeom>
          <a:solidFill>
            <a:srgbClr val="FFFFFF"/>
          </a:solidFill>
          <a:ln w="12700">
            <a:solidFill>
              <a:srgbClr val="D7DEE8"/>
            </a:solidFill>
            <a:prstDash val="solid"/>
          </a:ln>
        </p:spPr>
      </p:sp>
      <p:sp>
        <p:nvSpPr>
          <p:cNvPr id="22" name="Text 20"/>
          <p:cNvSpPr/>
          <p:nvPr/>
        </p:nvSpPr>
        <p:spPr>
          <a:xfrm>
            <a:off x="4617720" y="3273552"/>
            <a:ext cx="3355848" cy="292608"/>
          </a:xfrm>
          <a:prstGeom prst="rect">
            <a:avLst/>
          </a:prstGeom>
          <a:noFill/>
          <a:ln/>
        </p:spPr>
        <p:txBody>
          <a:bodyPr wrap="square" lIns="0" tIns="0" rIns="0" bIns="0" rtlCol="0" anchor="ctr">
            <a:normAutofit/>
          </a:bodyPr>
          <a:lstStyle/>
          <a:p>
            <a:pPr marL="0" indent="0">
              <a:buNone/>
            </a:pPr>
            <a:r>
              <a:rPr lang="en-US" sz="1600" b="1" dirty="0">
                <a:solidFill>
                  <a:srgbClr val="00806B"/>
                </a:solidFill>
                <a:latin typeface="Noto Sans CJK KR" pitchFamily="34" charset="0"/>
                <a:ea typeface="Noto Sans CJK KR" pitchFamily="34" charset="-122"/>
                <a:cs typeface="Noto Sans CJK KR" pitchFamily="34" charset="-120"/>
              </a:rPr>
              <a:t>② 모델·검증 최적화</a:t>
            </a:r>
            <a:endParaRPr lang="en-US" sz="1600" dirty="0"/>
          </a:p>
        </p:txBody>
      </p:sp>
      <p:sp>
        <p:nvSpPr>
          <p:cNvPr id="23" name="Text 21"/>
          <p:cNvSpPr/>
          <p:nvPr/>
        </p:nvSpPr>
        <p:spPr>
          <a:xfrm>
            <a:off x="4636008" y="3685032"/>
            <a:ext cx="3319272" cy="969264"/>
          </a:xfrm>
          <a:prstGeom prst="rect">
            <a:avLst/>
          </a:prstGeom>
          <a:noFill/>
          <a:ln/>
        </p:spPr>
        <p:txBody>
          <a:bodyPr wrap="square" lIns="0" tIns="0" rIns="0" bIns="0" rtlCol="0" anchor="ctr">
            <a:normAutofit/>
          </a:bodyPr>
          <a:lstStyle/>
          <a:p>
            <a:pPr marL="0" indent="0">
              <a:buNone/>
            </a:pPr>
            <a:r>
              <a:rPr lang="en-US" sz="1220" b="1" dirty="0">
                <a:solidFill>
                  <a:srgbClr val="00806B"/>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LightGBM: 대규모 표 형태 데이터에서 빠르고 성능이 좋은 GBDT 계열 모델
</a:t>
            </a:r>
            <a:r>
              <a:rPr lang="en-US" sz="1220" b="1" dirty="0">
                <a:solidFill>
                  <a:srgbClr val="00806B"/>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시계열 검증: 미래 데이터를 학습에 섞지 않고 검증 기간을 분리
</a:t>
            </a:r>
            <a:r>
              <a:rPr lang="en-US" sz="1220" b="1" dirty="0">
                <a:solidFill>
                  <a:srgbClr val="00806B"/>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WRMSSE 대응: 매출 기여도가 큰 계열의 오차를 더 민감하게 관리</a:t>
            </a:r>
            <a:endParaRPr lang="en-US" sz="1220" dirty="0"/>
          </a:p>
        </p:txBody>
      </p:sp>
      <p:sp>
        <p:nvSpPr>
          <p:cNvPr id="24" name="Shape 22"/>
          <p:cNvSpPr/>
          <p:nvPr/>
        </p:nvSpPr>
        <p:spPr>
          <a:xfrm>
            <a:off x="8339328" y="3154680"/>
            <a:ext cx="3273552" cy="1627632"/>
          </a:xfrm>
          <a:prstGeom prst="roundRect">
            <a:avLst>
              <a:gd name="adj" fmla="val 4494"/>
            </a:avLst>
          </a:prstGeom>
          <a:solidFill>
            <a:srgbClr val="FFFFFF"/>
          </a:solidFill>
          <a:ln w="12700">
            <a:solidFill>
              <a:srgbClr val="D7DEE8"/>
            </a:solidFill>
            <a:prstDash val="solid"/>
          </a:ln>
        </p:spPr>
      </p:sp>
      <p:sp>
        <p:nvSpPr>
          <p:cNvPr id="25" name="Text 23"/>
          <p:cNvSpPr/>
          <p:nvPr/>
        </p:nvSpPr>
        <p:spPr>
          <a:xfrm>
            <a:off x="8503920" y="3273552"/>
            <a:ext cx="2944368" cy="292608"/>
          </a:xfrm>
          <a:prstGeom prst="rect">
            <a:avLst/>
          </a:prstGeom>
          <a:noFill/>
          <a:ln/>
        </p:spPr>
        <p:txBody>
          <a:bodyPr wrap="square" lIns="0" tIns="0" rIns="0" bIns="0" rtlCol="0" anchor="ctr">
            <a:normAutofit/>
          </a:bodyPr>
          <a:lstStyle/>
          <a:p>
            <a:pPr marL="0" indent="0">
              <a:buNone/>
            </a:pPr>
            <a:r>
              <a:rPr lang="en-US" sz="1600" b="1" dirty="0">
                <a:solidFill>
                  <a:srgbClr val="E67E22"/>
                </a:solidFill>
                <a:latin typeface="Noto Sans CJK KR" pitchFamily="34" charset="0"/>
                <a:ea typeface="Noto Sans CJK KR" pitchFamily="34" charset="-122"/>
                <a:cs typeface="Noto Sans CJK KR" pitchFamily="34" charset="-120"/>
              </a:rPr>
              <a:t>③ 앙상블·후처리</a:t>
            </a:r>
            <a:endParaRPr lang="en-US" sz="1600" dirty="0"/>
          </a:p>
        </p:txBody>
      </p:sp>
      <p:sp>
        <p:nvSpPr>
          <p:cNvPr id="26" name="Text 24"/>
          <p:cNvSpPr/>
          <p:nvPr/>
        </p:nvSpPr>
        <p:spPr>
          <a:xfrm>
            <a:off x="8522208" y="3685032"/>
            <a:ext cx="2907792" cy="969264"/>
          </a:xfrm>
          <a:prstGeom prst="rect">
            <a:avLst/>
          </a:prstGeom>
          <a:noFill/>
          <a:ln/>
        </p:spPr>
        <p:txBody>
          <a:bodyPr wrap="square" lIns="0" tIns="0" rIns="0" bIns="0" rtlCol="0" anchor="ctr">
            <a:normAutofit/>
          </a:bodyPr>
          <a:lstStyle/>
          <a:p>
            <a:pPr marL="0" indent="0">
              <a:buNone/>
            </a:pPr>
            <a:r>
              <a:rPr lang="en-US" sz="1220" b="1" dirty="0">
                <a:solidFill>
                  <a:srgbClr val="E67E22"/>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서로 다른 기간·그룹·모델 설정의 예측값을 결합해 과적합 위험 완화
</a:t>
            </a:r>
            <a:r>
              <a:rPr lang="en-US" sz="1220" b="1" dirty="0">
                <a:solidFill>
                  <a:srgbClr val="E67E22"/>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품목·매장·카테고리별 수요 특성을 나누어 반영
</a:t>
            </a:r>
            <a:r>
              <a:rPr lang="en-US" sz="1220" b="1" dirty="0">
                <a:solidFill>
                  <a:srgbClr val="E67E22"/>
                </a:solidFill>
                <a:latin typeface="Noto Sans CJK KR" pitchFamily="34" charset="0"/>
                <a:ea typeface="Noto Sans CJK KR" pitchFamily="34" charset="-122"/>
                <a:cs typeface="Noto Sans CJK KR" pitchFamily="34" charset="-120"/>
              </a:rPr>
              <a:t>• </a:t>
            </a:r>
            <a:r>
              <a:rPr lang="en-US" sz="1220" dirty="0">
                <a:solidFill>
                  <a:srgbClr val="1F2937"/>
                </a:solidFill>
                <a:latin typeface="Noto Sans CJK KR" pitchFamily="34" charset="0"/>
                <a:ea typeface="Noto Sans CJK KR" pitchFamily="34" charset="-122"/>
                <a:cs typeface="Noto Sans CJK KR" pitchFamily="34" charset="-120"/>
              </a:rPr>
              <a:t>상위 계층 집계 결과까지 고려해 안정적인 전체 점수 확보</a:t>
            </a:r>
            <a:endParaRPr lang="en-US" sz="1220" dirty="0"/>
          </a:p>
        </p:txBody>
      </p:sp>
      <p:sp>
        <p:nvSpPr>
          <p:cNvPr id="27" name="Shape 25"/>
          <p:cNvSpPr/>
          <p:nvPr/>
        </p:nvSpPr>
        <p:spPr>
          <a:xfrm>
            <a:off x="566928" y="5212080"/>
            <a:ext cx="11045952" cy="841248"/>
          </a:xfrm>
          <a:prstGeom prst="roundRect">
            <a:avLst>
              <a:gd name="adj" fmla="val 6522"/>
            </a:avLst>
          </a:prstGeom>
          <a:solidFill>
            <a:srgbClr val="EEF6FF"/>
          </a:solidFill>
          <a:ln w="12700">
            <a:solidFill>
              <a:srgbClr val="BCD7FF"/>
            </a:solidFill>
            <a:prstDash val="solid"/>
          </a:ln>
        </p:spPr>
      </p:sp>
      <p:sp>
        <p:nvSpPr>
          <p:cNvPr id="28" name="Text 26"/>
          <p:cNvSpPr/>
          <p:nvPr/>
        </p:nvSpPr>
        <p:spPr>
          <a:xfrm>
            <a:off x="777240" y="5404104"/>
            <a:ext cx="1170432" cy="274320"/>
          </a:xfrm>
          <a:prstGeom prst="rect">
            <a:avLst/>
          </a:prstGeom>
          <a:noFill/>
          <a:ln/>
        </p:spPr>
        <p:txBody>
          <a:bodyPr wrap="square" lIns="0" tIns="0" rIns="0" bIns="0" rtlCol="0" anchor="ctr"/>
          <a:lstStyle/>
          <a:p>
            <a:pPr marL="0" indent="0">
              <a:buNone/>
            </a:pPr>
            <a:r>
              <a:rPr lang="en-US" sz="1400" b="1" dirty="0">
                <a:solidFill>
                  <a:srgbClr val="2D6CDF"/>
                </a:solidFill>
                <a:latin typeface="Noto Sans CJK KR" pitchFamily="34" charset="0"/>
                <a:ea typeface="Noto Sans CJK KR" pitchFamily="34" charset="-122"/>
                <a:cs typeface="Noto Sans CJK KR" pitchFamily="34" charset="-120"/>
              </a:rPr>
              <a:t>본인 평가</a:t>
            </a:r>
            <a:endParaRPr lang="en-US" sz="1400" dirty="0"/>
          </a:p>
        </p:txBody>
      </p:sp>
      <p:sp>
        <p:nvSpPr>
          <p:cNvPr id="29" name="Text 27"/>
          <p:cNvSpPr/>
          <p:nvPr/>
        </p:nvSpPr>
        <p:spPr>
          <a:xfrm>
            <a:off x="1965960" y="5330952"/>
            <a:ext cx="9326880" cy="457200"/>
          </a:xfrm>
          <a:prstGeom prst="rect">
            <a:avLst/>
          </a:prstGeom>
          <a:noFill/>
          <a:ln/>
        </p:spPr>
        <p:txBody>
          <a:bodyPr wrap="square" lIns="0" tIns="0" rIns="0" bIns="0" rtlCol="0" anchor="ctr">
            <a:normAutofit/>
          </a:bodyPr>
          <a:lstStyle/>
          <a:p>
            <a:pPr marL="0" indent="0">
              <a:buNone/>
            </a:pPr>
            <a:r>
              <a:rPr lang="en-US" sz="1250" dirty="0">
                <a:solidFill>
                  <a:srgbClr val="1F2937"/>
                </a:solidFill>
                <a:latin typeface="Noto Sans CJK KR" pitchFamily="34" charset="0"/>
                <a:ea typeface="Noto Sans CJK KR" pitchFamily="34" charset="-122"/>
                <a:cs typeface="Noto Sans CJK KR" pitchFamily="34" charset="-120"/>
              </a:rPr>
              <a:t>이 사례는 모델 선택보다 문제 구조에 맞춘 데이터 변환이 더 중요하다는 점을 보여준다. 실제 기업의 수요예측에서는 판매량 데이터만 쓰기보다 가격·이벤트·계절성·품목 계층을 함께 반영해야 하며, 예측 결과는 재고관리와 물류 최적화 의사결정으로 연결될 수 있다.</a:t>
            </a:r>
            <a:endParaRPr lang="en-US" sz="1250" dirty="0"/>
          </a:p>
        </p:txBody>
      </p:sp>
      <p:sp>
        <p:nvSpPr>
          <p:cNvPr id="30" name="Text 28"/>
          <p:cNvSpPr/>
          <p:nvPr/>
        </p:nvSpPr>
        <p:spPr>
          <a:xfrm>
            <a:off x="566928" y="6153912"/>
            <a:ext cx="1234440" cy="201168"/>
          </a:xfrm>
          <a:prstGeom prst="rect">
            <a:avLst/>
          </a:prstGeom>
          <a:noFill/>
          <a:ln/>
        </p:spPr>
        <p:txBody>
          <a:bodyPr wrap="square" lIns="0" tIns="0" rIns="0" bIns="0" rtlCol="0" anchor="ctr"/>
          <a:lstStyle/>
          <a:p>
            <a:pPr marL="0" indent="0">
              <a:buNone/>
            </a:pPr>
            <a:r>
              <a:rPr lang="en-US" sz="950" b="1" dirty="0">
                <a:solidFill>
                  <a:srgbClr val="3F4A5A"/>
                </a:solidFill>
                <a:latin typeface="Noto Sans CJK KR" pitchFamily="34" charset="0"/>
                <a:ea typeface="Noto Sans CJK KR" pitchFamily="34" charset="-122"/>
                <a:cs typeface="Noto Sans CJK KR" pitchFamily="34" charset="-120"/>
              </a:rPr>
              <a:t>4분 발표 흐름</a:t>
            </a:r>
            <a:endParaRPr lang="en-US" sz="950" dirty="0"/>
          </a:p>
        </p:txBody>
      </p:sp>
      <p:sp>
        <p:nvSpPr>
          <p:cNvPr id="31" name="Text 29"/>
          <p:cNvSpPr/>
          <p:nvPr/>
        </p:nvSpPr>
        <p:spPr>
          <a:xfrm>
            <a:off x="1874520" y="6144768"/>
            <a:ext cx="9464040" cy="201168"/>
          </a:xfrm>
          <a:prstGeom prst="rect">
            <a:avLst/>
          </a:prstGeom>
          <a:noFill/>
          <a:ln/>
        </p:spPr>
        <p:txBody>
          <a:bodyPr wrap="square" lIns="0" tIns="0" rIns="0" bIns="0" rtlCol="0" anchor="ctr">
            <a:normAutofit/>
          </a:bodyPr>
          <a:lstStyle/>
          <a:p>
            <a:pPr marL="0" indent="0">
              <a:buNone/>
            </a:pPr>
            <a:r>
              <a:rPr lang="en-US" sz="950" dirty="0">
                <a:solidFill>
                  <a:srgbClr val="3F4A5A"/>
                </a:solidFill>
                <a:latin typeface="Noto Sans CJK KR" pitchFamily="34" charset="0"/>
                <a:ea typeface="Noto Sans CJK KR" pitchFamily="34" charset="-122"/>
                <a:cs typeface="Noto Sans CJK KR" pitchFamily="34" charset="-120"/>
              </a:rPr>
              <a:t>① 대회 개요 40초 → ② 데이터 구조 50초 → ③ 최적화 방법 1분 40초 → ④ 결론·평가 50초</a:t>
            </a:r>
            <a:endParaRPr lang="en-US" sz="950" dirty="0"/>
          </a:p>
        </p:txBody>
      </p:sp>
      <p:sp>
        <p:nvSpPr>
          <p:cNvPr id="32" name="Text 30"/>
          <p:cNvSpPr/>
          <p:nvPr/>
        </p:nvSpPr>
        <p:spPr>
          <a:xfrm>
            <a:off x="530352" y="6473952"/>
            <a:ext cx="11155680" cy="201168"/>
          </a:xfrm>
          <a:prstGeom prst="rect">
            <a:avLst/>
          </a:prstGeom>
          <a:noFill/>
          <a:ln/>
        </p:spPr>
        <p:txBody>
          <a:bodyPr wrap="square" lIns="0" tIns="0" rIns="0" bIns="0" rtlCol="0" anchor="ctr">
            <a:normAutofit/>
          </a:bodyPr>
          <a:lstStyle/>
          <a:p>
            <a:pPr marL="0" indent="0">
              <a:buNone/>
            </a:pPr>
            <a:r>
              <a:rPr lang="en-US" sz="750" dirty="0">
                <a:solidFill>
                  <a:srgbClr val="7B8794"/>
                </a:solidFill>
                <a:latin typeface="Noto Sans CJK KR" pitchFamily="34" charset="0"/>
                <a:ea typeface="Noto Sans CJK KR" pitchFamily="34" charset="-122"/>
                <a:cs typeface="Noto Sans CJK KR" pitchFamily="34" charset="-120"/>
              </a:rPr>
              <a:t>Sources: Kaggle M5 Forecasting - Accuracy; Kaggle Data tab; Makridakis et al. (2022); public Kaggle solution write-ups.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TotalTime>
  <Words>816</Words>
  <Application>Microsoft Office PowerPoint</Application>
  <PresentationFormat>와이드스크린</PresentationFormat>
  <Paragraphs>51</Paragraphs>
  <Slides>2</Slides>
  <Notes>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vt:i4>
      </vt:variant>
    </vt:vector>
  </HeadingPairs>
  <TitlesOfParts>
    <vt:vector size="5" baseType="lpstr">
      <vt:lpstr>Noto Sans CJK KR</vt:lpstr>
      <vt:lpstr>Arial</vt:lpstr>
      <vt:lpstr>Office Theme</vt:lpstr>
      <vt:lpstr>PowerPoint 프레젠테이션</vt:lpstr>
      <vt:lpstr>PowerPoint 프레젠테이션</vt:lpstr>
    </vt:vector>
  </TitlesOfParts>
  <Company>Konkuk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15장 발표 - 머신러닝 모델의 최적화 사례</dc:title>
  <dc:subject>Kaggle M5 Forecasting Accuracy optimization case</dc:subject>
  <dc:creator>OpenAI</dc:creator>
  <cp:lastModifiedBy>LEE JIMIN</cp:lastModifiedBy>
  <cp:revision>2</cp:revision>
  <dcterms:created xsi:type="dcterms:W3CDTF">2026-06-07T04:31:06Z</dcterms:created>
  <dcterms:modified xsi:type="dcterms:W3CDTF">2026-06-07T11:52:15Z</dcterms:modified>
</cp:coreProperties>
</file>
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7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96"/>
  </p:normalViewPr>
  <p:slideViewPr>
    <p:cSldViewPr snapToGrid="0" snapToObjects="1">
      <p:cViewPr varScale="1">
        <p:scale>
          <a:sx n="139" d="100"/>
          <a:sy n="139" d="100"/>
        </p:scale>
        <p:origin x="56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98860E-4A8D-2048-88BD-778D03767459}" type="datetimeFigureOut">
              <a:rPr kumimoji="1" lang="ko-KR" altLang="en-US" smtClean="0"/>
              <a:t>2025. 12. 10.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79B851-FEE7-2F41-93DB-AA8E6C5F6F2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1272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목요일</a:t>
            </a:r>
            <a:r>
              <a:rPr lang="en-US" altLang="ko-KR" dirty="0"/>
              <a:t>(</a:t>
            </a:r>
            <a:r>
              <a:rPr lang="en" altLang="ko-KR" dirty="0"/>
              <a:t>Thu) </a:t>
            </a:r>
            <a:r>
              <a:rPr lang="ko-KR" altLang="en-US" dirty="0"/>
              <a:t>최고 거래량</a:t>
            </a:r>
            <a:r>
              <a:rPr lang="en-US" altLang="ko-KR" dirty="0"/>
              <a:t>, </a:t>
            </a:r>
            <a:r>
              <a:rPr lang="ko-KR" altLang="en-US" dirty="0"/>
              <a:t>토요일은 휴무 </a:t>
            </a:r>
            <a:r>
              <a:rPr lang="en-US" altLang="ko-KR" dirty="0"/>
              <a:t>(</a:t>
            </a:r>
            <a:r>
              <a:rPr lang="ko-KR" altLang="en-US" dirty="0"/>
              <a:t>거래 없음</a:t>
            </a:r>
            <a:r>
              <a:rPr lang="en-US" altLang="ko-KR" dirty="0"/>
              <a:t>)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9B851-FEE7-2F41-93DB-AA8E6C5F6F25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12669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오전 </a:t>
            </a:r>
            <a:r>
              <a:rPr lang="en-US" altLang="ko-KR" dirty="0"/>
              <a:t>10</a:t>
            </a:r>
            <a:r>
              <a:rPr lang="ko-KR" altLang="en-US" dirty="0"/>
              <a:t>시 </a:t>
            </a:r>
            <a:r>
              <a:rPr lang="en-US" altLang="ko-KR" dirty="0"/>
              <a:t>~ </a:t>
            </a:r>
            <a:r>
              <a:rPr lang="ko-KR" altLang="en-US" dirty="0"/>
              <a:t>오후 </a:t>
            </a:r>
            <a:r>
              <a:rPr lang="en-US" altLang="ko-KR" dirty="0"/>
              <a:t>3</a:t>
            </a:r>
            <a:r>
              <a:rPr lang="ko-KR" altLang="en-US" dirty="0"/>
              <a:t>시에 거래 집중 </a:t>
            </a:r>
            <a:r>
              <a:rPr lang="en-US" altLang="ko-KR" dirty="0"/>
              <a:t>(</a:t>
            </a:r>
            <a:r>
              <a:rPr lang="ko-KR" altLang="en-US" dirty="0"/>
              <a:t>주황색 하이라이트</a:t>
            </a:r>
            <a:r>
              <a:rPr lang="en-US" altLang="ko-KR" dirty="0"/>
              <a:t>)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9B851-FEE7-2F41-93DB-AA8E6C5F6F25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38215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ko-KR" dirty="0"/>
              <a:t>Quantity</a:t>
            </a:r>
            <a:r>
              <a:rPr lang="ko-KR" altLang="en-US" dirty="0"/>
              <a:t>와 </a:t>
            </a:r>
            <a:r>
              <a:rPr lang="en" altLang="ko-KR" dirty="0" err="1"/>
              <a:t>TotalPrice</a:t>
            </a:r>
            <a:r>
              <a:rPr lang="en" altLang="ko-KR" dirty="0"/>
              <a:t> </a:t>
            </a:r>
            <a:r>
              <a:rPr lang="ko-KR" altLang="en-US" dirty="0"/>
              <a:t>간 강한 양의 상관관계 </a:t>
            </a:r>
            <a:r>
              <a:rPr lang="en-US" altLang="ko-KR" dirty="0"/>
              <a:t>(0.71)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9B851-FEE7-2F41-93DB-AA8E6C5F6F25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45490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대부분의 고객이 낮은 </a:t>
            </a:r>
            <a:r>
              <a:rPr lang="en" altLang="ko-KR" dirty="0"/>
              <a:t>Frequency, Monetary </a:t>
            </a:r>
            <a:r>
              <a:rPr lang="ko-KR" altLang="en-US" dirty="0"/>
              <a:t>값을 보임 </a:t>
            </a:r>
            <a:r>
              <a:rPr lang="en-US" altLang="ko-KR" dirty="0"/>
              <a:t>(</a:t>
            </a:r>
            <a:r>
              <a:rPr lang="ko-KR" altLang="en-US" dirty="0" err="1"/>
              <a:t>롱테일</a:t>
            </a:r>
            <a:r>
              <a:rPr lang="ko-KR" altLang="en-US" dirty="0"/>
              <a:t> 분포</a:t>
            </a:r>
            <a:r>
              <a:rPr lang="en-US" altLang="ko-KR" dirty="0"/>
              <a:t>)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9B851-FEE7-2F41-93DB-AA8E6C5F6F25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310898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ko-KR" dirty="0"/>
              <a:t>K=4</a:t>
            </a:r>
            <a:r>
              <a:rPr lang="ko-KR" altLang="en-US" dirty="0"/>
              <a:t>에서 기울기 완화 → 최적 클러스터 수 </a:t>
            </a:r>
            <a:r>
              <a:rPr lang="en-US" altLang="ko-KR" dirty="0"/>
              <a:t>= 4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9B851-FEE7-2F41-93DB-AA8E6C5F6F25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37167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4</a:t>
            </a:r>
            <a:r>
              <a:rPr lang="ko-KR" altLang="en-US" dirty="0"/>
              <a:t>개 클러스터로 명확하게 고객 그룹 구분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9B851-FEE7-2F41-93DB-AA8E6C5F6F25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0572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각 클러스터의 특성이 명확히 구분됨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9B851-FEE7-2F41-93DB-AA8E6C5F6F25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160156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ko-KR" dirty="0"/>
              <a:t>Gradient Boosting</a:t>
            </a:r>
            <a:r>
              <a:rPr lang="ko-KR" altLang="en-US" dirty="0"/>
              <a:t>이 가장 높은 </a:t>
            </a:r>
            <a:r>
              <a:rPr lang="en" altLang="ko-KR" dirty="0"/>
              <a:t>R² Score </a:t>
            </a:r>
            <a:r>
              <a:rPr lang="ko-KR" altLang="en-US" dirty="0"/>
              <a:t>달성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9B851-FEE7-2F41-93DB-AA8E6C5F6F25}" type="slidenum">
              <a:rPr kumimoji="1" lang="ko-KR" altLang="en-US" smtClean="0"/>
              <a:t>24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63491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ko-KR" dirty="0"/>
              <a:t>Gradient Boosting </a:t>
            </a:r>
            <a:r>
              <a:rPr lang="ko-KR" altLang="en-US" dirty="0"/>
              <a:t>모델의 예측 결과 </a:t>
            </a:r>
            <a:r>
              <a:rPr lang="en-US" altLang="ko-KR" dirty="0"/>
              <a:t>- </a:t>
            </a:r>
            <a:r>
              <a:rPr lang="ko-KR" altLang="en-US" dirty="0"/>
              <a:t>대각선에 가까울수록 정확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9B851-FEE7-2F41-93DB-AA8E6C5F6F25}" type="slidenum">
              <a:rPr kumimoji="1" lang="ko-KR" altLang="en-US" smtClean="0"/>
              <a:t>27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2804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ko-KR" dirty="0" err="1"/>
              <a:t>NumTransactions</a:t>
            </a:r>
            <a:r>
              <a:rPr lang="en" altLang="ko-KR" dirty="0"/>
              <a:t>(</a:t>
            </a:r>
            <a:r>
              <a:rPr lang="ko-KR" altLang="en-US" dirty="0"/>
              <a:t>거래 건수</a:t>
            </a:r>
            <a:r>
              <a:rPr lang="en-US" altLang="ko-KR" dirty="0"/>
              <a:t>)</a:t>
            </a:r>
            <a:r>
              <a:rPr lang="ko-KR" altLang="en-US" dirty="0"/>
              <a:t>가 매출 예측에 가장 큰 영향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9B851-FEE7-2F41-93DB-AA8E6C5F6F25}" type="slidenum">
              <a:rPr kumimoji="1" lang="ko-KR" altLang="en-US" smtClean="0"/>
              <a:t>28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12877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51654" y="2286000"/>
            <a:ext cx="1048838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lang="en" sz="3600" dirty="0"/>
              <a:t>Kaggle </a:t>
            </a:r>
            <a:r>
              <a:rPr lang="ko-KR" altLang="en-US" sz="3600" dirty="0"/>
              <a:t>데이터셋을 활용한 고객 세분화 및 매출 예측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7674" y="3840480"/>
            <a:ext cx="257634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rPr lang="en-US" altLang="ko-KR" sz="2400" dirty="0"/>
              <a:t>202576621</a:t>
            </a:r>
            <a:r>
              <a:rPr lang="ko-KR" altLang="en-US" dirty="0"/>
              <a:t> 김혜성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1. 데이터셋 소개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2. 데이터 전처리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3. 탐색적 데이터 분석 (EDA)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4. 고객 세분화 - RFM 분석 &amp; K-Means 클러스터링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5. 매출 예측 - 회귀 모델링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6. 하이퍼파라미터 튜닝 및 결과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7. 결론 및 인사이트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1. 데이터셋 소개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데이터셋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출처: Kaggle - E-Commerce Data (Online Retail)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원본: UCI Machine Learning Repository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기간: 2010년 12월 1일 ~ 2011년 12월 9일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업체: 영국 기반 비점포식 온라인 소매업체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판매 상품: 모든 계절의 독특한 선물 상품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데이터 규모: 541,909건의 거래 기록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고객 수: 약 4,300명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데이터 컬럼 설명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1645920"/>
          <a:ext cx="10058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컬럼명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타입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InvoiceNo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송장 번호 (C로 시작시 취소)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StockCode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상품 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상품 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구매 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InvoiceDate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송장 일시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Datetime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UnitPrice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단가 (£)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CustomerID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고객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국가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2. 데이터 전처리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전처리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1. 결측치 처리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• CustomerID 결측치 제거 (고객 분석 필수)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2. 이상 데이터 제거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• 취소 주문 제거 (InvoiceNo가 'C'로 시작)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• 수량/가격이 0 이하인 데이터 제거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3. 이상치 제거 (IQR 방식)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• Quantity, UnitPrice, TotalPrice 대상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4. 전처리 결과: 541,909 → 324,716건 (60%)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파생 변수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TotalPrice = Quantity × UnitPrice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날짜/시간 피처 추출: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- Year, Month, Day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- DayOfWeek (요일: 0=월, 6=일)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- Hour (시간)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RFM 분석용 변수: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- Recency (최근 구매 후 경과일)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- Frequency (구매 횟수)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- Monetary (총 구매 금액)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3. 탐색적 데이터 분석 (EDA)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국가별 매출 Top 10</a:t>
            </a:r>
          </a:p>
        </p:txBody>
      </p:sp>
      <p:pic>
        <p:nvPicPr>
          <p:cNvPr id="4" name="Picture 3" descr="01_countr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46695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영국이 전체 매출의 약 82%를 차지 (£6.75M)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월별 매출 추이</a:t>
            </a:r>
          </a:p>
        </p:txBody>
      </p:sp>
      <p:pic>
        <p:nvPicPr>
          <p:cNvPr id="4" name="Picture 3" descr="02_monthl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46722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11월 연말 시즌 매출 급증, 2월 최저 매출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요일별 매출 분석</a:t>
            </a:r>
          </a:p>
        </p:txBody>
      </p:sp>
      <p:pic>
        <p:nvPicPr>
          <p:cNvPr id="4" name="Picture 3" descr="03_daily_s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097280"/>
            <a:ext cx="9418320" cy="5616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시간대별 거래 분석</a:t>
            </a:r>
          </a:p>
        </p:txBody>
      </p:sp>
      <p:pic>
        <p:nvPicPr>
          <p:cNvPr id="4" name="Picture 3" descr="04_hourly_trans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097280"/>
            <a:ext cx="9418320" cy="46748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변수 간 상관관계</a:t>
            </a:r>
          </a:p>
        </p:txBody>
      </p:sp>
      <p:pic>
        <p:nvPicPr>
          <p:cNvPr id="4" name="Picture 3" descr="05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576" y="1097280"/>
            <a:ext cx="5529997" cy="50291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4. 고객 세분화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RFM 분석이란?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 err="1"/>
              <a:t>고객</a:t>
            </a:r>
            <a:r>
              <a:rPr dirty="0"/>
              <a:t> </a:t>
            </a:r>
            <a:r>
              <a:rPr dirty="0" err="1"/>
              <a:t>가치를</a:t>
            </a:r>
            <a:r>
              <a:rPr dirty="0"/>
              <a:t> </a:t>
            </a:r>
            <a:r>
              <a:rPr dirty="0" err="1"/>
              <a:t>측정하는</a:t>
            </a:r>
            <a:r>
              <a:rPr dirty="0"/>
              <a:t> </a:t>
            </a:r>
            <a:r>
              <a:rPr dirty="0" err="1"/>
              <a:t>마케팅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기법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Recency (</a:t>
            </a:r>
            <a:r>
              <a:rPr dirty="0" err="1"/>
              <a:t>최근성</a:t>
            </a:r>
            <a:r>
              <a:rPr dirty="0"/>
              <a:t>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- </a:t>
            </a:r>
            <a:r>
              <a:rPr dirty="0" err="1"/>
              <a:t>마지막</a:t>
            </a:r>
            <a:r>
              <a:rPr dirty="0"/>
              <a:t> </a:t>
            </a:r>
            <a:r>
              <a:rPr dirty="0" err="1"/>
              <a:t>구매로부터</a:t>
            </a:r>
            <a:r>
              <a:rPr dirty="0"/>
              <a:t> </a:t>
            </a:r>
            <a:r>
              <a:rPr dirty="0" err="1"/>
              <a:t>경과된</a:t>
            </a:r>
            <a:r>
              <a:rPr dirty="0"/>
              <a:t> </a:t>
            </a:r>
            <a:r>
              <a:rPr dirty="0" err="1"/>
              <a:t>일수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- </a:t>
            </a:r>
            <a:r>
              <a:rPr dirty="0" err="1"/>
              <a:t>낮을수록</a:t>
            </a:r>
            <a:r>
              <a:rPr dirty="0"/>
              <a:t> </a:t>
            </a:r>
            <a:r>
              <a:rPr dirty="0" err="1"/>
              <a:t>최근</a:t>
            </a:r>
            <a:r>
              <a:rPr dirty="0"/>
              <a:t> </a:t>
            </a:r>
            <a:r>
              <a:rPr dirty="0" err="1"/>
              <a:t>활동</a:t>
            </a:r>
            <a:r>
              <a:rPr dirty="0"/>
              <a:t> </a:t>
            </a:r>
            <a:r>
              <a:rPr dirty="0" err="1"/>
              <a:t>고객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Frequency (</a:t>
            </a:r>
            <a:r>
              <a:rPr dirty="0" err="1"/>
              <a:t>빈도</a:t>
            </a:r>
            <a:r>
              <a:rPr dirty="0"/>
              <a:t>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- </a:t>
            </a:r>
            <a:r>
              <a:rPr dirty="0" err="1"/>
              <a:t>총</a:t>
            </a:r>
            <a:r>
              <a:rPr dirty="0"/>
              <a:t>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횟수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- </a:t>
            </a:r>
            <a:r>
              <a:rPr dirty="0" err="1"/>
              <a:t>높을수록</a:t>
            </a:r>
            <a:r>
              <a:rPr dirty="0"/>
              <a:t> </a:t>
            </a:r>
            <a:r>
              <a:rPr dirty="0" err="1"/>
              <a:t>충성</a:t>
            </a:r>
            <a:r>
              <a:rPr dirty="0"/>
              <a:t> </a:t>
            </a:r>
            <a:r>
              <a:rPr dirty="0" err="1"/>
              <a:t>고객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• Monetary (</a:t>
            </a:r>
            <a:r>
              <a:rPr dirty="0" err="1"/>
              <a:t>금액</a:t>
            </a:r>
            <a:r>
              <a:rPr dirty="0"/>
              <a:t>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- </a:t>
            </a:r>
            <a:r>
              <a:rPr dirty="0" err="1"/>
              <a:t>총</a:t>
            </a:r>
            <a:r>
              <a:rPr dirty="0"/>
              <a:t>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금액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- </a:t>
            </a:r>
            <a:r>
              <a:rPr dirty="0" err="1"/>
              <a:t>높을수록</a:t>
            </a:r>
            <a:r>
              <a:rPr dirty="0"/>
              <a:t> </a:t>
            </a:r>
            <a:r>
              <a:rPr dirty="0" err="1"/>
              <a:t>고가치</a:t>
            </a:r>
            <a:r>
              <a:rPr dirty="0"/>
              <a:t> </a:t>
            </a:r>
            <a:r>
              <a:rPr dirty="0" err="1"/>
              <a:t>고객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RFM 분포 현황</a:t>
            </a:r>
          </a:p>
        </p:txBody>
      </p:sp>
      <p:pic>
        <p:nvPicPr>
          <p:cNvPr id="4" name="Picture 3" descr="06_rfm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810512"/>
            <a:ext cx="11684000" cy="386672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최적 클러스터 수 결정 (Elbow Method)</a:t>
            </a:r>
          </a:p>
        </p:txBody>
      </p:sp>
      <p:pic>
        <p:nvPicPr>
          <p:cNvPr id="4" name="Picture 3" descr="07_elbow_meth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097280"/>
            <a:ext cx="9418320" cy="561293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고객 세그먼트 시각화</a:t>
            </a:r>
          </a:p>
        </p:txBody>
      </p:sp>
      <p:pic>
        <p:nvPicPr>
          <p:cNvPr id="4" name="Picture 3" descr="08_cluster_visual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74520"/>
            <a:ext cx="9418320" cy="404098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클러스터별 RFM 평균</a:t>
            </a:r>
          </a:p>
        </p:txBody>
      </p:sp>
      <p:pic>
        <p:nvPicPr>
          <p:cNvPr id="4" name="Picture 3" descr="09_cluster_rfm_a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24" y="1691640"/>
            <a:ext cx="11671551" cy="383657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클러스터별 고객 특성 해석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69304"/>
              </p:ext>
            </p:extLst>
          </p:nvPr>
        </p:nvGraphicFramePr>
        <p:xfrm>
          <a:off x="1222094" y="2450592"/>
          <a:ext cx="974750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9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9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9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95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95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Cluster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Recency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Monetary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특성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낮음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VIP 고객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중간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중간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중간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일반 고객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낮음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낮음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이탈 위험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낮음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낮음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낮음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rPr dirty="0" err="1"/>
                        <a:t>신규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고객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5. 매출 예측 모델링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모델링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목표: 일별 총 매출액 예측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특성 변수 (Features):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• TotalQuantity - 총 판매 수량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• NumTransactions - 거래 건수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• NumCustomers - 고객 수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• DayOfWeek, Month, Day - 시간 특성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타겟 변수: TotalSales (일별 총 매출)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데이터 분할: 80% 학습 / 20% 테스트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모델별 성능 비교</a:t>
            </a:r>
          </a:p>
        </p:txBody>
      </p:sp>
      <p:pic>
        <p:nvPicPr>
          <p:cNvPr id="4" name="Picture 3" descr="10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097280"/>
            <a:ext cx="9418320" cy="46748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6. 하이퍼파라미터 튜닝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GridSearchCV 적용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Random Forest 튜닝 파라미터: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• n_estimators: [50, 100, 200]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• max_depth: [5, 10, 15, None]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• min_samples_split: [2, 5, 10]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Gradient Boosting 튜닝 파라미터: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• n_estimators: [50, 100, 200]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• learning_rate: [0.01, 0.1, 0.2]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   • max_depth: [3, 5, 7]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endParaRPr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교차 검증: 5-Fold Cross Validation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예측 vs 실제 비교</a:t>
            </a:r>
          </a:p>
        </p:txBody>
      </p:sp>
      <p:pic>
        <p:nvPicPr>
          <p:cNvPr id="4" name="Picture 3" descr="11_actual_vs_predi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768" y="1097280"/>
            <a:ext cx="6126480" cy="489293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특성 중요도 (Feature Importance)</a:t>
            </a:r>
          </a:p>
        </p:txBody>
      </p:sp>
      <p:pic>
        <p:nvPicPr>
          <p:cNvPr id="4" name="Picture 3" descr="12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097280"/>
            <a:ext cx="9418320" cy="56243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234875" y="2743200"/>
            <a:ext cx="172194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/>
              <a:t>7. </a:t>
            </a:r>
            <a:r>
              <a:rPr lang="ko-KR" altLang="en-US" dirty="0"/>
              <a:t>결론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ko-KR" altLang="en-US" dirty="0"/>
              <a:t>주요 발견사항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인사이트</a:t>
            </a:r>
            <a:r>
              <a:rPr dirty="0"/>
              <a:t>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11월 </a:t>
            </a:r>
            <a:r>
              <a:rPr dirty="0" err="1"/>
              <a:t>연말</a:t>
            </a:r>
            <a:r>
              <a:rPr dirty="0"/>
              <a:t> </a:t>
            </a:r>
            <a:r>
              <a:rPr dirty="0" err="1"/>
              <a:t>시즌</a:t>
            </a:r>
            <a:r>
              <a:rPr dirty="0"/>
              <a:t> </a:t>
            </a:r>
            <a:r>
              <a:rPr dirty="0" err="1"/>
              <a:t>매출</a:t>
            </a:r>
            <a:r>
              <a:rPr dirty="0"/>
              <a:t> </a:t>
            </a:r>
            <a:r>
              <a:rPr dirty="0" err="1"/>
              <a:t>급증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</a:t>
            </a:r>
            <a:r>
              <a:rPr dirty="0" err="1"/>
              <a:t>평일</a:t>
            </a:r>
            <a:r>
              <a:rPr dirty="0"/>
              <a:t> </a:t>
            </a:r>
            <a:r>
              <a:rPr dirty="0" err="1"/>
              <a:t>오전~오후</a:t>
            </a:r>
            <a:r>
              <a:rPr dirty="0"/>
              <a:t> </a:t>
            </a:r>
            <a:r>
              <a:rPr dirty="0" err="1"/>
              <a:t>거래</a:t>
            </a:r>
            <a:r>
              <a:rPr dirty="0"/>
              <a:t> </a:t>
            </a:r>
            <a:r>
              <a:rPr dirty="0" err="1"/>
              <a:t>집중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 err="1"/>
              <a:t>고객</a:t>
            </a:r>
            <a:r>
              <a:rPr dirty="0"/>
              <a:t> </a:t>
            </a:r>
            <a:r>
              <a:rPr dirty="0" err="1"/>
              <a:t>세분화</a:t>
            </a:r>
            <a:r>
              <a:rPr dirty="0"/>
              <a:t> (K-Means):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4개 </a:t>
            </a:r>
            <a:r>
              <a:rPr dirty="0" err="1"/>
              <a:t>고객</a:t>
            </a:r>
            <a:r>
              <a:rPr dirty="0"/>
              <a:t> </a:t>
            </a:r>
            <a:r>
              <a:rPr dirty="0" err="1"/>
              <a:t>그룹</a:t>
            </a:r>
            <a:r>
              <a:rPr dirty="0"/>
              <a:t> </a:t>
            </a:r>
            <a:r>
              <a:rPr dirty="0" err="1"/>
              <a:t>식별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VIP, </a:t>
            </a:r>
            <a:r>
              <a:rPr dirty="0" err="1"/>
              <a:t>일반</a:t>
            </a:r>
            <a:r>
              <a:rPr dirty="0"/>
              <a:t>, </a:t>
            </a:r>
            <a:r>
              <a:rPr dirty="0" err="1"/>
              <a:t>이탈위험</a:t>
            </a:r>
            <a:r>
              <a:rPr dirty="0"/>
              <a:t>, </a:t>
            </a:r>
            <a:r>
              <a:rPr dirty="0" err="1"/>
              <a:t>신규</a:t>
            </a:r>
            <a:r>
              <a:rPr dirty="0"/>
              <a:t> </a:t>
            </a:r>
            <a:r>
              <a:rPr dirty="0" err="1"/>
              <a:t>고객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 err="1"/>
              <a:t>매출</a:t>
            </a:r>
            <a:r>
              <a:rPr dirty="0"/>
              <a:t> </a:t>
            </a:r>
            <a:r>
              <a:rPr dirty="0" err="1"/>
              <a:t>예측</a:t>
            </a:r>
            <a:r>
              <a:rPr dirty="0"/>
              <a:t> </a:t>
            </a:r>
            <a:r>
              <a:rPr dirty="0" err="1"/>
              <a:t>모델</a:t>
            </a:r>
            <a:r>
              <a:rPr dirty="0"/>
              <a:t>: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Gradient Boosting </a:t>
            </a:r>
            <a:r>
              <a:rPr dirty="0" err="1"/>
              <a:t>최고</a:t>
            </a:r>
            <a:r>
              <a:rPr dirty="0"/>
              <a:t> </a:t>
            </a:r>
            <a:r>
              <a:rPr dirty="0" err="1"/>
              <a:t>성능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</a:t>
            </a:r>
            <a:r>
              <a:rPr dirty="0" err="1"/>
              <a:t>거래</a:t>
            </a:r>
            <a:r>
              <a:rPr dirty="0"/>
              <a:t> </a:t>
            </a:r>
            <a:r>
              <a:rPr dirty="0" err="1"/>
              <a:t>건수가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중요한</a:t>
            </a:r>
            <a:r>
              <a:rPr dirty="0"/>
              <a:t> </a:t>
            </a:r>
            <a:r>
              <a:rPr dirty="0" err="1"/>
              <a:t>예측</a:t>
            </a:r>
            <a:r>
              <a:rPr dirty="0"/>
              <a:t> </a:t>
            </a:r>
            <a:r>
              <a:rPr dirty="0" err="1"/>
              <a:t>변수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834</Words>
  <Application>Microsoft Macintosh PowerPoint</Application>
  <PresentationFormat>와이드스크린</PresentationFormat>
  <Paragraphs>187</Paragraphs>
  <Slides>31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5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김혜성</cp:lastModifiedBy>
  <cp:revision>8</cp:revision>
  <dcterms:created xsi:type="dcterms:W3CDTF">2013-01-27T09:14:16Z</dcterms:created>
  <dcterms:modified xsi:type="dcterms:W3CDTF">2025-12-10T13:55:37Z</dcterms:modified>
  <cp:category/>
</cp:coreProperties>
</file>
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4" r:id="rId2"/>
    <p:sldId id="326" r:id="rId3"/>
    <p:sldId id="344" r:id="rId4"/>
    <p:sldId id="353" r:id="rId5"/>
    <p:sldId id="345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35" autoAdjust="0"/>
    <p:restoredTop sz="86437" autoAdjust="0"/>
  </p:normalViewPr>
  <p:slideViewPr>
    <p:cSldViewPr snapToGrid="0">
      <p:cViewPr varScale="1">
        <p:scale>
          <a:sx n="58" d="100"/>
          <a:sy n="58" d="100"/>
        </p:scale>
        <p:origin x="56" y="9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33FF-3AF8-B66D-330D-561E6321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B046E-D63D-F293-134B-7ED2A381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88645-A723-C3A6-BB9D-1AF8B9765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02CF2-D7AB-5423-80D7-DE9A94435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56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11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5" y="1255240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1463040" y="4262908"/>
            <a:ext cx="10476785" cy="2977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3267050" y="4143607"/>
            <a:ext cx="2301454" cy="551611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64C1E6-95B7-4141-A3AA-7CEA9F4E6D56}"/>
              </a:ext>
            </a:extLst>
          </p:cNvPr>
          <p:cNvSpPr/>
          <p:nvPr/>
        </p:nvSpPr>
        <p:spPr>
          <a:xfrm>
            <a:off x="6629621" y="4278260"/>
            <a:ext cx="4540305" cy="5568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61AC-A0EC-30BA-B923-EA1F4524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69F74-D13A-7311-24AD-CE6C49C1A045}"/>
              </a:ext>
            </a:extLst>
          </p:cNvPr>
          <p:cNvSpPr txBox="1"/>
          <p:nvPr/>
        </p:nvSpPr>
        <p:spPr>
          <a:xfrm>
            <a:off x="3503932" y="5408714"/>
            <a:ext cx="5625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[3-1] </a:t>
            </a:r>
            <a:r>
              <a:rPr lang="ko-KR" altLang="en-US" sz="1400" dirty="0"/>
              <a:t>최근접 중심 분류 </a:t>
            </a:r>
            <a:r>
              <a:rPr lang="en-US" altLang="ko-KR" sz="1400" dirty="0"/>
              <a:t>(Nearest Centroid Classification)</a:t>
            </a:r>
          </a:p>
          <a:p>
            <a:r>
              <a:rPr lang="en-US" altLang="ko-KR" sz="1400" dirty="0"/>
              <a:t>[3-2] </a:t>
            </a:r>
            <a:r>
              <a:rPr lang="ko-KR" altLang="en-US" sz="1400" dirty="0" err="1"/>
              <a:t>마할라노비스</a:t>
            </a:r>
            <a:r>
              <a:rPr lang="ko-KR" altLang="en-US" sz="1400" dirty="0"/>
              <a:t> 거리 분류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Mahalanobis</a:t>
            </a:r>
            <a:r>
              <a:rPr lang="en-US" altLang="ko-KR" sz="1400" dirty="0"/>
              <a:t> Distance Classification)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A7D11-51A7-C0F2-7F2B-F9680682C770}"/>
              </a:ext>
            </a:extLst>
          </p:cNvPr>
          <p:cNvSpPr txBox="1"/>
          <p:nvPr/>
        </p:nvSpPr>
        <p:spPr>
          <a:xfrm>
            <a:off x="3503932" y="2064839"/>
            <a:ext cx="82670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[1-1] </a:t>
            </a:r>
            <a:r>
              <a:rPr lang="ko-KR" altLang="en-US" sz="1400" dirty="0"/>
              <a:t>로지스틱 회귀 </a:t>
            </a:r>
            <a:r>
              <a:rPr lang="en-US" altLang="ko-KR" sz="1400" dirty="0"/>
              <a:t>(Logistic Regression)</a:t>
            </a:r>
          </a:p>
          <a:p>
            <a:r>
              <a:rPr lang="en-US" altLang="ko-KR" sz="1400" dirty="0"/>
              <a:t>[1-2] </a:t>
            </a:r>
            <a:r>
              <a:rPr lang="ko-KR" altLang="en-US" sz="1400" dirty="0" err="1"/>
              <a:t>베이즈</a:t>
            </a:r>
            <a:r>
              <a:rPr lang="ko-KR" altLang="en-US" sz="1400" dirty="0"/>
              <a:t> 로지스틱 회귀 </a:t>
            </a:r>
            <a:r>
              <a:rPr lang="en-US" altLang="ko-KR" sz="1400" dirty="0"/>
              <a:t>(Bayesian Logistic Regression)</a:t>
            </a:r>
          </a:p>
          <a:p>
            <a:r>
              <a:rPr lang="en-US" altLang="ko-KR" sz="1400" dirty="0"/>
              <a:t>[1-3] </a:t>
            </a:r>
            <a:r>
              <a:rPr lang="ko-KR" altLang="en-US" sz="1400" dirty="0" err="1"/>
              <a:t>프로빗</a:t>
            </a:r>
            <a:r>
              <a:rPr lang="ko-KR" altLang="en-US" sz="1400" dirty="0"/>
              <a:t> 회귀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Probit</a:t>
            </a:r>
            <a:r>
              <a:rPr lang="en-US" altLang="ko-KR" sz="1400" dirty="0"/>
              <a:t> Regression)</a:t>
            </a:r>
          </a:p>
          <a:p>
            <a:r>
              <a:rPr lang="en-US" altLang="ko-KR" sz="1400" dirty="0"/>
              <a:t>[1-4] </a:t>
            </a:r>
            <a:r>
              <a:rPr lang="ko-KR" altLang="en-US" sz="1400" dirty="0"/>
              <a:t>다항 로지스틱 회귀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소프트맥스</a:t>
            </a:r>
            <a:r>
              <a:rPr lang="ko-KR" altLang="en-US" sz="1400" dirty="0"/>
              <a:t> 회귀 </a:t>
            </a:r>
            <a:r>
              <a:rPr lang="en-US" altLang="ko-KR" sz="1400" dirty="0"/>
              <a:t>(Multinomial Logistic Regression / </a:t>
            </a:r>
            <a:r>
              <a:rPr lang="en-US" altLang="ko-KR" sz="1400" dirty="0" err="1"/>
              <a:t>Softmax</a:t>
            </a:r>
            <a:r>
              <a:rPr lang="en-US" altLang="ko-KR" sz="1400" dirty="0"/>
              <a:t> Regression)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9274E-0562-87BF-50A8-FC50520C646D}"/>
              </a:ext>
            </a:extLst>
          </p:cNvPr>
          <p:cNvSpPr txBox="1"/>
          <p:nvPr/>
        </p:nvSpPr>
        <p:spPr>
          <a:xfrm>
            <a:off x="3503932" y="3812899"/>
            <a:ext cx="51092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[2-1] </a:t>
            </a:r>
            <a:r>
              <a:rPr lang="ko-KR" altLang="en-US" sz="1400" dirty="0" err="1"/>
              <a:t>베이즈</a:t>
            </a:r>
            <a:r>
              <a:rPr lang="ko-KR" altLang="en-US" sz="1400" dirty="0"/>
              <a:t> 네트워크 분류 </a:t>
            </a:r>
            <a:r>
              <a:rPr lang="en-US" altLang="ko-KR" sz="1400" dirty="0"/>
              <a:t>(Bayesian Network Classification)</a:t>
            </a:r>
          </a:p>
          <a:p>
            <a:r>
              <a:rPr lang="en-US" altLang="ko-KR" sz="1400" dirty="0"/>
              <a:t>[2-2] </a:t>
            </a:r>
            <a:r>
              <a:rPr lang="ko-KR" altLang="en-US" sz="1400" dirty="0" err="1"/>
              <a:t>나이브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베이즈</a:t>
            </a:r>
            <a:r>
              <a:rPr lang="ko-KR" altLang="en-US" sz="1400" dirty="0"/>
              <a:t> 분류 </a:t>
            </a:r>
            <a:r>
              <a:rPr lang="en-US" altLang="ko-KR" sz="1400" dirty="0"/>
              <a:t>(Naive Bayes Classification)</a:t>
            </a:r>
          </a:p>
          <a:p>
            <a:r>
              <a:rPr lang="en-US" altLang="ko-KR" sz="1400" dirty="0"/>
              <a:t>[2-3] </a:t>
            </a:r>
            <a:r>
              <a:rPr lang="ko-KR" altLang="en-US" sz="1400" dirty="0"/>
              <a:t>혼합모형 기반 분류 </a:t>
            </a:r>
            <a:r>
              <a:rPr lang="en-US" altLang="ko-KR" sz="1400" dirty="0"/>
              <a:t>(GMM + EM Classification)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C4A32-B6AB-7604-B502-EE658108165D}"/>
              </a:ext>
            </a:extLst>
          </p:cNvPr>
          <p:cNvSpPr txBox="1"/>
          <p:nvPr/>
        </p:nvSpPr>
        <p:spPr>
          <a:xfrm>
            <a:off x="3503932" y="1715929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[1] </a:t>
            </a:r>
            <a:r>
              <a:rPr lang="ko-KR" altLang="en-US" b="1" dirty="0">
                <a:solidFill>
                  <a:srgbClr val="0000FF"/>
                </a:solidFill>
              </a:rPr>
              <a:t>확률적 판별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1168A-3509-07BB-BA01-A8F0A5C98809}"/>
              </a:ext>
            </a:extLst>
          </p:cNvPr>
          <p:cNvSpPr txBox="1"/>
          <p:nvPr/>
        </p:nvSpPr>
        <p:spPr>
          <a:xfrm>
            <a:off x="3503932" y="5039382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[3] </a:t>
            </a:r>
            <a:r>
              <a:rPr lang="ko-KR" altLang="en-US" b="1" dirty="0">
                <a:solidFill>
                  <a:srgbClr val="0000FF"/>
                </a:solidFill>
              </a:rPr>
              <a:t>거리 기반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53735-0BDC-84A4-B428-B95A414609BF}"/>
              </a:ext>
            </a:extLst>
          </p:cNvPr>
          <p:cNvSpPr txBox="1"/>
          <p:nvPr/>
        </p:nvSpPr>
        <p:spPr>
          <a:xfrm>
            <a:off x="3503932" y="3474345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[2] </a:t>
            </a:r>
            <a:r>
              <a:rPr lang="ko-KR" altLang="en-US" b="1" dirty="0">
                <a:solidFill>
                  <a:srgbClr val="0000FF"/>
                </a:solidFill>
              </a:rPr>
              <a:t>통계</a:t>
            </a:r>
            <a:r>
              <a:rPr lang="en-US" altLang="ko-KR" b="1" dirty="0">
                <a:solidFill>
                  <a:srgbClr val="0000FF"/>
                </a:solidFill>
              </a:rPr>
              <a:t>·</a:t>
            </a:r>
            <a:r>
              <a:rPr lang="ko-KR" altLang="en-US" b="1" dirty="0">
                <a:solidFill>
                  <a:srgbClr val="0000FF"/>
                </a:solidFill>
              </a:rPr>
              <a:t>확률 기반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18539FD-DCF4-49FF-8699-AACC5EF1D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99" y="250511"/>
            <a:ext cx="2806070" cy="24690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98384F-52E0-40E9-8279-DCA978085FED}"/>
              </a:ext>
            </a:extLst>
          </p:cNvPr>
          <p:cNvSpPr txBox="1"/>
          <p:nvPr/>
        </p:nvSpPr>
        <p:spPr>
          <a:xfrm>
            <a:off x="841081" y="902420"/>
            <a:ext cx="2127505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10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 dirty="0"/>
              <a:t>지도학습</a:t>
            </a:r>
            <a:r>
              <a:rPr lang="en-US" altLang="ko-KR" sz="2400" b="1" dirty="0"/>
              <a:t>(2/4)</a:t>
            </a:r>
          </a:p>
          <a:p>
            <a:pPr algn="ctr"/>
            <a:endParaRPr lang="en-US" altLang="ko-KR" sz="1000" b="1" dirty="0"/>
          </a:p>
          <a:p>
            <a:pPr algn="ctr"/>
            <a:r>
              <a:rPr lang="ko-KR" altLang="en-US" sz="2400" b="1" dirty="0">
                <a:solidFill>
                  <a:srgbClr val="0000FF"/>
                </a:solidFill>
              </a:rPr>
              <a:t>분류</a:t>
            </a:r>
          </a:p>
        </p:txBody>
      </p:sp>
    </p:spTree>
    <p:extLst>
      <p:ext uri="{BB962C8B-B14F-4D97-AF65-F5344CB8AC3E}">
        <p14:creationId xmlns:p14="http://schemas.microsoft.com/office/powerpoint/2010/main" val="281089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708440" y="2331378"/>
            <a:ext cx="277511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11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 dirty="0"/>
              <a:t>지도학습</a:t>
            </a:r>
            <a:r>
              <a:rPr lang="en-US" altLang="ko-KR" sz="3200" b="1" dirty="0"/>
              <a:t>(3/4)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3200" b="1" dirty="0">
                <a:solidFill>
                  <a:srgbClr val="0000FF"/>
                </a:solidFill>
              </a:rPr>
              <a:t>회귀</a:t>
            </a:r>
            <a:r>
              <a:rPr lang="en-US" altLang="ko-KR" sz="3200" b="1" dirty="0">
                <a:solidFill>
                  <a:srgbClr val="0000FF"/>
                </a:solidFill>
              </a:rPr>
              <a:t>+</a:t>
            </a:r>
            <a:r>
              <a:rPr lang="ko-KR" altLang="en-US" sz="3200" b="1" dirty="0">
                <a:solidFill>
                  <a:srgbClr val="0000FF"/>
                </a:solidFill>
              </a:rPr>
              <a:t>분류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8627</TotalTime>
  <Words>390</Words>
  <Application>Microsoft Office PowerPoint</Application>
  <PresentationFormat>와이드스크린</PresentationFormat>
  <Paragraphs>64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262</cp:revision>
  <cp:lastPrinted>2026-04-09T04:28:10Z</cp:lastPrinted>
  <dcterms:created xsi:type="dcterms:W3CDTF">2026-02-24T07:28:13Z</dcterms:created>
  <dcterms:modified xsi:type="dcterms:W3CDTF">2026-05-08T07:17:02Z</dcterms:modified>
</cp:coreProperties>
</file>
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5b9ba66a7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5b9ba66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a39dbce9e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a39dbce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39dbce9e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39dbce9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39dbce9e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a39dbce9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39dbce9e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a39dbce9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39dbce9e_0_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a39dbce9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5b9ba66a7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5b9ba66a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552600" y="1428575"/>
            <a:ext cx="8038800" cy="10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900"/>
              <a:t>생성형 AI의 RAG를 활용한 개인 신용대출 부도예측에 대한 연구</a:t>
            </a:r>
            <a:endParaRPr sz="29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0" y="2481275"/>
            <a:ext cx="7688100" cy="8295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66666"/>
                </a:solidFill>
                <a:highlight>
                  <a:schemeClr val="lt2"/>
                </a:highlight>
              </a:rPr>
              <a:t>A study on predicting default on personal credit loans using RAG of generative AI</a:t>
            </a:r>
            <a:endParaRPr sz="1800">
              <a:solidFill>
                <a:srgbClr val="666666"/>
              </a:solidFill>
              <a:highlight>
                <a:schemeClr val="lt2"/>
              </a:highlight>
            </a:endParaRPr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27950" y="3659375"/>
            <a:ext cx="7688100" cy="9186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66666"/>
                </a:solidFill>
                <a:highlight>
                  <a:schemeClr val="lt2"/>
                </a:highlight>
              </a:rPr>
              <a:t>발  표  자  최 태 양</a:t>
            </a:r>
            <a:endParaRPr sz="1500">
              <a:solidFill>
                <a:srgbClr val="666666"/>
              </a:solidFill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66666"/>
                </a:solidFill>
                <a:highlight>
                  <a:schemeClr val="lt2"/>
                </a:highlight>
              </a:rPr>
              <a:t>소         속  건국대학교 정보통신대학원</a:t>
            </a:r>
            <a:endParaRPr sz="1500">
              <a:solidFill>
                <a:srgbClr val="666666"/>
              </a:solidFill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66666"/>
                </a:solidFill>
                <a:highlight>
                  <a:schemeClr val="lt2"/>
                </a:highlight>
              </a:rPr>
              <a:t>논문저자 김창효, 정재학, 이군희</a:t>
            </a:r>
            <a:br>
              <a:rPr lang="ko" sz="1500">
                <a:solidFill>
                  <a:srgbClr val="666666"/>
                </a:solidFill>
                <a:highlight>
                  <a:schemeClr val="lt2"/>
                </a:highlight>
              </a:rPr>
            </a:br>
            <a:endParaRPr sz="1500">
              <a:solidFill>
                <a:srgbClr val="666666"/>
              </a:solidFill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66666"/>
                </a:solidFill>
                <a:highlight>
                  <a:schemeClr val="lt2"/>
                </a:highlight>
              </a:rPr>
              <a:t>http://doi.org/10.35214/rfis.14.1.202502.006</a:t>
            </a:r>
            <a:endParaRPr sz="1500">
              <a:solidFill>
                <a:srgbClr val="666666"/>
              </a:solidFill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574725" y="2118900"/>
            <a:ext cx="1197600" cy="90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 차</a:t>
            </a:r>
            <a:endParaRPr/>
          </a:p>
        </p:txBody>
      </p:sp>
      <p:sp>
        <p:nvSpPr>
          <p:cNvPr id="94" name="Google Shape;94;p14"/>
          <p:cNvSpPr txBox="1"/>
          <p:nvPr>
            <p:ph idx="2" type="body"/>
          </p:nvPr>
        </p:nvSpPr>
        <p:spPr>
          <a:xfrm>
            <a:off x="5174225" y="550550"/>
            <a:ext cx="3374400" cy="38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b="1" lang="ko" sz="2200">
                <a:solidFill>
                  <a:srgbClr val="000000"/>
                </a:solidFill>
              </a:rPr>
              <a:t>연구 배경 및 목적</a:t>
            </a:r>
            <a:endParaRPr b="1" sz="22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b="1" lang="ko" sz="2200">
                <a:solidFill>
                  <a:srgbClr val="000000"/>
                </a:solidFill>
              </a:rPr>
              <a:t>연구 방법 및 설계</a:t>
            </a:r>
            <a:endParaRPr b="1" sz="22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b="1" lang="ko" sz="2200">
                <a:solidFill>
                  <a:srgbClr val="000000"/>
                </a:solidFill>
              </a:rPr>
              <a:t>실험 결과</a:t>
            </a:r>
            <a:endParaRPr b="1" sz="22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b="1" lang="ko" sz="2200">
                <a:solidFill>
                  <a:srgbClr val="000000"/>
                </a:solidFill>
              </a:rPr>
              <a:t>결론 및 시사점</a:t>
            </a:r>
            <a:endParaRPr b="1"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7650" y="63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연구 배경 및 목적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838800" y="1404775"/>
            <a:ext cx="7466400" cy="3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/>
              <a:t>연구 배경: 신용평가 기술의 진화와 한계</a:t>
            </a:r>
            <a:endParaRPr b="1" sz="15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ko" sz="1300"/>
              <a:t>기술의 발전:</a:t>
            </a:r>
            <a:r>
              <a:rPr lang="ko" sz="1300"/>
              <a:t> 전통적 통계 기법(로지스틱 회귀)에서 머신러닝(XGBoost, 딥러닝)으로 발전.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ko" sz="1300"/>
              <a:t>새로운 시도:</a:t>
            </a:r>
            <a:r>
              <a:rPr lang="ko" sz="1300"/>
              <a:t> 최근 금융권에서 </a:t>
            </a:r>
            <a:r>
              <a:rPr b="1" lang="ko" sz="1300"/>
              <a:t>생성형 AI(LLM)</a:t>
            </a:r>
            <a:r>
              <a:rPr lang="ko" sz="1300"/>
              <a:t> 도입 시도 활발.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ko" sz="1300"/>
              <a:t>문제점:</a:t>
            </a:r>
            <a:r>
              <a:rPr lang="ko" sz="1300"/>
              <a:t> LLM의 금융 도메인 지식 부족 및 </a:t>
            </a:r>
            <a:r>
              <a:rPr b="1" lang="ko" sz="1300"/>
              <a:t>환각(Hallucination)</a:t>
            </a:r>
            <a:r>
              <a:rPr lang="ko" sz="1300"/>
              <a:t> 현상 우려.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ko" sz="1300"/>
              <a:t>해결책:</a:t>
            </a:r>
            <a:r>
              <a:rPr lang="ko" sz="1300"/>
              <a:t> 외부 데이터를 검색해 답변의 정확성을 높이는 </a:t>
            </a:r>
            <a:r>
              <a:rPr b="1" lang="ko" sz="1300"/>
              <a:t>RAG(검색증강생성)</a:t>
            </a:r>
            <a:r>
              <a:rPr lang="ko" sz="1300"/>
              <a:t> 기술 주목.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/>
              <a:t>연구 목적: RAG의 실효성 검증</a:t>
            </a:r>
            <a:endParaRPr b="1" sz="15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ko" sz="1300"/>
              <a:t>모델 제안:</a:t>
            </a:r>
            <a:r>
              <a:rPr lang="ko" sz="1300"/>
              <a:t> 개인 신용대출 데이터에 </a:t>
            </a:r>
            <a:r>
              <a:rPr b="1" lang="ko" sz="1300"/>
              <a:t>RAG 기술을 적용한 새로운 부도 예측 모델</a:t>
            </a:r>
            <a:r>
              <a:rPr lang="ko" sz="1300"/>
              <a:t> 구현.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ko" sz="1300"/>
              <a:t>성능 비교:</a:t>
            </a:r>
            <a:r>
              <a:rPr lang="ko" sz="1300"/>
              <a:t> 기존 우수 모델(XGBoost 등)과 RAG 기반 모델의 예측 성능 비교 분석.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ko" sz="1300"/>
              <a:t>핵심 타겟:</a:t>
            </a:r>
            <a:r>
              <a:rPr lang="ko" sz="1300"/>
              <a:t> 데이터가 부족한 </a:t>
            </a:r>
            <a:r>
              <a:rPr b="1" lang="ko" sz="1300"/>
              <a:t>'씬파일러(Thin-filer)'</a:t>
            </a:r>
            <a:r>
              <a:rPr lang="ko" sz="1300"/>
              <a:t> 심사에서 RAG가 대안이 될 수 있는지 검증.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7650" y="63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연구 방법 및 설계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370525" y="1331750"/>
            <a:ext cx="4882800" cy="3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/>
              <a:t>정형 데이터 RAG 구축</a:t>
            </a:r>
            <a:endParaRPr b="1" sz="13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텍스트 분할(Chunking) 없이 </a:t>
            </a:r>
            <a:r>
              <a:rPr b="1" lang="ko" sz="1100"/>
              <a:t>각 관측치(Row)를 하나의 청크</a:t>
            </a:r>
            <a:r>
              <a:rPr lang="ko" sz="1100"/>
              <a:t>로 벡터화하여 DB 구축.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ko" sz="1100"/>
              <a:t>테스트 데이터 입력 시 벡터 DB에서 가장 유사한 </a:t>
            </a:r>
            <a:r>
              <a:rPr b="1" lang="ko" sz="1100"/>
              <a:t>Top-k개(30개) 사례</a:t>
            </a:r>
            <a:r>
              <a:rPr lang="ko" sz="1100"/>
              <a:t> 검색.</a:t>
            </a:r>
            <a:endParaRPr b="1"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/>
              <a:t>이원화된 예측 모델 제안</a:t>
            </a:r>
            <a:endParaRPr b="1" sz="13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ko" sz="1100"/>
              <a:t>RAG 기반 예측 모델:</a:t>
            </a:r>
            <a:r>
              <a:rPr lang="ko" sz="1100"/>
              <a:t> LLM 없이, 검색된 유사 사례의 가중 유사도(Look-alike Model)를 계산하여 부도 확률 직접 산출.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ko" sz="1100"/>
              <a:t>RAG-LLM 결합 모델:</a:t>
            </a:r>
            <a:r>
              <a:rPr lang="ko" sz="1100"/>
              <a:t> 검색된 유사 사례를 </a:t>
            </a:r>
            <a:r>
              <a:rPr b="1" lang="ko" sz="1100"/>
              <a:t>맥락(Context)</a:t>
            </a:r>
            <a:r>
              <a:rPr lang="ko" sz="1100"/>
              <a:t> 정보로 프롬프트에 제공하여, </a:t>
            </a:r>
            <a:r>
              <a:rPr b="1" lang="ko" sz="1100"/>
              <a:t>GPT-4/Llama 3</a:t>
            </a:r>
            <a:r>
              <a:rPr lang="ko" sz="1100"/>
              <a:t>가 최종 부도 여부 판단.</a:t>
            </a:r>
            <a:endParaRPr b="1"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/>
              <a:t>실험 데이터 구성</a:t>
            </a:r>
            <a:endParaRPr b="1" sz="13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Lending Club</a:t>
            </a:r>
            <a:r>
              <a:rPr lang="ko" sz="1100"/>
              <a:t> 데이터 약 2.1만 건(일반 환경) 및 </a:t>
            </a:r>
            <a:r>
              <a:rPr b="1" lang="ko" sz="1100"/>
              <a:t>500건(씬파일러 환경)</a:t>
            </a:r>
            <a:r>
              <a:rPr lang="ko" sz="1100"/>
              <a:t> 별도 구성하여 비교 실험.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1887" y="226950"/>
            <a:ext cx="3380249" cy="181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275" y="2037575"/>
            <a:ext cx="3561475" cy="165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5062" y="3688950"/>
            <a:ext cx="3513901" cy="12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7650" y="63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1: 일반 데이터 환경</a:t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350" y="1495337"/>
            <a:ext cx="3848201" cy="2896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348575" y="1339075"/>
            <a:ext cx="4882800" cy="3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/>
              <a:t>■ 실험 조건</a:t>
            </a:r>
            <a:endParaRPr b="1" sz="13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데이터:</a:t>
            </a:r>
            <a:r>
              <a:rPr lang="ko" sz="1100"/>
              <a:t> Lending Club 데이터 중 </a:t>
            </a:r>
            <a:r>
              <a:rPr b="1" lang="ko" sz="1100"/>
              <a:t>학습 21,317건 / 테스트 1,000건</a:t>
            </a:r>
            <a:r>
              <a:rPr lang="ko" sz="1100"/>
              <a:t> (데이터 풍부).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비교 대상:</a:t>
            </a:r>
            <a:r>
              <a:rPr lang="ko" sz="1100"/>
              <a:t> 기존 머신러닝(로지스틱, XGBoost, MLP) vs RAG 기반 모델.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/>
              <a:t>■ 주요 결과: 기존 머신러닝 모델의 우위</a:t>
            </a:r>
            <a:endParaRPr b="1" sz="13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전통적 모델이 우세:</a:t>
            </a:r>
            <a:r>
              <a:rPr lang="ko" sz="1100"/>
              <a:t> 로지스틱 회귀(AUC 0.82)와 XGBoost(AUC 0.82)가 가장 높은 예측 성능을 기록함.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RAG 모델의 한계:</a:t>
            </a:r>
            <a:r>
              <a:rPr lang="ko" sz="1100"/>
              <a:t> RAG 기반 모델 중 가장 성능이 좋은 **Look-alike Model(LAM)**도 AUC 0.75에 그쳐, 기존 모델 대비 성능이 낮게 나타남.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원인 분석:</a:t>
            </a:r>
            <a:r>
              <a:rPr lang="ko" sz="1100"/>
              <a:t> 데이터가 충분히 많은 환경에서는 기존 머신러닝 모델이 변수 간의 복잡한 상관관계를 학습하는 데 더 효과적임.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7650" y="63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2: 씬파일러(Thin-filer) 환경</a:t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348575" y="1339075"/>
            <a:ext cx="48900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/>
              <a:t>■ 실험 조건</a:t>
            </a:r>
            <a:endParaRPr b="1" sz="13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데이터:</a:t>
            </a:r>
            <a:r>
              <a:rPr lang="ko" sz="1100"/>
              <a:t> 학습 데이터를 </a:t>
            </a:r>
            <a:r>
              <a:rPr b="1" lang="ko" sz="1100"/>
              <a:t>500건으로 극단적으로 줄여</a:t>
            </a:r>
            <a:r>
              <a:rPr lang="ko" sz="1100"/>
              <a:t>, 금융 이력이 부족한 씬파일러 환경을 가정.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변수: </a:t>
            </a:r>
            <a:r>
              <a:rPr lang="ko" sz="1100"/>
              <a:t>가용 정보가 적은 상황을 고려해 설명 변수도 9개로 축소.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00"/>
              <a:t>■ 주요 결과: RAG 기반 모델의 역전</a:t>
            </a:r>
            <a:endParaRPr b="1" sz="13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기존 모델 성능 급락: </a:t>
            </a:r>
            <a:r>
              <a:rPr lang="ko" sz="1100"/>
              <a:t>학습 데이터가 줄자 XGBoost의 AUC가 0.82 → 0.59로 급격히 저하됨.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RAG 모델의 안정성: </a:t>
            </a:r>
            <a:r>
              <a:rPr lang="ko" sz="1100"/>
              <a:t>반면 RAG(HuggingFace 임베딩) 모델은 AUC 0.69를 기록하며 XGBoost를 크게 상회함.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시사점: 데이터가 부족한 환경에서는 통계적 학습보다 유사 사례 참조(RAG) 방식이 더 강력한 예측 성능을 발휘함.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650" y="1972926"/>
            <a:ext cx="4025450" cy="241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27650" y="63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실험 결과 3: RAG-LLM 결합 및 시사점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253950" y="2955875"/>
            <a:ext cx="86361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■ RAG-LLM 결합 모델 (GPT-4/Llama 3) 결과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성능 저조:</a:t>
            </a:r>
            <a:r>
              <a:rPr lang="ko" sz="1100"/>
              <a:t> 검색된 정보를 LLM에게 주고 판단하게 했을 때, F1-Score 0.38(GPT-4)로 기존 MLP(0.42)보다 낮은 성능을 보임.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원인:</a:t>
            </a:r>
            <a:r>
              <a:rPr lang="ko" sz="1100"/>
              <a:t> 범용 LLM은 텍스트 처리에 강점이 있으나, 금융 도메인의 정형 데이터 패턴을 파악하는 능력은 아직 부족함.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■ 종합 결론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일반 환경:</a:t>
            </a:r>
            <a:r>
              <a:rPr lang="ko" sz="1100"/>
              <a:t> 데이터가 풍부할 때는 여전히 </a:t>
            </a:r>
            <a:r>
              <a:rPr b="1" lang="ko" sz="1100"/>
              <a:t>XGBoost 등 기존 머신러닝</a:t>
            </a:r>
            <a:r>
              <a:rPr lang="ko" sz="1100"/>
              <a:t>이 최적.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특수 환경(씬파일러):</a:t>
            </a:r>
            <a:r>
              <a:rPr lang="ko" sz="1100"/>
              <a:t> 금융 데이터가 부족할 때는 </a:t>
            </a:r>
            <a:r>
              <a:rPr b="1" lang="ko" sz="1100"/>
              <a:t>RAG 기반 모델</a:t>
            </a:r>
            <a:r>
              <a:rPr lang="ko" sz="1100"/>
              <a:t>이 효과적인 대안.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ko" sz="1100"/>
              <a:t>향후 과제:</a:t>
            </a:r>
            <a:r>
              <a:rPr lang="ko" sz="1100"/>
              <a:t> 금융 특화 LLM(FinBERT 등) 도입 및 파인튜닝을 통해 정형 데이터 이해도 향상 필요.</a:t>
            </a:r>
            <a:endParaRPr b="1" sz="1300"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437" y="1166100"/>
            <a:ext cx="5647126" cy="17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727650" y="63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결론 및 시사점</a:t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550500" y="1207200"/>
            <a:ext cx="8043000" cy="3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/>
              <a:t>연구 요약: 데이터 환경에 따른 성능 차이</a:t>
            </a:r>
            <a:endParaRPr b="1" sz="16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ko" sz="1200"/>
              <a:t>일반 환경 (Data-Rich):</a:t>
            </a:r>
            <a:r>
              <a:rPr lang="ko" sz="1200"/>
              <a:t> 대량의 학습 데이터가 존재할 경우, 변수 간 복잡한 패턴 학습에 최적화된 기존 머신러닝(XGBoost 등)이 여전히 우수한 성능을 보임.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ko" sz="1200"/>
              <a:t>씬파일러 환경 (Data-Scarce):</a:t>
            </a:r>
            <a:r>
              <a:rPr lang="ko" sz="1200"/>
              <a:t> 학습 데이터가 부족한 상황에서는 </a:t>
            </a:r>
            <a:r>
              <a:rPr b="1" lang="ko" sz="1200"/>
              <a:t>RAG 기반 모델</a:t>
            </a:r>
            <a:r>
              <a:rPr lang="ko" sz="1200"/>
              <a:t>이 기존 모델보다 안정적이고 높은 예측력을 발휘함.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/>
              <a:t>주요 시사점</a:t>
            </a:r>
            <a:endParaRPr b="1" sz="16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ko" sz="1200"/>
              <a:t>RAG의 역할 재정의:</a:t>
            </a:r>
            <a:r>
              <a:rPr lang="ko" sz="1200"/>
              <a:t> RAG는 기존 신용평가 모델을 완전히 대체하기보다는, 데이터가 부족한 </a:t>
            </a:r>
            <a:r>
              <a:rPr b="1" lang="ko" sz="1200"/>
              <a:t>금융 소외 계층(Thin-filer) 평가를 보완하는 효과적인 대안</a:t>
            </a:r>
            <a:r>
              <a:rPr lang="ko" sz="1200"/>
              <a:t>으로 활용 가능.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ko" sz="1200"/>
              <a:t>범용 LLM의 한계:</a:t>
            </a:r>
            <a:r>
              <a:rPr lang="ko" sz="1200"/>
              <a:t> 범용 모델은 금융 도메인 지식 부족과 정형 데이터 처리의 한계로 인해, 별도 튜닝 없이는 신용평가에 즉시 적용하기 어려움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ko" sz="1300"/>
              <a:t>한 줄 요약: 고정된 단일 모델이 아닌 데이터 특성과 환경에 따라 가장 적합한 AI 기법을 유연하게 선택 및 적용해야 함을 실증적으로 보여준다.</a:t>
            </a:r>
            <a:endParaRPr b="1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27800" y="1909250"/>
            <a:ext cx="76884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Q&amp;A</a:t>
            </a:r>
            <a:br>
              <a:rPr lang="ko"/>
            </a:br>
            <a:r>
              <a:rPr lang="ko"/>
              <a:t>감사합니다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
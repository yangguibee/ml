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7F81DE-59C7-4407-B7A1-74B77FA5B5C8}" v="84" dt="2024-10-16T09:11:38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재 김" userId="72eca32a6be06126" providerId="LiveId" clId="{947F81DE-59C7-4407-B7A1-74B77FA5B5C8}"/>
    <pc:docChg chg="undo custSel addSld modSld">
      <pc:chgData name="민재 김" userId="72eca32a6be06126" providerId="LiveId" clId="{947F81DE-59C7-4407-B7A1-74B77FA5B5C8}" dt="2024-10-16T09:11:38.032" v="1161"/>
      <pc:docMkLst>
        <pc:docMk/>
      </pc:docMkLst>
      <pc:sldChg chg="addSp delSp modSp add mod">
        <pc:chgData name="민재 김" userId="72eca32a6be06126" providerId="LiveId" clId="{947F81DE-59C7-4407-B7A1-74B77FA5B5C8}" dt="2024-10-16T09:11:38.032" v="1161"/>
        <pc:sldMkLst>
          <pc:docMk/>
          <pc:sldMk cId="3240495426" sldId="265"/>
        </pc:sldMkLst>
        <pc:spChg chg="mod">
          <ac:chgData name="민재 김" userId="72eca32a6be06126" providerId="LiveId" clId="{947F81DE-59C7-4407-B7A1-74B77FA5B5C8}" dt="2024-10-16T09:11:38.032" v="1161"/>
          <ac:spMkLst>
            <pc:docMk/>
            <pc:sldMk cId="3240495426" sldId="265"/>
            <ac:spMk id="2" creationId="{535F31AA-F7C8-6B9E-CCF2-41AB69A7228B}"/>
          </ac:spMkLst>
        </pc:spChg>
        <pc:spChg chg="add del mod">
          <ac:chgData name="민재 김" userId="72eca32a6be06126" providerId="LiveId" clId="{947F81DE-59C7-4407-B7A1-74B77FA5B5C8}" dt="2024-10-16T09:07:21.524" v="19"/>
          <ac:spMkLst>
            <pc:docMk/>
            <pc:sldMk cId="3240495426" sldId="265"/>
            <ac:spMk id="3" creationId="{1430F008-C4FA-7AD7-275A-8CC367A9A7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B94E6-98DE-8BBE-4F7B-CE6EF4CC6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F8B741-FD6D-4F93-9B83-7D1EA39F2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ED341-CE92-DB19-4B6F-EF96C10F2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22C6-A235-4E4C-8512-950B74CC618A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319CCE-D8BA-C0FC-80E4-CE6AFD99A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6187DC-1A49-5707-968B-27B93704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9A11-F77F-44FF-9A4B-454E78332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849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1E71B-6CEE-9155-645F-C5113AAE3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D11515-6EFB-4C9C-3535-388EA15BB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AB2549-D49B-451D-64EE-80932B611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22C6-A235-4E4C-8512-950B74CC618A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3A7715-D45B-6841-1490-A14C0A4B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EA08A4-CE2D-CB10-1C75-872620AE8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9A11-F77F-44FF-9A4B-454E78332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958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D55B5-3E94-F7C6-615B-3E67056DD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5544F7-8A37-CE99-588C-F5E778038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583CF3-49B4-8974-54E3-799BA1768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22C6-A235-4E4C-8512-950B74CC618A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B5295E-1E9E-2996-985E-72D03F21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852E7-10D7-3D45-39A5-1EC95A51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9A11-F77F-44FF-9A4B-454E78332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29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94CC9-F07E-6EA8-1D2F-7A512ED0E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6ADD5F-2357-87DC-A482-59116EAAF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9AEE1B-308C-40AF-70DE-CB1848DFF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160D86-BC56-BDD8-B4AB-25F9F262C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22C6-A235-4E4C-8512-950B74CC618A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F81EC3-2642-D517-491F-12CF9B7F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9A98F1-0C48-C0AA-A4D9-CDC87CA2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9A11-F77F-44FF-9A4B-454E78332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9C054-FA3F-B425-5B00-200D174E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45793C-EB7D-4A77-965C-18773EA98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EC01BE-167B-07A4-F37E-E2BC66FE8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5A8600-9BB1-F7E6-8E2B-719DF2149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D6F2F7D-F12F-D0CE-A1B4-8C4C1C708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E02F28-90C4-5CF4-0E57-4A2024AE3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22C6-A235-4E4C-8512-950B74CC618A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88FF99-416C-03B1-F868-21216EEF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F21A9B-67FB-A3E7-4836-93D301A11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9A11-F77F-44FF-9A4B-454E78332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955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BC141-5DAA-3BB4-4C7A-6D4BAF9A1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FA8B44-2622-A4FF-F7A8-BC0F85D5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22C6-A235-4E4C-8512-950B74CC618A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B46932-A188-660B-39C6-D190D2720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58884A-E542-77E0-FB9C-1724696D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9A11-F77F-44FF-9A4B-454E78332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636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6357F5-6EF9-A416-B0B8-8019D7A9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22C6-A235-4E4C-8512-950B74CC618A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B87E11-6341-A8E5-3EB5-A69212BB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092FB7-EDE3-6E06-0F0A-0C26566E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9A11-F77F-44FF-9A4B-454E78332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89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CD72F9-C2C4-D5E7-BBFB-5CE073267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5170E-D97E-F2DB-DD7E-9BE131780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144D1A-E7CF-0A70-212F-299A28F0A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40DE4E-0FF9-A7BA-AD0A-8BA10759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22C6-A235-4E4C-8512-950B74CC618A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9100E4-FE7F-9693-3C86-3F0746D2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1F6202-0B26-5485-D5EB-59F8D4EC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9A11-F77F-44FF-9A4B-454E78332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003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F64FB-6733-BDF8-DF3D-72520FC74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2C792B-9A9E-1898-629C-EC3B397BB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89852B-7F6B-900C-614F-5DB54CAC1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E2FFBF-44B7-BDEC-D146-6092CA40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22C6-A235-4E4C-8512-950B74CC618A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C4D4D2-A10C-C02E-3BB3-51909C912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B245BC-11E4-C506-77D1-3AEECB5D7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9A11-F77F-44FF-9A4B-454E78332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78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0E50E-8A0F-61DB-16F0-2B22AEB09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94B402-E734-8FEA-EB9C-0722E2FD7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D6BD96-7AFD-2EB9-D285-4FDD5626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22C6-A235-4E4C-8512-950B74CC618A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00C190-8465-063C-5080-29D684B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583A9-79D5-C1A4-B9BC-39B2139A1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9A11-F77F-44FF-9A4B-454E78332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22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C139737-D43B-4CDE-6F7F-E2E5D2343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B94385-3F70-9600-BBDF-420DF4F5B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97D74A-8363-C647-198C-282538C9F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22C6-A235-4E4C-8512-950B74CC618A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2AAA73-F1B4-28A6-BE8B-F2A72768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48EBD1-5EFD-3BB4-169F-297EDFF1E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9A11-F77F-44FF-9A4B-454E78332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345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07A9A9-E547-E023-7657-75581AA37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706109-B2C9-4667-8E49-B29512D04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FAAFE5-3959-A205-1944-CF9663A29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422C6-A235-4E4C-8512-950B74CC618A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A19861-D85B-9184-6A5D-C6369AF59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35BAE8-1B61-1391-21BC-2CE1C2AC0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69A11-F77F-44FF-9A4B-454E78332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143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www-dbpia-co-kr-ssl.proxy.konkuk.ac.kr/journal/articleDetail?nodeId=NODE11136396" TargetMode="External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54977" y="219808"/>
            <a:ext cx="11702561" cy="6497515"/>
          </a:xfrm>
          <a:prstGeom prst="rect">
            <a:avLst/>
          </a:prstGeom>
          <a:noFill/>
          <a:ln w="76200">
            <a:solidFill>
              <a:srgbClr val="0CB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46" y="416624"/>
            <a:ext cx="681038" cy="681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0584" y="697552"/>
            <a:ext cx="2491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기계 학습 논문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3131" y="433978"/>
            <a:ext cx="256031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건국대학교 정보통신대학원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7066F7-CACD-9BBC-2314-33DDA6D79869}"/>
              </a:ext>
            </a:extLst>
          </p:cNvPr>
          <p:cNvSpPr txBox="1"/>
          <p:nvPr/>
        </p:nvSpPr>
        <p:spPr>
          <a:xfrm>
            <a:off x="820064" y="2108218"/>
            <a:ext cx="1078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linkClick r:id="rId3"/>
              </a:rPr>
              <a:t>링크 </a:t>
            </a:r>
            <a:r>
              <a:rPr lang="en-US" altLang="ko-KR" dirty="0">
                <a:hlinkClick r:id="rId3"/>
              </a:rPr>
              <a:t>: https://www-dbpia-co-kr-ssl.proxy.konkuk.ac.kr/journal/articleDetail?nodeId=NODE11136396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9C693C-7E84-B017-D604-C1BC75F5AE26}"/>
              </a:ext>
            </a:extLst>
          </p:cNvPr>
          <p:cNvSpPr txBox="1"/>
          <p:nvPr/>
        </p:nvSpPr>
        <p:spPr>
          <a:xfrm>
            <a:off x="820064" y="1481918"/>
            <a:ext cx="7194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latinLnBrk="0"/>
            <a:r>
              <a:rPr lang="ko-KR" altLang="en-US" dirty="0"/>
              <a:t>주제 </a:t>
            </a:r>
            <a:r>
              <a:rPr lang="en-US" altLang="ko-KR" dirty="0"/>
              <a:t>: </a:t>
            </a:r>
            <a:r>
              <a:rPr lang="ko-KR" altLang="en-US" b="1" i="0" dirty="0" err="1">
                <a:solidFill>
                  <a:srgbClr val="111111"/>
                </a:solidFill>
                <a:effectLst/>
                <a:latin typeface="notokr-regular"/>
              </a:rPr>
              <a:t>머신러닝</a:t>
            </a:r>
            <a:r>
              <a:rPr lang="ko-KR" altLang="en-US" b="1" i="0" dirty="0">
                <a:solidFill>
                  <a:srgbClr val="111111"/>
                </a:solidFill>
                <a:effectLst/>
                <a:latin typeface="notokr-regular"/>
              </a:rPr>
              <a:t> 알고리즘을 이용한 </a:t>
            </a:r>
            <a:r>
              <a:rPr lang="en-US" altLang="ko-KR" b="1" i="0" dirty="0">
                <a:solidFill>
                  <a:srgbClr val="111111"/>
                </a:solidFill>
                <a:effectLst/>
                <a:latin typeface="notokr-regular"/>
              </a:rPr>
              <a:t>A</a:t>
            </a:r>
            <a:r>
              <a:rPr lang="ko-KR" altLang="en-US" b="1" i="0" dirty="0">
                <a:solidFill>
                  <a:srgbClr val="111111"/>
                </a:solidFill>
                <a:effectLst/>
                <a:latin typeface="notokr-regular"/>
              </a:rPr>
              <a:t>형 간염 항체 여부 판별의 정확도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79EEA5-14A4-FD2C-4135-0BCBE93EB30D}"/>
              </a:ext>
            </a:extLst>
          </p:cNvPr>
          <p:cNvSpPr txBox="1"/>
          <p:nvPr/>
        </p:nvSpPr>
        <p:spPr>
          <a:xfrm>
            <a:off x="820064" y="2689562"/>
            <a:ext cx="8044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선정 이유 </a:t>
            </a:r>
            <a:r>
              <a:rPr lang="en-US" altLang="ko-KR" dirty="0"/>
              <a:t>: </a:t>
            </a:r>
            <a:r>
              <a:rPr lang="ko-KR" altLang="en-US" dirty="0"/>
              <a:t>회사에서 분자진단 관련 </a:t>
            </a:r>
            <a:r>
              <a:rPr lang="en-US" altLang="ko-KR" dirty="0"/>
              <a:t>AI </a:t>
            </a:r>
            <a:r>
              <a:rPr lang="ko-KR" altLang="en-US" dirty="0"/>
              <a:t>프로젝트를 진행하는 중에 과제 진행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7D9268-C4C6-DED1-92B7-E4D26D09FE57}"/>
              </a:ext>
            </a:extLst>
          </p:cNvPr>
          <p:cNvSpPr/>
          <p:nvPr/>
        </p:nvSpPr>
        <p:spPr>
          <a:xfrm>
            <a:off x="820064" y="4036978"/>
            <a:ext cx="4851161" cy="2404397"/>
          </a:xfrm>
          <a:prstGeom prst="rect">
            <a:avLst/>
          </a:prstGeom>
          <a:noFill/>
          <a:ln w="76200">
            <a:solidFill>
              <a:srgbClr val="0CB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727B22-242E-E815-B950-C9AB4C9E1A85}"/>
              </a:ext>
            </a:extLst>
          </p:cNvPr>
          <p:cNvSpPr/>
          <p:nvPr/>
        </p:nvSpPr>
        <p:spPr>
          <a:xfrm>
            <a:off x="6520777" y="4036978"/>
            <a:ext cx="5167256" cy="2404397"/>
          </a:xfrm>
          <a:prstGeom prst="rect">
            <a:avLst/>
          </a:prstGeom>
          <a:noFill/>
          <a:ln w="76200">
            <a:solidFill>
              <a:srgbClr val="0CB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F96C17-BFC1-E656-7DA9-7A54F9DE60F9}"/>
              </a:ext>
            </a:extLst>
          </p:cNvPr>
          <p:cNvSpPr txBox="1"/>
          <p:nvPr/>
        </p:nvSpPr>
        <p:spPr>
          <a:xfrm>
            <a:off x="2650769" y="4457291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논문 소개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64EFB9-1742-550B-3CFB-22720DE8D3D4}"/>
              </a:ext>
            </a:extLst>
          </p:cNvPr>
          <p:cNvSpPr txBox="1"/>
          <p:nvPr/>
        </p:nvSpPr>
        <p:spPr>
          <a:xfrm>
            <a:off x="8757488" y="4461003"/>
            <a:ext cx="7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소감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E6293-3A4B-B4A1-A6C2-E618ADD9201C}"/>
              </a:ext>
            </a:extLst>
          </p:cNvPr>
          <p:cNvSpPr txBox="1"/>
          <p:nvPr/>
        </p:nvSpPr>
        <p:spPr>
          <a:xfrm>
            <a:off x="820064" y="3363270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발표 진행 순서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21" name="그래픽 20" descr="문서 단색으로 채워진">
            <a:extLst>
              <a:ext uri="{FF2B5EF4-FFF2-40B4-BE49-F238E27FC236}">
                <a16:creationId xmlns:a16="http://schemas.microsoft.com/office/drawing/2014/main" id="{3110BD02-1E78-4BC6-5309-1A06BE1CDD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9047" y="5126790"/>
            <a:ext cx="914400" cy="914400"/>
          </a:xfrm>
          <a:prstGeom prst="rect">
            <a:avLst/>
          </a:prstGeom>
        </p:spPr>
      </p:pic>
      <p:pic>
        <p:nvPicPr>
          <p:cNvPr id="23" name="그래픽 22" descr="느낌표 단색으로 채워진">
            <a:extLst>
              <a:ext uri="{FF2B5EF4-FFF2-40B4-BE49-F238E27FC236}">
                <a16:creationId xmlns:a16="http://schemas.microsoft.com/office/drawing/2014/main" id="{4E931A85-571C-5629-2020-D032DFD0AC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23469" y="5126790"/>
            <a:ext cx="914400" cy="914400"/>
          </a:xfrm>
          <a:prstGeom prst="rect">
            <a:avLst/>
          </a:prstGeom>
        </p:spPr>
      </p:pic>
      <p:pic>
        <p:nvPicPr>
          <p:cNvPr id="26" name="그래픽 25" descr="물음표 단색으로 채워진">
            <a:extLst>
              <a:ext uri="{FF2B5EF4-FFF2-40B4-BE49-F238E27FC236}">
                <a16:creationId xmlns:a16="http://schemas.microsoft.com/office/drawing/2014/main" id="{7F14E2C3-1CB5-EF2A-F893-DBFE5E7101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08749" y="50976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307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54977" y="219808"/>
            <a:ext cx="11702561" cy="6497515"/>
          </a:xfrm>
          <a:prstGeom prst="rect">
            <a:avLst/>
          </a:prstGeom>
          <a:noFill/>
          <a:ln w="76200">
            <a:solidFill>
              <a:srgbClr val="0CB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46" y="416624"/>
            <a:ext cx="681038" cy="681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0584" y="697552"/>
            <a:ext cx="2491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기계 학습 논문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3131" y="433978"/>
            <a:ext cx="256031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건국대학교 정보통신대학원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5F31AA-F7C8-6B9E-CCF2-41AB69A7228B}"/>
              </a:ext>
            </a:extLst>
          </p:cNvPr>
          <p:cNvSpPr txBox="1"/>
          <p:nvPr/>
        </p:nvSpPr>
        <p:spPr>
          <a:xfrm>
            <a:off x="720122" y="2712210"/>
            <a:ext cx="1063784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ⅰ서론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</a:p>
          <a:p>
            <a:endParaRPr lang="en-US" altLang="ko-KR" dirty="0"/>
          </a:p>
          <a:p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A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형 간염은 예방접종으로 예방할 수 있으며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젊은 성인의 항체 수치는 낮다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 </a:t>
            </a:r>
          </a:p>
          <a:p>
            <a:endParaRPr lang="en-US" altLang="ko-KR" b="0" i="0" dirty="0">
              <a:solidFill>
                <a:srgbClr val="111111"/>
              </a:solidFill>
              <a:effectLst/>
              <a:latin typeface="Pretendard"/>
            </a:endParaRPr>
          </a:p>
          <a:p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항체 검사 여부에 대한 판단은 예방접종 전에 필수적이며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16.7%–18.2%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이상의 </a:t>
            </a:r>
            <a:endParaRPr lang="en-US" altLang="ko-KR" b="0" i="0" dirty="0">
              <a:solidFill>
                <a:srgbClr val="111111"/>
              </a:solidFill>
              <a:effectLst/>
              <a:latin typeface="Pretendard"/>
            </a:endParaRPr>
          </a:p>
          <a:p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항체가 예상되는 경우 검사하는 것이 유리하다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 </a:t>
            </a:r>
          </a:p>
          <a:p>
            <a:endParaRPr lang="en-US" altLang="ko-KR" b="0" i="0" dirty="0">
              <a:solidFill>
                <a:srgbClr val="111111"/>
              </a:solidFill>
              <a:effectLst/>
              <a:latin typeface="Pretendard"/>
            </a:endParaRPr>
          </a:p>
          <a:p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성별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나이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거주 지역에 따라 항체 여부를 추정할 수 있는 데이터가 필요하다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 </a:t>
            </a:r>
          </a:p>
          <a:p>
            <a:r>
              <a:rPr lang="ko-KR" altLang="en-US" b="0" i="0" dirty="0" err="1">
                <a:solidFill>
                  <a:srgbClr val="111111"/>
                </a:solidFill>
                <a:effectLst/>
                <a:latin typeface="Pretendard"/>
              </a:rPr>
              <a:t>머신러닝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 기법은 여러 의료 분야에서 예측에 활용되고 있으나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A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형 간염의 경우 이를 적용한 연구는 없다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0F008-C4FA-7AD7-275A-8CC367A9A716}"/>
              </a:ext>
            </a:extLst>
          </p:cNvPr>
          <p:cNvSpPr txBox="1"/>
          <p:nvPr/>
        </p:nvSpPr>
        <p:spPr>
          <a:xfrm>
            <a:off x="720122" y="1360764"/>
            <a:ext cx="2332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dirty="0"/>
              <a:t>논문 내용 소개</a:t>
            </a:r>
          </a:p>
        </p:txBody>
      </p:sp>
    </p:spTree>
    <p:extLst>
      <p:ext uri="{BB962C8B-B14F-4D97-AF65-F5344CB8AC3E}">
        <p14:creationId xmlns:p14="http://schemas.microsoft.com/office/powerpoint/2010/main" val="220262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44719" y="180242"/>
            <a:ext cx="11702561" cy="6497515"/>
          </a:xfrm>
          <a:prstGeom prst="rect">
            <a:avLst/>
          </a:prstGeom>
          <a:noFill/>
          <a:ln w="76200">
            <a:solidFill>
              <a:srgbClr val="0CB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46" y="416624"/>
            <a:ext cx="681038" cy="681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0584" y="697552"/>
            <a:ext cx="2491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기계 학습 논문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3131" y="433978"/>
            <a:ext cx="256031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건국대학교 정보통신대학원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5F31AA-F7C8-6B9E-CCF2-41AB69A7228B}"/>
              </a:ext>
            </a:extLst>
          </p:cNvPr>
          <p:cNvSpPr txBox="1"/>
          <p:nvPr/>
        </p:nvSpPr>
        <p:spPr>
          <a:xfrm>
            <a:off x="603390" y="2181233"/>
            <a:ext cx="1073723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ⅱ연구</a:t>
            </a:r>
            <a:r>
              <a:rPr lang="ko-KR" altLang="en-US" dirty="0"/>
              <a:t> 대상 및 방법 </a:t>
            </a:r>
            <a:r>
              <a:rPr lang="en-US" altLang="ko-KR" dirty="0"/>
              <a:t>: </a:t>
            </a:r>
          </a:p>
          <a:p>
            <a:endParaRPr lang="en-US" altLang="ko-KR" dirty="0"/>
          </a:p>
          <a:p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이 연구는 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4,626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명의 데이터 샘플을 통해 이루어졌으며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성별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나이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거주 지역 등 다양한 변수를 고려했다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 </a:t>
            </a:r>
          </a:p>
          <a:p>
            <a:endParaRPr lang="en-US" altLang="ko-KR" dirty="0">
              <a:solidFill>
                <a:srgbClr val="111111"/>
              </a:solidFill>
              <a:latin typeface="Pretendard"/>
            </a:endParaRPr>
          </a:p>
          <a:p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데이터 </a:t>
            </a:r>
            <a:r>
              <a:rPr lang="ko-KR" altLang="en-US" b="0" i="0" dirty="0" err="1">
                <a:solidFill>
                  <a:srgbClr val="111111"/>
                </a:solidFill>
                <a:effectLst/>
                <a:latin typeface="Pretendard"/>
              </a:rPr>
              <a:t>전처리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 후 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A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형 간염 항체 여부를 종속변수로 설정하고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</a:p>
          <a:p>
            <a:r>
              <a:rPr lang="en-US" altLang="ko-KR" b="0" i="0" dirty="0" err="1">
                <a:solidFill>
                  <a:srgbClr val="111111"/>
                </a:solidFill>
                <a:effectLst/>
                <a:latin typeface="Pretendard"/>
              </a:rPr>
              <a:t>XGBoost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기법을 이용하여 예측 모델을 구축하였다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 </a:t>
            </a:r>
          </a:p>
          <a:p>
            <a:endParaRPr lang="en-US" altLang="ko-KR" dirty="0">
              <a:solidFill>
                <a:srgbClr val="111111"/>
              </a:solidFill>
              <a:latin typeface="Pretendard"/>
            </a:endParaRPr>
          </a:p>
          <a:p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학습과 검증 과정에서는 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80%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의 데이터로 학습하고 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20%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로 검증하였다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0F008-C4FA-7AD7-275A-8CC367A9A716}"/>
              </a:ext>
            </a:extLst>
          </p:cNvPr>
          <p:cNvSpPr txBox="1"/>
          <p:nvPr/>
        </p:nvSpPr>
        <p:spPr>
          <a:xfrm>
            <a:off x="720122" y="1360764"/>
            <a:ext cx="2332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dirty="0"/>
              <a:t>논문 내용 소개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A7109D-F342-8514-44AE-5C957EC575CA}"/>
              </a:ext>
            </a:extLst>
          </p:cNvPr>
          <p:cNvSpPr/>
          <p:nvPr/>
        </p:nvSpPr>
        <p:spPr>
          <a:xfrm>
            <a:off x="397119" y="4832973"/>
            <a:ext cx="11324711" cy="1657576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0BDDC0-4FA9-1A22-992A-4819E67CEECB}"/>
              </a:ext>
            </a:extLst>
          </p:cNvPr>
          <p:cNvSpPr txBox="1"/>
          <p:nvPr/>
        </p:nvSpPr>
        <p:spPr>
          <a:xfrm>
            <a:off x="603390" y="5008815"/>
            <a:ext cx="9041258" cy="1369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XGBoost</a:t>
            </a:r>
            <a:r>
              <a:rPr lang="en-US" altLang="ko-KR" dirty="0"/>
              <a:t> </a:t>
            </a:r>
            <a:r>
              <a:rPr lang="ko-KR" altLang="en-US" dirty="0"/>
              <a:t>모델</a:t>
            </a:r>
            <a:r>
              <a:rPr lang="en-US" altLang="ko-KR" dirty="0"/>
              <a:t>:</a:t>
            </a:r>
          </a:p>
          <a:p>
            <a:r>
              <a:rPr lang="ko-KR" altLang="en-US" sz="1300" dirty="0"/>
              <a:t>구조 및 특징</a:t>
            </a:r>
            <a:r>
              <a:rPr lang="en-US" altLang="ko-KR" sz="1300" dirty="0"/>
              <a:t>: </a:t>
            </a:r>
            <a:r>
              <a:rPr lang="en-US" altLang="ko-KR" sz="1300" dirty="0" err="1"/>
              <a:t>XGBoost</a:t>
            </a:r>
            <a:r>
              <a:rPr lang="ko-KR" altLang="en-US" sz="1300" dirty="0"/>
              <a:t>는 트리 기반의 </a:t>
            </a:r>
            <a:r>
              <a:rPr lang="ko-KR" altLang="en-US" sz="1300" dirty="0" err="1"/>
              <a:t>그래디언트</a:t>
            </a:r>
            <a:r>
              <a:rPr lang="ko-KR" altLang="en-US" sz="1300" dirty="0"/>
              <a:t> </a:t>
            </a:r>
            <a:r>
              <a:rPr lang="ko-KR" altLang="en-US" sz="1300" dirty="0" err="1"/>
              <a:t>부스팅</a:t>
            </a:r>
            <a:r>
              <a:rPr lang="ko-KR" altLang="en-US" sz="1300" dirty="0"/>
              <a:t> 알고리즘으로</a:t>
            </a:r>
            <a:r>
              <a:rPr lang="en-US" altLang="ko-KR" sz="1300" dirty="0"/>
              <a:t>,</a:t>
            </a:r>
          </a:p>
          <a:p>
            <a:r>
              <a:rPr lang="ko-KR" altLang="en-US" sz="1300" dirty="0"/>
              <a:t>여러 개의 의사결정 트리를 결합해 높은 예측력을 발휘합니다</a:t>
            </a:r>
            <a:r>
              <a:rPr lang="en-US" altLang="ko-KR" sz="1300" dirty="0"/>
              <a:t>. </a:t>
            </a:r>
          </a:p>
          <a:p>
            <a:r>
              <a:rPr lang="ko-KR" altLang="en-US" sz="1300" dirty="0"/>
              <a:t>특히 트리 기반이기 때문에 개별 의사결정 트리에 비해 정확도가 높습니다</a:t>
            </a:r>
            <a:r>
              <a:rPr lang="en-US" altLang="ko-KR" sz="1300" dirty="0"/>
              <a:t>.</a:t>
            </a:r>
          </a:p>
          <a:p>
            <a:r>
              <a:rPr lang="ko-KR" altLang="en-US" sz="1300" dirty="0"/>
              <a:t>평가 및 성능</a:t>
            </a:r>
            <a:r>
              <a:rPr lang="en-US" altLang="ko-KR" sz="1300" dirty="0"/>
              <a:t>: </a:t>
            </a:r>
            <a:r>
              <a:rPr lang="en-US" altLang="ko-KR" sz="1300" dirty="0" err="1"/>
              <a:t>XGBoost</a:t>
            </a:r>
            <a:r>
              <a:rPr lang="en-US" altLang="ko-KR" sz="1300" dirty="0"/>
              <a:t> </a:t>
            </a:r>
            <a:r>
              <a:rPr lang="ko-KR" altLang="en-US" sz="1300" dirty="0"/>
              <a:t>모델은 </a:t>
            </a:r>
            <a:r>
              <a:rPr lang="en-US" altLang="ko-KR" sz="1300" dirty="0"/>
              <a:t>AUROC(Receiver Operating Characteristic Curve)</a:t>
            </a:r>
            <a:r>
              <a:rPr lang="ko-KR" altLang="en-US" sz="1300" dirty="0"/>
              <a:t>의 값이 </a:t>
            </a:r>
            <a:r>
              <a:rPr lang="en-US" altLang="ko-KR" sz="1300" dirty="0"/>
              <a:t>0.95</a:t>
            </a:r>
            <a:r>
              <a:rPr lang="ko-KR" altLang="en-US" sz="1300" dirty="0"/>
              <a:t>로 매우 높게 나타났으며</a:t>
            </a:r>
            <a:r>
              <a:rPr lang="en-US" altLang="ko-KR" sz="1300" dirty="0"/>
              <a:t>,</a:t>
            </a:r>
          </a:p>
          <a:p>
            <a:r>
              <a:rPr lang="en-US" altLang="ko-KR" sz="1300" dirty="0"/>
              <a:t> </a:t>
            </a:r>
            <a:r>
              <a:rPr lang="ko-KR" altLang="en-US" sz="1300" dirty="0"/>
              <a:t>정확도는 </a:t>
            </a:r>
            <a:r>
              <a:rPr lang="en-US" altLang="ko-KR" sz="1300" dirty="0"/>
              <a:t>97.9%</a:t>
            </a:r>
            <a:r>
              <a:rPr lang="ko-KR" altLang="en-US" sz="1300" dirty="0"/>
              <a:t>로 측정되었습니다</a:t>
            </a:r>
            <a:r>
              <a:rPr lang="en-US" altLang="ko-KR" sz="1300" dirty="0"/>
              <a:t>. </a:t>
            </a:r>
            <a:r>
              <a:rPr lang="ko-KR" altLang="en-US" sz="1300" dirty="0"/>
              <a:t>이 모델에서는 연령 변수가 가장 중요한 예측 변수로 작용한 것으로 나타났습니다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308647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44719" y="180242"/>
            <a:ext cx="11702561" cy="6497515"/>
          </a:xfrm>
          <a:prstGeom prst="rect">
            <a:avLst/>
          </a:prstGeom>
          <a:noFill/>
          <a:ln w="76200">
            <a:solidFill>
              <a:srgbClr val="0CB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46" y="416624"/>
            <a:ext cx="681038" cy="681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0584" y="697552"/>
            <a:ext cx="2491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기계 학습 논문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3131" y="433978"/>
            <a:ext cx="256031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건국대학교 정보통신대학원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5F31AA-F7C8-6B9E-CCF2-41AB69A7228B}"/>
              </a:ext>
            </a:extLst>
          </p:cNvPr>
          <p:cNvSpPr txBox="1"/>
          <p:nvPr/>
        </p:nvSpPr>
        <p:spPr>
          <a:xfrm>
            <a:off x="603389" y="2181233"/>
            <a:ext cx="108832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ⅲ결과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pPr algn="l" fontAlgn="base"/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인공신경망 및 </a:t>
            </a:r>
            <a:r>
              <a:rPr lang="en-US" altLang="ko-KR" b="0" i="0" dirty="0" err="1">
                <a:solidFill>
                  <a:srgbClr val="111111"/>
                </a:solidFill>
                <a:effectLst/>
                <a:latin typeface="Pretendard"/>
              </a:rPr>
              <a:t>XGBoost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를 통해 개발된 모델은 각각 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89.7%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및 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97.9%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의 정확도를 보였다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 </a:t>
            </a:r>
          </a:p>
          <a:p>
            <a:pPr algn="l" fontAlgn="base"/>
            <a:endParaRPr lang="en-US" altLang="ko-KR" b="0" i="0" dirty="0">
              <a:solidFill>
                <a:srgbClr val="111111"/>
              </a:solidFill>
              <a:effectLst/>
              <a:latin typeface="Pretendard"/>
            </a:endParaRPr>
          </a:p>
          <a:p>
            <a:pPr algn="l" fontAlgn="base"/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AUROC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는 각각 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95.6%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와 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95.0%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로 높은 성능을 기록했다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혼돈 행렬을 통해 모델의 성능을 평가했으며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</a:p>
          <a:p>
            <a:pPr algn="l" fontAlgn="base"/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연령이 가장 중요한 예측 변수로 나타났다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</a:t>
            </a:r>
          </a:p>
          <a:p>
            <a:pPr algn="l" fontAlgn="base"/>
            <a:endParaRPr lang="en-US" altLang="ko-KR" dirty="0">
              <a:solidFill>
                <a:srgbClr val="111111"/>
              </a:solidFill>
              <a:latin typeface="Pretendard"/>
            </a:endParaRPr>
          </a:p>
          <a:p>
            <a:pPr fontAlgn="base"/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Pretendard"/>
              </a:rPr>
              <a:t>모델의 최종 정확도는 89.7%,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Pretendard"/>
              </a:rPr>
              <a:t>AUROC는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Pretendard"/>
              </a:rPr>
              <a:t> 95.6%였다</a:t>
            </a:r>
          </a:p>
          <a:p>
            <a:pPr algn="l" fontAlgn="base"/>
            <a:endParaRPr lang="en-US" altLang="ko-KR" b="0" i="0" dirty="0">
              <a:solidFill>
                <a:srgbClr val="111111"/>
              </a:solidFill>
              <a:effectLst/>
              <a:latin typeface="Pretendard"/>
            </a:endParaRPr>
          </a:p>
          <a:p>
            <a:b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</a:b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0F008-C4FA-7AD7-275A-8CC367A9A716}"/>
              </a:ext>
            </a:extLst>
          </p:cNvPr>
          <p:cNvSpPr txBox="1"/>
          <p:nvPr/>
        </p:nvSpPr>
        <p:spPr>
          <a:xfrm>
            <a:off x="720122" y="1360764"/>
            <a:ext cx="2332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dirty="0"/>
              <a:t>논문 내용 소개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A7109D-F342-8514-44AE-5C957EC575CA}"/>
              </a:ext>
            </a:extLst>
          </p:cNvPr>
          <p:cNvSpPr/>
          <p:nvPr/>
        </p:nvSpPr>
        <p:spPr>
          <a:xfrm>
            <a:off x="397119" y="4832973"/>
            <a:ext cx="11324711" cy="1657576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0BDDC0-4FA9-1A22-992A-4819E67CEECB}"/>
              </a:ext>
            </a:extLst>
          </p:cNvPr>
          <p:cNvSpPr txBox="1"/>
          <p:nvPr/>
        </p:nvSpPr>
        <p:spPr>
          <a:xfrm>
            <a:off x="479546" y="4874721"/>
            <a:ext cx="10762433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AUROC </a:t>
            </a:r>
            <a:r>
              <a:rPr lang="en-US" altLang="ko-KR" dirty="0"/>
              <a:t>:</a:t>
            </a:r>
          </a:p>
          <a:p>
            <a:r>
              <a:rPr lang="en-US" altLang="ko-KR" sz="1400" dirty="0"/>
              <a:t>AUROC(Area Under the Receiver Operating Characteristic curve)</a:t>
            </a:r>
            <a:r>
              <a:rPr lang="ko-KR" altLang="en-US" sz="1400" dirty="0"/>
              <a:t>은 분류 모델의 성능을 평가할 때 자주 쓰이는 지표 중 하나입니다</a:t>
            </a:r>
            <a:r>
              <a:rPr lang="en-US" altLang="ko-KR" sz="1400" dirty="0"/>
              <a:t>.</a:t>
            </a:r>
          </a:p>
          <a:p>
            <a:endParaRPr lang="en-US" altLang="ko-KR" sz="1300" dirty="0"/>
          </a:p>
          <a:p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 값이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1에 가까울수록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모델이 예측을 잘하고 있음을 뜻하고,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0.5에 가까울수록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성능이 무작위로 분류한 것과 비슷합니다.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en-US" altLang="ko-KR" sz="1400" b="1" dirty="0"/>
              <a:t>AUC</a:t>
            </a:r>
            <a:r>
              <a:rPr lang="ko-KR" altLang="en-US" sz="1400" b="1" dirty="0"/>
              <a:t>가 </a:t>
            </a:r>
            <a:r>
              <a:rPr lang="en-US" altLang="ko-KR" sz="1400" b="1" dirty="0"/>
              <a:t>0.9</a:t>
            </a:r>
            <a:r>
              <a:rPr lang="ko-KR" altLang="en-US" sz="1400" dirty="0"/>
              <a:t>라면 두 클래스를 잘 구분하는 모델이며</a:t>
            </a:r>
            <a:r>
              <a:rPr lang="en-US" altLang="ko-KR" sz="1400" dirty="0"/>
              <a:t>, </a:t>
            </a:r>
            <a:r>
              <a:rPr lang="en-US" altLang="ko-KR" sz="1400" b="1" dirty="0"/>
              <a:t>AUC</a:t>
            </a:r>
            <a:r>
              <a:rPr lang="ko-KR" altLang="en-US" sz="1400" b="1" dirty="0"/>
              <a:t>가 </a:t>
            </a:r>
            <a:r>
              <a:rPr lang="en-US" altLang="ko-KR" sz="1400" b="1" dirty="0"/>
              <a:t>0.6</a:t>
            </a:r>
            <a:r>
              <a:rPr lang="ko-KR" altLang="en-US" sz="1400" dirty="0"/>
              <a:t>이라면 구분 능력이 약한 모델입니다</a:t>
            </a:r>
            <a:r>
              <a:rPr lang="en-US" altLang="ko-KR" sz="1400" dirty="0"/>
              <a:t>.</a:t>
            </a:r>
            <a:endParaRPr lang="en-US" altLang="ko-KR" sz="1300" dirty="0"/>
          </a:p>
          <a:p>
            <a:endParaRPr lang="ko-KR" altLang="en-US" sz="1300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C9671137-4EC7-BA50-5AF9-0B43A36B1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1665"/>
            <a:ext cx="65" cy="92333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Pretendard"/>
              </a:rPr>
            </a:b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Arial" panose="020B0604020202020204" pitchFamily="34" charset="0"/>
              <a:ea typeface="Pretendard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09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44719" y="180242"/>
            <a:ext cx="11702561" cy="6497515"/>
          </a:xfrm>
          <a:prstGeom prst="rect">
            <a:avLst/>
          </a:prstGeom>
          <a:noFill/>
          <a:ln w="76200">
            <a:solidFill>
              <a:srgbClr val="0CB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46" y="416624"/>
            <a:ext cx="681038" cy="681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0584" y="697552"/>
            <a:ext cx="2491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기계 학습 논문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3131" y="433978"/>
            <a:ext cx="256031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건국대학교 정보통신대학원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5F31AA-F7C8-6B9E-CCF2-41AB69A7228B}"/>
              </a:ext>
            </a:extLst>
          </p:cNvPr>
          <p:cNvSpPr txBox="1"/>
          <p:nvPr/>
        </p:nvSpPr>
        <p:spPr>
          <a:xfrm>
            <a:off x="603390" y="2181233"/>
            <a:ext cx="1131752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ⅳ결과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pPr algn="l" fontAlgn="base"/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이 연구에서 개발된 </a:t>
            </a:r>
            <a:r>
              <a:rPr lang="ko-KR" altLang="en-US" b="0" i="0" dirty="0" err="1">
                <a:solidFill>
                  <a:srgbClr val="111111"/>
                </a:solidFill>
                <a:effectLst/>
                <a:latin typeface="Pretendard"/>
              </a:rPr>
              <a:t>머신러닝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 모델은 높은 정확도로 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A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형 간염의 항체 여부를 예측할 수 있었다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</a:t>
            </a:r>
          </a:p>
          <a:p>
            <a:pPr algn="l" fontAlgn="base"/>
            <a:endParaRPr lang="en-US" altLang="ko-KR" dirty="0">
              <a:solidFill>
                <a:srgbClr val="111111"/>
              </a:solidFill>
              <a:latin typeface="Pretendard"/>
            </a:endParaRPr>
          </a:p>
          <a:p>
            <a:pPr algn="l" fontAlgn="base"/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다양한 기계학습 기법의 적용이 필요하며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신뢰성을 높이기 위해 외부 데이터와의 추가 분석이 요구된다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</a:t>
            </a:r>
          </a:p>
          <a:p>
            <a:pPr algn="l" fontAlgn="base"/>
            <a:endParaRPr lang="en-US" altLang="ko-KR" dirty="0">
              <a:solidFill>
                <a:srgbClr val="111111"/>
              </a:solidFill>
              <a:latin typeface="Pretendard"/>
            </a:endParaRPr>
          </a:p>
          <a:p>
            <a:pPr algn="l" fontAlgn="base"/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향후 가상의 시나리오 분석을 통해 예방 전략에 대한 유용성을 입증해야 한다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</a:t>
            </a:r>
          </a:p>
          <a:p>
            <a:pPr algn="l" fontAlgn="base"/>
            <a:endParaRPr lang="en-US" altLang="ko-KR" dirty="0">
              <a:solidFill>
                <a:srgbClr val="111111"/>
              </a:solidFill>
              <a:latin typeface="Pretendard"/>
            </a:endParaRPr>
          </a:p>
          <a:p>
            <a:pPr algn="l" fontAlgn="base"/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미래 적용 가능성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: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이번 연구는 의료 분야에서 </a:t>
            </a:r>
            <a:r>
              <a:rPr lang="ko-KR" altLang="en-US" b="0" i="0" dirty="0" err="1">
                <a:solidFill>
                  <a:srgbClr val="111111"/>
                </a:solidFill>
                <a:effectLst/>
                <a:latin typeface="Pretendard"/>
              </a:rPr>
              <a:t>머신러닝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 기법이 고성능 예측 모델로 사용될 수 있음을 보여주며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</a:p>
          <a:p>
            <a:pPr algn="l" fontAlgn="base"/>
            <a:endParaRPr lang="en-US" altLang="ko-KR" dirty="0">
              <a:solidFill>
                <a:srgbClr val="111111"/>
              </a:solidFill>
              <a:latin typeface="Pretendard"/>
            </a:endParaRPr>
          </a:p>
          <a:p>
            <a:pPr algn="l" fontAlgn="base"/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실제 임상에 도입될 수 있는 가능성을 제시합니다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 </a:t>
            </a:r>
          </a:p>
          <a:p>
            <a:pPr algn="l" fontAlgn="base"/>
            <a:endParaRPr lang="en-US" altLang="ko-KR" dirty="0">
              <a:solidFill>
                <a:srgbClr val="111111"/>
              </a:solidFill>
              <a:latin typeface="Pretendard"/>
            </a:endParaRPr>
          </a:p>
          <a:p>
            <a:pPr algn="l" fontAlgn="base"/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향후에는 국민 건강영양조사와 같은 외부 데이터와의 비교 분석을 통해 모델의 신뢰성을 높일 필요가 있습니다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</a:t>
            </a:r>
            <a:b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</a:b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0F008-C4FA-7AD7-275A-8CC367A9A716}"/>
              </a:ext>
            </a:extLst>
          </p:cNvPr>
          <p:cNvSpPr txBox="1"/>
          <p:nvPr/>
        </p:nvSpPr>
        <p:spPr>
          <a:xfrm>
            <a:off x="720122" y="1360764"/>
            <a:ext cx="2332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dirty="0"/>
              <a:t>논문 내용 소개</a:t>
            </a:r>
          </a:p>
        </p:txBody>
      </p:sp>
    </p:spTree>
    <p:extLst>
      <p:ext uri="{BB962C8B-B14F-4D97-AF65-F5344CB8AC3E}">
        <p14:creationId xmlns:p14="http://schemas.microsoft.com/office/powerpoint/2010/main" val="238615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44719" y="180242"/>
            <a:ext cx="11702561" cy="6497515"/>
          </a:xfrm>
          <a:prstGeom prst="rect">
            <a:avLst/>
          </a:prstGeom>
          <a:noFill/>
          <a:ln w="76200">
            <a:solidFill>
              <a:srgbClr val="0CB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46" y="416624"/>
            <a:ext cx="681038" cy="681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0584" y="697552"/>
            <a:ext cx="2491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기계 학습 논문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3131" y="433978"/>
            <a:ext cx="256031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건국대학교 정보통신대학원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5F31AA-F7C8-6B9E-CCF2-41AB69A7228B}"/>
              </a:ext>
            </a:extLst>
          </p:cNvPr>
          <p:cNvSpPr txBox="1"/>
          <p:nvPr/>
        </p:nvSpPr>
        <p:spPr>
          <a:xfrm>
            <a:off x="603390" y="2181233"/>
            <a:ext cx="1108989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ⅴ결론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</a:p>
          <a:p>
            <a:pPr algn="l" fontAlgn="base"/>
            <a:endParaRPr lang="en-US" altLang="ko-KR" dirty="0">
              <a:solidFill>
                <a:srgbClr val="111111"/>
              </a:solidFill>
              <a:latin typeface="Pretendard"/>
            </a:endParaRPr>
          </a:p>
          <a:p>
            <a:pPr algn="l" fontAlgn="base"/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CNN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과 </a:t>
            </a:r>
            <a:r>
              <a:rPr lang="en-US" altLang="ko-KR" b="0" i="0" dirty="0" err="1">
                <a:solidFill>
                  <a:srgbClr val="111111"/>
                </a:solidFill>
                <a:effectLst/>
                <a:latin typeface="Pretendard"/>
              </a:rPr>
              <a:t>XGBoost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기반의 모델은 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A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형 간염 항체 예측에서 높은 정확도를 보였으며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</a:p>
          <a:p>
            <a:pPr algn="l" fontAlgn="base"/>
            <a:endParaRPr lang="en-US" altLang="ko-KR" dirty="0">
              <a:solidFill>
                <a:srgbClr val="111111"/>
              </a:solidFill>
              <a:latin typeface="Pretendard"/>
            </a:endParaRPr>
          </a:p>
          <a:p>
            <a:pPr algn="l" fontAlgn="base"/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특히 </a:t>
            </a:r>
            <a:r>
              <a:rPr lang="en-US" altLang="ko-KR" b="0" i="0" dirty="0" err="1">
                <a:solidFill>
                  <a:srgbClr val="111111"/>
                </a:solidFill>
                <a:effectLst/>
                <a:latin typeface="Pretendard"/>
              </a:rPr>
              <a:t>XGBoost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모델은 높은 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AUROC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와 정확도로 탁월한 성능을 입증했다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 </a:t>
            </a:r>
          </a:p>
          <a:p>
            <a:pPr algn="l" fontAlgn="base"/>
            <a:endParaRPr lang="en-US" altLang="ko-KR" dirty="0">
              <a:solidFill>
                <a:srgbClr val="111111"/>
              </a:solidFill>
              <a:latin typeface="Pretendard"/>
            </a:endParaRPr>
          </a:p>
          <a:p>
            <a:pPr algn="l" fontAlgn="base"/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이 연구는 단일 병원이 아닌 여러 상황에 적용 가능한 예측 모델을 구축한 점에서 큰 의의가 있다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</a:t>
            </a:r>
          </a:p>
          <a:p>
            <a:pPr algn="l" fontAlgn="base"/>
            <a:endParaRPr lang="en-US" altLang="ko-KR" b="0" i="0" dirty="0">
              <a:solidFill>
                <a:srgbClr val="111111"/>
              </a:solidFill>
              <a:effectLst/>
              <a:latin typeface="Pretendard"/>
            </a:endParaRPr>
          </a:p>
          <a:p>
            <a:pPr algn="l" fontAlgn="base"/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실제 활용 방안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: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이 모델을 활용해 개인별 예방 전략을 세울 수 있으며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</a:t>
            </a:r>
          </a:p>
          <a:p>
            <a:pPr algn="l" fontAlgn="base"/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가상 시나리오 분석을 통해 비용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-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효과성을 평가하고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공중 보건 정책 수립에 유용한 데이터로 활용할 수 있다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</a:t>
            </a:r>
            <a:b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</a:br>
            <a:endParaRPr lang="en-US" altLang="ko-KR" b="0" i="0" dirty="0">
              <a:solidFill>
                <a:srgbClr val="111111"/>
              </a:solidFill>
              <a:effectLst/>
              <a:latin typeface="Pretendard"/>
            </a:endParaRPr>
          </a:p>
          <a:p>
            <a:pPr algn="l" fontAlgn="base"/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기계학습은 의학적 예측에 매우 유용하며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이 연구에서 개발된 모델은 고성능 </a:t>
            </a:r>
            <a:endParaRPr lang="en-US" altLang="ko-KR" b="0" i="0" dirty="0">
              <a:solidFill>
                <a:srgbClr val="111111"/>
              </a:solidFill>
              <a:effectLst/>
              <a:latin typeface="Pretendard"/>
            </a:endParaRPr>
          </a:p>
          <a:p>
            <a:pPr algn="l" fontAlgn="base"/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알고리즘으로 여러 상황에 적용 가능하다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 </a:t>
            </a:r>
          </a:p>
          <a:p>
            <a:pPr algn="l" fontAlgn="base"/>
            <a:endParaRPr lang="en-US" altLang="ko-KR" dirty="0">
              <a:solidFill>
                <a:srgbClr val="111111"/>
              </a:solidFill>
              <a:latin typeface="Pretendard"/>
            </a:endParaRPr>
          </a:p>
          <a:p>
            <a:pPr algn="l" fontAlgn="base"/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그러나 과거 조사 자료를 기반으로 하여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111111"/>
                </a:solidFill>
                <a:effectLst/>
                <a:latin typeface="Pretendard"/>
              </a:rPr>
              <a:t>현재와 미래의 변수를 예측하고 보정하는 방법이 필요하다</a:t>
            </a:r>
            <a:r>
              <a:rPr lang="en-US" altLang="ko-KR" b="0" i="0" dirty="0">
                <a:solidFill>
                  <a:srgbClr val="111111"/>
                </a:solidFill>
                <a:effectLst/>
                <a:latin typeface="Pretendard"/>
              </a:rPr>
              <a:t>.</a:t>
            </a:r>
          </a:p>
          <a:p>
            <a:pPr algn="l" fontAlgn="base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0F008-C4FA-7AD7-275A-8CC367A9A716}"/>
              </a:ext>
            </a:extLst>
          </p:cNvPr>
          <p:cNvSpPr txBox="1"/>
          <p:nvPr/>
        </p:nvSpPr>
        <p:spPr>
          <a:xfrm>
            <a:off x="720122" y="1360764"/>
            <a:ext cx="2332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dirty="0"/>
              <a:t>논문 내용 소개</a:t>
            </a:r>
          </a:p>
        </p:txBody>
      </p:sp>
    </p:spTree>
    <p:extLst>
      <p:ext uri="{BB962C8B-B14F-4D97-AF65-F5344CB8AC3E}">
        <p14:creationId xmlns:p14="http://schemas.microsoft.com/office/powerpoint/2010/main" val="2345023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44719" y="180242"/>
            <a:ext cx="11702561" cy="6497515"/>
          </a:xfrm>
          <a:prstGeom prst="rect">
            <a:avLst/>
          </a:prstGeom>
          <a:noFill/>
          <a:ln w="76200">
            <a:solidFill>
              <a:srgbClr val="0CB1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46" y="416624"/>
            <a:ext cx="681038" cy="681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0584" y="697552"/>
            <a:ext cx="2491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기계 학습 논문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3131" y="433978"/>
            <a:ext cx="256031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건국대학교 정보통신대학원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5F31AA-F7C8-6B9E-CCF2-41AB69A7228B}"/>
              </a:ext>
            </a:extLst>
          </p:cNvPr>
          <p:cNvSpPr txBox="1"/>
          <p:nvPr/>
        </p:nvSpPr>
        <p:spPr>
          <a:xfrm>
            <a:off x="603390" y="2181233"/>
            <a:ext cx="1097768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base"/>
            <a:r>
              <a:rPr lang="ko-KR" altLang="en-US" dirty="0"/>
              <a:t>이번 과제를 통해서 소감은</a:t>
            </a:r>
            <a:endParaRPr lang="en-US" altLang="ko-KR" dirty="0"/>
          </a:p>
          <a:p>
            <a:pPr algn="l" fontAlgn="base"/>
            <a:endParaRPr lang="en-US" altLang="ko-KR" dirty="0"/>
          </a:p>
          <a:p>
            <a:pPr algn="l" fontAlgn="base"/>
            <a:r>
              <a:rPr lang="ko-KR" altLang="en-US" dirty="0"/>
              <a:t>개인이던 그룹이던 새롭게 모델을 개발하기에는 비용과 시간이 너무 많이 들고</a:t>
            </a:r>
            <a:r>
              <a:rPr lang="en-US" altLang="ko-KR" dirty="0"/>
              <a:t>, </a:t>
            </a:r>
            <a:r>
              <a:rPr lang="ko-KR" altLang="en-US" dirty="0"/>
              <a:t>이제 </a:t>
            </a:r>
            <a:r>
              <a:rPr lang="en-US" altLang="ko-KR" dirty="0"/>
              <a:t>AI</a:t>
            </a:r>
            <a:r>
              <a:rPr lang="ko-KR" altLang="en-US" dirty="0"/>
              <a:t>의 선진 회사들은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해당 모델을 어떤 프로젝트에 잘 어울리고</a:t>
            </a:r>
            <a:r>
              <a:rPr lang="en-US" altLang="ko-KR" dirty="0"/>
              <a:t>, </a:t>
            </a:r>
            <a:r>
              <a:rPr lang="ko-KR" altLang="en-US" dirty="0"/>
              <a:t>적용할 수 있는지를 판단하는 </a:t>
            </a:r>
            <a:r>
              <a:rPr lang="en-US" altLang="ko-KR" dirty="0"/>
              <a:t>AI TF</a:t>
            </a:r>
            <a:r>
              <a:rPr lang="ko-KR" altLang="en-US" dirty="0"/>
              <a:t>팀을 많이 꾸린다고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들었습니다</a:t>
            </a:r>
            <a:r>
              <a:rPr lang="en-US" altLang="ko-KR" dirty="0"/>
              <a:t>.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제가 논문을 </a:t>
            </a:r>
            <a:r>
              <a:rPr lang="ko-KR" altLang="en-US" dirty="0" err="1"/>
              <a:t>쓸때도</a:t>
            </a:r>
            <a:r>
              <a:rPr lang="ko-KR" altLang="en-US" dirty="0"/>
              <a:t> 마찬가지고 </a:t>
            </a:r>
            <a:r>
              <a:rPr lang="en-US" altLang="ko-KR" dirty="0"/>
              <a:t>AI</a:t>
            </a:r>
            <a:r>
              <a:rPr lang="ko-KR" altLang="en-US" dirty="0"/>
              <a:t>를 보는 시선을 조금은 다르게 가져가야 </a:t>
            </a:r>
            <a:r>
              <a:rPr lang="ko-KR" altLang="en-US" dirty="0" err="1"/>
              <a:t>겠다는</a:t>
            </a:r>
            <a:r>
              <a:rPr lang="ko-KR" altLang="en-US" dirty="0"/>
              <a:t> 생각이 들었습니다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새로 나온 모델을 공부하고 한가지의 프로젝트를 여러가지의 모델로 돌려봄으로써</a:t>
            </a:r>
            <a:r>
              <a:rPr lang="en-US" altLang="ko-KR" dirty="0"/>
              <a:t>, </a:t>
            </a:r>
            <a:r>
              <a:rPr lang="ko-KR" altLang="en-US" dirty="0"/>
              <a:t>좀더 정확하고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해당 프로젝트에 맞는 </a:t>
            </a:r>
            <a:r>
              <a:rPr lang="en-US" altLang="ko-KR" dirty="0"/>
              <a:t>AI</a:t>
            </a:r>
            <a:r>
              <a:rPr lang="ko-KR" altLang="en-US" dirty="0"/>
              <a:t>를 찾는 것도 많이 중요하다고 생각했습니다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0F008-C4FA-7AD7-275A-8CC367A9A716}"/>
              </a:ext>
            </a:extLst>
          </p:cNvPr>
          <p:cNvSpPr txBox="1"/>
          <p:nvPr/>
        </p:nvSpPr>
        <p:spPr>
          <a:xfrm>
            <a:off x="720122" y="1360764"/>
            <a:ext cx="82586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dirty="0"/>
              <a:t>소감</a:t>
            </a:r>
          </a:p>
        </p:txBody>
      </p:sp>
    </p:spTree>
    <p:extLst>
      <p:ext uri="{BB962C8B-B14F-4D97-AF65-F5344CB8AC3E}">
        <p14:creationId xmlns:p14="http://schemas.microsoft.com/office/powerpoint/2010/main" val="3240495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725</Words>
  <Application>Microsoft Office PowerPoint</Application>
  <PresentationFormat>와이드스크린</PresentationFormat>
  <Paragraphs>97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HY견고딕</vt:lpstr>
      <vt:lpstr>notokr-regular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민재 김</dc:creator>
  <cp:lastModifiedBy>민재 김</cp:lastModifiedBy>
  <cp:revision>1</cp:revision>
  <dcterms:created xsi:type="dcterms:W3CDTF">2024-10-16T08:39:10Z</dcterms:created>
  <dcterms:modified xsi:type="dcterms:W3CDTF">2024-10-16T09:11:38Z</dcterms:modified>
</cp:coreProperties>
</file>
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647A8-CC04-4260-A871-6522C65E7A7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965F9-A36D-4EDB-B461-E17C9C7654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1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965F9-A36D-4EDB-B461-E17C9C76541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213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AE666-5556-EAE6-F9C9-68CC183B0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85175-7152-AA91-1F0C-A4FA80873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B56B0-D2A7-4716-B4C4-DBE2FA11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F743B-6A7D-1DD8-4081-B7DFAC08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4B43C-49E0-58E1-7B8D-89ECFFAA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2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3DAF6-B0D7-3910-981E-FF9B3FB0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F3D5BA-A859-0C2E-D603-A4336FD1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A7610-3E1F-35DD-209F-C920A367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35B30-E08B-EF17-3D1E-E11579E4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0FB5F-AD50-B30E-2E1A-2476D746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74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4C3B6-E66B-88C3-86E2-A7AE9FF2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D03A52-541B-801C-5CB2-AE8D767E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BC6E66-FA75-200B-E679-F4FDCA6E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6D26D-0CFD-193C-F599-A5037F7F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3BE72-9263-AC41-04AE-7223C935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0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A1AB0-EAB9-803E-4156-849F2AFC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C39C1-0964-FF57-22D8-1B27DB414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BFD41C-DC39-1612-A55C-F78564D20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3B8FA-5257-DE58-1242-CD88ED0D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D822D-52EB-DD91-9D5C-88C85B13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5BB34-2953-195F-CE5F-055E475D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94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6EFC1-2FC9-4DCD-0857-A48DE11C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35433-FAFD-D361-A5F5-867637519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961DC-3B94-FCB3-7BA8-68CAAF682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BF5B19-8353-6C9A-F43D-644158698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AAE80F-5820-E5B1-8A1A-38EEADD75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763DE1-A9D3-BB54-9EBA-2A522015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339CC4-1165-2B8D-DB63-C6BD3C5D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5A9269-223F-7E56-12F2-3D8688D7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59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76117-37D1-2075-56A2-CA8686C8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17838E-F4A9-B845-2396-C59D5039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8F363C-C00B-6C0B-BF6A-FE550C66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7F6545-9B1F-BB6B-68D5-D29E4D5F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34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228CC5-6C6E-EA8C-AB86-F65C3691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D0DBAB-B5B7-6B9E-8165-490E9FE3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E5E70-BF08-14F2-9CC1-E2689ECE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46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500E9-45F8-583F-752B-D648D0FD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5BBA6-B55A-6A05-1570-8F44C781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E50AC-1573-76AC-618E-8F34700E7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AFD81C-96B4-52B2-2AB8-521520E4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20A83-80CF-EC44-0B5B-D78B85A6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2C288-3BD2-FC73-F883-F1F9A980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93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FAF03-9CF2-1F32-F8C5-5D2E8D83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4163BB-8559-B3E3-ED2F-58DA630DA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C37B32-050D-CD97-868B-4436612F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146C3A-FC0C-5C6C-4B26-39731F23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FF5D35-1401-AEB7-2F8D-5B572E92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A6B895-CB82-1389-C102-209DD92A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7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BDD50-94FD-75C7-BA0D-86EC05D8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6A99F-7D90-0683-6FC4-86BA01A3D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A3BB28-4D87-9AE3-3FD3-30E815E6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295D7-114A-60CB-5FB5-C8E7B13E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A83E0D-8BA8-6C5B-495B-745F8F9F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81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6AB2CA-075E-8569-6A06-5ED448230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B12A80-AF89-D77C-1E17-A1849B6B0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8A26F-06C5-D3C2-D7E2-CEB0073C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CC336-00FE-6951-AE41-8DF9BCD4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9DA23-1286-F620-EF20-88EB96D7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35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F875BE-6013-354C-3A47-260C1401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B32932-E142-4D85-729A-4D63E32D6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0EFBE5-05DE-1AD7-66A1-6E6342037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6754E-C267-4EC9-A972-C4FE40C5D896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059CD2-4E92-F8C4-D7A6-E787FF32A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ABD6F-05A9-71F3-AA75-0FA283E3A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5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4DA4C-E096-6723-A31E-5D3846FA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8" y="180642"/>
            <a:ext cx="9589168" cy="315912"/>
          </a:xfrm>
        </p:spPr>
        <p:txBody>
          <a:bodyPr>
            <a:noAutofit/>
          </a:bodyPr>
          <a:lstStyle/>
          <a:p>
            <a:r>
              <a:rPr lang="ko-KR" altLang="en-US" sz="1800" b="1" dirty="0"/>
              <a:t>기상 요인 및 시계열 패턴을 고려한 </a:t>
            </a:r>
            <a:r>
              <a:rPr lang="ko-KR" altLang="en-US" sz="1800" b="1" dirty="0" err="1"/>
              <a:t>머신러닝</a:t>
            </a:r>
            <a:r>
              <a:rPr lang="ko-KR" altLang="en-US" sz="1800" b="1" dirty="0"/>
              <a:t> 기반 의류 수요 예측 성능 비교 연구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A57CA3-7C48-C018-AA2F-365220AB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95" y="721899"/>
            <a:ext cx="5037221" cy="57751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ko-KR" sz="1400" b="1" dirty="0"/>
              <a:t>1. 왜 이 실험을 했는가? (연구 배경 및 목적)</a:t>
            </a:r>
          </a:p>
          <a:p>
            <a:r>
              <a:rPr lang="ko-KR" altLang="ko-KR" sz="1400" b="1" dirty="0"/>
              <a:t>기존 수요 예측의 한계:</a:t>
            </a:r>
            <a:r>
              <a:rPr lang="ko-KR" altLang="ko-KR" sz="1400" dirty="0"/>
              <a:t> 의류 산업은 유행 주기가 짧고 계절, 날씨, 프로모션 등에 수요가 매우 민감하게 반응하여, '과거 판매량만으로는 정확한 예측이 어려움.</a:t>
            </a:r>
          </a:p>
          <a:p>
            <a:r>
              <a:rPr lang="ko-KR" altLang="ko-KR" sz="1400" b="1" dirty="0"/>
              <a:t>외생 변수 효과 검증:</a:t>
            </a:r>
            <a:r>
              <a:rPr lang="ko-KR" altLang="ko-KR" sz="1400" dirty="0"/>
              <a:t> 과거 판매 이력에 날씨, 요일, 갑작스러운 수요 급증(</a:t>
            </a:r>
            <a:r>
              <a:rPr lang="ko-KR" altLang="ko-KR" sz="1400" dirty="0" err="1"/>
              <a:t>Spike</a:t>
            </a:r>
            <a:r>
              <a:rPr lang="ko-KR" altLang="ko-KR" sz="1400" dirty="0"/>
              <a:t>) 패턴 등 외부 요인(외생 변수)을 결합했을 때 예측 성능이 얼마나 개선되는지 확인하기 위함.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ko-KR" sz="1400" b="1" dirty="0"/>
              <a:t>2. 어떤 데이터와 모델을 사용했는가? (데이터 및 분석 기법)</a:t>
            </a:r>
          </a:p>
          <a:p>
            <a:r>
              <a:rPr lang="ko-KR" altLang="ko-KR" sz="1400" b="1" dirty="0"/>
              <a:t>데이터 </a:t>
            </a:r>
            <a:r>
              <a:rPr lang="ko-KR" altLang="ko-KR" sz="1400" b="1" dirty="0" err="1"/>
              <a:t>전처리</a:t>
            </a:r>
            <a:r>
              <a:rPr lang="ko-KR" altLang="ko-KR" sz="1400" b="1" dirty="0"/>
              <a:t> 및 변수 생성:</a:t>
            </a:r>
            <a:r>
              <a:rPr lang="ko-KR" altLang="ko-KR" sz="1400" dirty="0"/>
              <a:t>  H&amp;M 원본 거래 로그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캐글</a:t>
            </a:r>
            <a:r>
              <a:rPr lang="en-US" altLang="ko-KR" sz="1400" dirty="0"/>
              <a:t>)</a:t>
            </a:r>
            <a:r>
              <a:rPr lang="ko-KR" altLang="ko-KR" sz="1400" dirty="0"/>
              <a:t>를＇일 단위 수요 </a:t>
            </a:r>
            <a:r>
              <a:rPr lang="ko-KR" altLang="ko-KR" sz="1400" dirty="0" err="1"/>
              <a:t>데이터＇로</a:t>
            </a:r>
            <a:r>
              <a:rPr lang="ko-KR" altLang="ko-KR" sz="1400" dirty="0"/>
              <a:t> 변환하고 스톡홀름 기상 </a:t>
            </a:r>
            <a:r>
              <a:rPr lang="ko-KR" altLang="ko-KR" sz="1400" dirty="0" err="1"/>
              <a:t>API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활용</a:t>
            </a:r>
            <a:r>
              <a:rPr lang="ko-KR" altLang="ko-KR" sz="1400" dirty="0"/>
              <a:t>.</a:t>
            </a:r>
          </a:p>
          <a:p>
            <a:pPr lvl="1"/>
            <a:r>
              <a:rPr lang="ko-KR" altLang="ko-KR" sz="1400" dirty="0"/>
              <a:t>기상 변수(기온, 일교차), 캘린더 변수(요일, 주차), 시계열 변수(</a:t>
            </a:r>
            <a:r>
              <a:rPr lang="ko-KR" altLang="ko-KR" sz="1400" dirty="0" err="1"/>
              <a:t>lag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rolling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mean</a:t>
            </a:r>
            <a:r>
              <a:rPr lang="ko-KR" altLang="ko-KR" sz="1400" dirty="0"/>
              <a:t>), 스파이크 변수(단기 수요 급증) 등 파생 변수 </a:t>
            </a:r>
            <a:r>
              <a:rPr lang="ko-KR" altLang="en-US" sz="1400" dirty="0"/>
              <a:t>주입</a:t>
            </a:r>
            <a:r>
              <a:rPr lang="ko-KR" altLang="ko-KR" sz="1400" dirty="0"/>
              <a:t> 설계.</a:t>
            </a:r>
          </a:p>
          <a:p>
            <a:r>
              <a:rPr lang="ko-KR" altLang="ko-KR" sz="1400" b="1" dirty="0"/>
              <a:t>비교 모델 설정:</a:t>
            </a:r>
            <a:endParaRPr lang="ko-KR" altLang="ko-KR" sz="1400" dirty="0"/>
          </a:p>
          <a:p>
            <a:pPr lvl="1"/>
            <a:r>
              <a:rPr lang="ko-KR" altLang="ko-KR" sz="1400" dirty="0"/>
              <a:t>과거 판매량만 학습한 </a:t>
            </a:r>
            <a:r>
              <a:rPr lang="ko-KR" altLang="ko-KR" sz="1400" dirty="0" err="1"/>
              <a:t>Baseline</a:t>
            </a:r>
            <a:r>
              <a:rPr lang="ko-KR" altLang="ko-KR" sz="1400" dirty="0"/>
              <a:t> 모델 VS 외부 요인을 모두 포함한 확장형 모델</a:t>
            </a:r>
          </a:p>
          <a:p>
            <a:r>
              <a:rPr lang="ko-KR" altLang="ko-KR" sz="1400" b="1" dirty="0" err="1"/>
              <a:t>머신러닝</a:t>
            </a:r>
            <a:r>
              <a:rPr lang="ko-KR" altLang="ko-KR" sz="1400" b="1" dirty="0"/>
              <a:t> 알고리즘:</a:t>
            </a:r>
            <a:r>
              <a:rPr lang="ko-KR" altLang="ko-KR" sz="1400" dirty="0"/>
              <a:t> 트리 기반 앙상블 회귀 모델 3종 비교 (GBDT, </a:t>
            </a:r>
            <a:r>
              <a:rPr lang="ko-KR" altLang="ko-KR" sz="1400" dirty="0" err="1"/>
              <a:t>XGBoost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LightGBM</a:t>
            </a:r>
            <a:r>
              <a:rPr lang="ko-KR" altLang="ko-KR" sz="1400" dirty="0"/>
              <a:t>)</a:t>
            </a:r>
          </a:p>
          <a:p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4D2DF8D-FE30-C82B-28E2-C9DDE01AC101}"/>
              </a:ext>
            </a:extLst>
          </p:cNvPr>
          <p:cNvCxnSpPr/>
          <p:nvPr/>
        </p:nvCxnSpPr>
        <p:spPr>
          <a:xfrm>
            <a:off x="569495" y="569495"/>
            <a:ext cx="108364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461B519E-3013-EA9E-89C9-B90E891C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649" y="150898"/>
            <a:ext cx="1097151" cy="36169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BA91B9A-AF40-E306-15BD-9447D0BD315E}"/>
              </a:ext>
            </a:extLst>
          </p:cNvPr>
          <p:cNvSpPr txBox="1">
            <a:spLocks/>
          </p:cNvSpPr>
          <p:nvPr/>
        </p:nvSpPr>
        <p:spPr>
          <a:xfrm>
            <a:off x="6096000" y="721899"/>
            <a:ext cx="5037221" cy="57751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ko-KR" sz="1400" b="1" dirty="0"/>
              <a:t>3. 어떤 결과를 얻었는가? (연구 결과)</a:t>
            </a:r>
          </a:p>
          <a:p>
            <a:r>
              <a:rPr lang="ko-KR" altLang="ko-KR" sz="1400" b="1" dirty="0"/>
              <a:t>외부 요인(외생 변수)의 효과:</a:t>
            </a:r>
            <a:endParaRPr lang="ko-KR" altLang="ko-KR" sz="1400" dirty="0"/>
          </a:p>
          <a:p>
            <a:pPr lvl="1"/>
            <a:r>
              <a:rPr lang="ko-KR" altLang="ko-KR" sz="1400" dirty="0"/>
              <a:t>기상 및 시계열 변수를 추가한 확장형 모델이 </a:t>
            </a:r>
            <a:r>
              <a:rPr lang="ko-KR" altLang="ko-KR" sz="1400" dirty="0" err="1"/>
              <a:t>Baseline</a:t>
            </a:r>
            <a:r>
              <a:rPr lang="ko-KR" altLang="ko-KR" sz="1400" dirty="0"/>
              <a:t> 대비 평균 정확도 약 6% 향상, 예측 오차(RMSE) 약 35% 감소.</a:t>
            </a:r>
          </a:p>
          <a:p>
            <a:r>
              <a:rPr lang="ko-KR" altLang="ko-KR" sz="1400" b="1" dirty="0"/>
              <a:t>최우수 예측 모델 도출:</a:t>
            </a:r>
            <a:endParaRPr lang="ko-KR" altLang="ko-KR" sz="1400" dirty="0"/>
          </a:p>
          <a:p>
            <a:pPr lvl="1"/>
            <a:r>
              <a:rPr lang="ko-KR" altLang="ko-KR" sz="1400" dirty="0"/>
              <a:t>3가지 모델 중 </a:t>
            </a:r>
            <a:r>
              <a:rPr lang="ko-KR" altLang="ko-KR" sz="1400" dirty="0" err="1"/>
              <a:t>XGBoost가</a:t>
            </a:r>
            <a:r>
              <a:rPr lang="ko-KR" altLang="ko-KR" sz="1400" dirty="0"/>
              <a:t> 10개 실험 중 7개에서 1위를 차지하며 가장 안정적인 성능 입증.</a:t>
            </a:r>
          </a:p>
          <a:p>
            <a:pPr lvl="1"/>
            <a:r>
              <a:rPr lang="ko-KR" altLang="en-US" sz="1400" dirty="0"/>
              <a:t>통합 데이터 실험에서도 정확도 </a:t>
            </a:r>
            <a:r>
              <a:rPr lang="en-US" altLang="ko-KR" sz="1400" dirty="0"/>
              <a:t>90.09%, </a:t>
            </a:r>
            <a:r>
              <a:rPr lang="ko-KR" altLang="en-US" sz="1400" dirty="0"/>
              <a:t>결정계수 </a:t>
            </a:r>
            <a:r>
              <a:rPr lang="en-US" altLang="ko-KR" sz="1400" dirty="0"/>
              <a:t>R² = 0.96</a:t>
            </a:r>
            <a:r>
              <a:rPr lang="ko-KR" altLang="en-US" sz="1400" dirty="0"/>
              <a:t>을 기록해 실제 수요 변동을 잘 설명하는 모델로 평가되었다</a:t>
            </a:r>
            <a:r>
              <a:rPr lang="en-US" altLang="ko-KR" sz="1400" dirty="0"/>
              <a:t>.</a:t>
            </a:r>
          </a:p>
          <a:p>
            <a:pPr lvl="1"/>
            <a:endParaRPr lang="ko-KR" altLang="ko-KR" sz="1400" dirty="0"/>
          </a:p>
          <a:p>
            <a:pPr marL="0" indent="0">
              <a:buNone/>
            </a:pPr>
            <a:r>
              <a:rPr lang="ko-KR" altLang="ko-KR" sz="1400" b="1" dirty="0"/>
              <a:t>4. 종합 평가: 한계점 및 실무적 개선점</a:t>
            </a:r>
          </a:p>
          <a:p>
            <a:r>
              <a:rPr lang="ko-KR" altLang="ko-KR" sz="1400" b="1" dirty="0"/>
              <a:t>개발/실무적 의의:</a:t>
            </a:r>
            <a:r>
              <a:rPr lang="ko-KR" altLang="ko-KR" sz="1400" dirty="0"/>
              <a:t> </a:t>
            </a:r>
            <a:r>
              <a:rPr lang="ko-KR" altLang="en-US" sz="1400" dirty="0"/>
              <a:t>좋은 예측 성능은 알고리즘뿐 아니라 데이터 전처리와 변수 설계에 달려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날씨</a:t>
            </a:r>
            <a:r>
              <a:rPr lang="en-US" altLang="ko-KR" sz="1400" dirty="0"/>
              <a:t>, </a:t>
            </a:r>
            <a:r>
              <a:rPr lang="ko-KR" altLang="en-US" sz="1400" dirty="0"/>
              <a:t>요일</a:t>
            </a:r>
            <a:r>
              <a:rPr lang="en-US" altLang="ko-KR" sz="1400" dirty="0"/>
              <a:t>, </a:t>
            </a:r>
            <a:r>
              <a:rPr lang="ko-KR" altLang="en-US" sz="1400" dirty="0"/>
              <a:t>최근 판매 흐름</a:t>
            </a:r>
            <a:r>
              <a:rPr lang="en-US" altLang="ko-KR" sz="1400" dirty="0"/>
              <a:t>, </a:t>
            </a:r>
            <a:r>
              <a:rPr lang="ko-KR" altLang="en-US" sz="1400" dirty="0"/>
              <a:t>수요 급증 정보를 함께 반영하면 </a:t>
            </a:r>
            <a:r>
              <a:rPr lang="ko-KR" altLang="en-US" sz="1400" dirty="0" err="1"/>
              <a:t>이커머스의</a:t>
            </a:r>
            <a:r>
              <a:rPr lang="ko-KR" altLang="en-US" sz="1400" dirty="0"/>
              <a:t> 재고</a:t>
            </a:r>
            <a:r>
              <a:rPr lang="en-US" altLang="ko-KR" sz="1400" dirty="0"/>
              <a:t>·</a:t>
            </a:r>
            <a:r>
              <a:rPr lang="ko-KR" altLang="en-US" sz="1400" dirty="0"/>
              <a:t>발주</a:t>
            </a:r>
            <a:r>
              <a:rPr lang="en-US" altLang="ko-KR" sz="1400" dirty="0"/>
              <a:t>·</a:t>
            </a:r>
            <a:r>
              <a:rPr lang="ko-KR" altLang="en-US" sz="1400" dirty="0"/>
              <a:t>프로모션 의사결정에 활용할 수 있다</a:t>
            </a:r>
            <a:r>
              <a:rPr lang="en-US" altLang="ko-KR" sz="1400" dirty="0"/>
              <a:t>.</a:t>
            </a:r>
          </a:p>
          <a:p>
            <a:r>
              <a:rPr lang="ko-KR" altLang="ko-KR" sz="1400" b="1" dirty="0"/>
              <a:t>한계점:</a:t>
            </a:r>
            <a:r>
              <a:rPr lang="ko-KR" altLang="ko-KR" sz="1400" dirty="0"/>
              <a:t> 특정 브랜드(H&amp;M) 및 스웨덴 스톡홀름이라는 특정 지역 데이터에 국한됨.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 확장 필요</a:t>
            </a:r>
            <a:r>
              <a:rPr lang="en-US" altLang="ko-KR" sz="1400" dirty="0"/>
              <a:t>.</a:t>
            </a:r>
            <a:endParaRPr lang="ko-KR" altLang="ko-KR" sz="1400" dirty="0"/>
          </a:p>
          <a:p>
            <a:r>
              <a:rPr lang="ko-KR" altLang="ko-KR" sz="1400" b="1" dirty="0"/>
              <a:t>실무형 개선점:</a:t>
            </a:r>
            <a:r>
              <a:rPr lang="ko-KR" altLang="ko-KR" sz="1400" dirty="0"/>
              <a:t> </a:t>
            </a:r>
            <a:r>
              <a:rPr lang="ko-KR" altLang="en-US" sz="1400" dirty="0"/>
              <a:t>실제 쇼핑몰 수요에는 판매 이력과 날씨뿐 아니라 가격 할인율</a:t>
            </a:r>
            <a:r>
              <a:rPr lang="en-US" altLang="ko-KR" sz="1400" dirty="0"/>
              <a:t>, </a:t>
            </a:r>
            <a:r>
              <a:rPr lang="ko-KR" altLang="en-US" sz="1400" dirty="0"/>
              <a:t>광고</a:t>
            </a:r>
            <a:r>
              <a:rPr lang="en-US" altLang="ko-KR" sz="1400" dirty="0"/>
              <a:t>·</a:t>
            </a:r>
            <a:r>
              <a:rPr lang="ko-KR" altLang="en-US" sz="1400" dirty="0"/>
              <a:t>프로모션</a:t>
            </a:r>
            <a:r>
              <a:rPr lang="en-US" altLang="ko-KR" sz="1400" dirty="0"/>
              <a:t>, SNS </a:t>
            </a:r>
            <a:r>
              <a:rPr lang="ko-KR" altLang="en-US" sz="1400" dirty="0"/>
              <a:t>트렌드</a:t>
            </a:r>
            <a:r>
              <a:rPr lang="en-US" altLang="ko-KR" sz="1400" dirty="0"/>
              <a:t>, </a:t>
            </a:r>
            <a:r>
              <a:rPr lang="ko-KR" altLang="en-US" sz="1400" dirty="0"/>
              <a:t>상품 검색어 트렌드</a:t>
            </a:r>
            <a:r>
              <a:rPr lang="en-US" altLang="ko-KR" sz="1400" dirty="0"/>
              <a:t>, </a:t>
            </a:r>
            <a:r>
              <a:rPr lang="ko-KR" altLang="en-US" sz="1400" dirty="0"/>
              <a:t>실시간 재고 상태도 영향을 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향후 이러한 변수를 함께 반영한다면</a:t>
            </a:r>
            <a:r>
              <a:rPr lang="en-US" altLang="ko-KR" sz="1400" dirty="0"/>
              <a:t>, </a:t>
            </a:r>
            <a:r>
              <a:rPr lang="ko-KR" altLang="en-US" sz="1400" dirty="0"/>
              <a:t>더 정교하고 실용적인 </a:t>
            </a:r>
            <a:r>
              <a:rPr lang="ko-KR" altLang="en-US" sz="1400" dirty="0" err="1"/>
              <a:t>이커머스</a:t>
            </a:r>
            <a:r>
              <a:rPr lang="ko-KR" altLang="en-US" sz="1400" dirty="0"/>
              <a:t> 맞춤형 수요 예측 시스템을 만들 수 있을 것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051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416</Words>
  <Application>Microsoft Office PowerPoint</Application>
  <PresentationFormat>와이드스크린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기상 요인 및 시계열 패턴을 고려한 머신러닝 기반 의류 수요 예측 성능 비교 연구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이유섭</dc:creator>
  <cp:lastModifiedBy>이유섭</cp:lastModifiedBy>
  <cp:revision>3</cp:revision>
  <dcterms:created xsi:type="dcterms:W3CDTF">2026-06-04T02:41:47Z</dcterms:created>
  <dcterms:modified xsi:type="dcterms:W3CDTF">2026-06-04T03:21:22Z</dcterms:modified>
</cp:coreProperties>
</file>
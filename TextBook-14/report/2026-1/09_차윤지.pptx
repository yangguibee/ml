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714" y="10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6A6D6A-2CC5-80A9-3B53-C9502D6B6C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82180C6-7F1D-507F-5258-C7C261C291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95EF78-EFA0-3E2B-FEE7-1F3BD5940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DC343-29E0-4967-8467-70ADA2801F30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2378B5-9461-E600-E24F-92DCB3C1A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DD67B9-E3AA-F1E2-63C8-53A3B2A91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19AED-9367-4F9F-9FFC-27EFF14896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9812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BFCFC5-F982-FFB9-D800-EB3791E9C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33791B-B3D7-6D7B-1C9B-39107A904C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F6AC9F-94ED-6133-A977-3D8DA396F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DC343-29E0-4967-8467-70ADA2801F30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BF0DD4-71EB-C33A-0D7A-FCEE7DED8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3F6F59-B103-D5C9-579F-5BDBC873D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19AED-9367-4F9F-9FFC-27EFF14896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679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12ACEB-C725-4FD1-C38E-4E8358478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E67CB2-1DA2-137D-BF43-DE810804E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4BB539-FE79-522F-6E13-CE4C99F3B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DC343-29E0-4967-8467-70ADA2801F30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E50D95-8769-503B-A8A3-E5246DACC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BDC2D8-DBB6-AB2C-71F7-7C5C0BB08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19AED-9367-4F9F-9FFC-27EFF14896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4111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D67C02-DC99-31EA-343C-67054138C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BAB40F-5D05-8B44-1AB2-813215ACCD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820A6BA-452A-8BE7-3163-7EC913579D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2BA6CBA-39F2-1E26-47FF-5786984A8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DC343-29E0-4967-8467-70ADA2801F30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C741A8D-8692-6519-765F-832AC881D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72DB72-B0E3-802F-E9AD-72C2A2EFE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19AED-9367-4F9F-9FFC-27EFF14896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912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3B5C64-5D8F-3946-2362-8B29D096E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851EA8-9C51-399E-B2A4-FC35535433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A173486-E84D-001E-4BEC-828ED867DD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307DCA8-C782-FA5D-1E45-7B9E613D97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8C68496-468E-B1B7-A7B7-FC340656DA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EEA5AEB-2748-1D0A-A502-0BCAC2817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DC343-29E0-4967-8467-70ADA2801F30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ACA9EA-9896-7B16-E347-5911770C8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27846F5-BB7D-85B4-827E-A087B196B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19AED-9367-4F9F-9FFC-27EFF14896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115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CC84C2-2C9E-8C8B-5650-4F71F4C42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B1E9B96-7B29-37BB-0B12-30A61C10C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DC343-29E0-4967-8467-70ADA2801F30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C77FF30-BD81-D213-5978-BCCBAF3E1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B89F99D-EA9C-EC3F-A90A-4CA79D497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19AED-9367-4F9F-9FFC-27EFF14896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6561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7D7F11C-E51B-EE4C-E923-A979CC70B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DC343-29E0-4967-8467-70ADA2801F30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B44A8A9-BC84-0150-F9A1-2225ACD47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E73DDD-FE25-1976-7906-47ACD85AA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19AED-9367-4F9F-9FFC-27EFF14896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3934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02649B-44A3-D1E2-9DFF-BF4AD7B8B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602422-D90C-7CE7-38F6-492DE66539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8242A2A-6AC4-2B2A-A029-10F122FD90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61BE647-F500-439E-EE71-C3B824671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DC343-29E0-4967-8467-70ADA2801F30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96A41A-28EB-5C1B-5257-1D2931DFB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3DF90CB-D4A3-43A7-51D4-02CABDC2E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19AED-9367-4F9F-9FFC-27EFF14896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1363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0E6626-9F20-2B27-6F4C-05C959B72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1EB3B1B-B7F7-375A-7DA2-9FD1A5C1FF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4738959-3D8E-78B1-883B-BB0BAB5C5F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3D7A20A-BDDD-A0AA-B7B1-B4DEAD7C0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DC343-29E0-4967-8467-70ADA2801F30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38E4C43-774B-F4E4-4DCB-587E59C4A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AD78CF2-273E-433B-08F9-B19A8CC82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19AED-9367-4F9F-9FFC-27EFF14896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2519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306032-5B92-F167-8A41-0421F4F44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43486F0-D56C-C273-7A9D-28B5A1D398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4A333C-E3D8-5966-8DF3-B0B24E46E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DC343-29E0-4967-8467-70ADA2801F30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E7A75E-AD96-7E6D-28F9-4D9F3BB16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62409D-D0E2-9FA7-4A24-448F0047E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19AED-9367-4F9F-9FFC-27EFF14896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9149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68B8DFA-C580-FDC5-A390-072494DBDF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2B6E33B-0CE4-2187-2A20-8F5B73C17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E3E9E1-546E-4E20-CBC9-6DD490D4C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DC343-29E0-4967-8467-70ADA2801F30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827356-2C83-F1C0-BC6F-A6076A9C2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A6E260-64F8-B915-D126-988D383E5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19AED-9367-4F9F-9FFC-27EFF14896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2829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7EFC051-7A0E-E468-C070-5095BDC60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DFC2F8-4606-0FF1-25C4-4E09C7B0D6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109206-9445-F64A-E4E7-8FC0E2DC7D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3DC343-29E0-4967-8467-70ADA2801F30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436029-6D8C-90D9-EAC6-7611F31DA5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ED86A2-14F4-C292-4890-B857DE5F21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519AED-9367-4F9F-9FFC-27EFF14896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826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잘린 한쪽 모서리 4">
            <a:extLst>
              <a:ext uri="{FF2B5EF4-FFF2-40B4-BE49-F238E27FC236}">
                <a16:creationId xmlns:a16="http://schemas.microsoft.com/office/drawing/2014/main" id="{E967D651-1643-1E09-0561-4EA6375A7110}"/>
              </a:ext>
            </a:extLst>
          </p:cNvPr>
          <p:cNvSpPr/>
          <p:nvPr/>
        </p:nvSpPr>
        <p:spPr>
          <a:xfrm rot="5400000">
            <a:off x="5558118" y="-5558118"/>
            <a:ext cx="1075765" cy="12192002"/>
          </a:xfrm>
          <a:prstGeom prst="snip1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06A376-0EC1-2E9E-F930-7FF3FEE21A1F}"/>
              </a:ext>
            </a:extLst>
          </p:cNvPr>
          <p:cNvSpPr txBox="1"/>
          <p:nvPr/>
        </p:nvSpPr>
        <p:spPr>
          <a:xfrm>
            <a:off x="206187" y="276273"/>
            <a:ext cx="88033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>
                <a:solidFill>
                  <a:schemeClr val="bg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산불 피해 취약성 분석을 위한 </a:t>
            </a:r>
            <a:r>
              <a:rPr lang="ko-KR" altLang="en-US" sz="2800" b="1" dirty="0" err="1">
                <a:solidFill>
                  <a:schemeClr val="bg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머신러닝</a:t>
            </a:r>
            <a:r>
              <a:rPr lang="ko-KR" altLang="en-US" sz="2800" b="1" dirty="0">
                <a:solidFill>
                  <a:schemeClr val="bg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알고리즘 비교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913383-C6E7-B73A-1D66-A972632BE291}"/>
              </a:ext>
            </a:extLst>
          </p:cNvPr>
          <p:cNvSpPr txBox="1"/>
          <p:nvPr/>
        </p:nvSpPr>
        <p:spPr>
          <a:xfrm>
            <a:off x="9914967" y="704548"/>
            <a:ext cx="207084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2025</a:t>
            </a:r>
            <a:r>
              <a:rPr lang="ko-KR" altLang="en-US" sz="1000" dirty="0">
                <a:solidFill>
                  <a:schemeClr val="bg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년 </a:t>
            </a:r>
            <a:r>
              <a:rPr lang="en-US" altLang="ko-KR" sz="1000" dirty="0">
                <a:solidFill>
                  <a:schemeClr val="bg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8</a:t>
            </a:r>
            <a:r>
              <a:rPr lang="ko-KR" altLang="en-US" sz="1000" dirty="0">
                <a:solidFill>
                  <a:schemeClr val="bg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월</a:t>
            </a:r>
            <a:r>
              <a:rPr lang="en-US" altLang="ko-KR" sz="1000" dirty="0">
                <a:solidFill>
                  <a:schemeClr val="bg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000" dirty="0" err="1">
                <a:solidFill>
                  <a:schemeClr val="bg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유호익</a:t>
            </a:r>
            <a:endParaRPr lang="ko-KR" altLang="en-US" sz="1000" dirty="0">
              <a:solidFill>
                <a:schemeClr val="bg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4D46F7D-9ED1-DDD0-5AF6-D4A283DAA0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06"/>
          <a:stretch>
            <a:fillRect/>
          </a:stretch>
        </p:blipFill>
        <p:spPr>
          <a:xfrm>
            <a:off x="924619" y="4133088"/>
            <a:ext cx="4452950" cy="244863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C018D02-DDA6-728F-7189-17ED3A7EF3BC}"/>
              </a:ext>
            </a:extLst>
          </p:cNvPr>
          <p:cNvSpPr txBox="1"/>
          <p:nvPr/>
        </p:nvSpPr>
        <p:spPr>
          <a:xfrm>
            <a:off x="206187" y="1343076"/>
            <a:ext cx="5889813" cy="787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기존 분석 기법의 한계를 보완하기 위한 </a:t>
            </a:r>
            <a:r>
              <a:rPr lang="ko-KR" altLang="en-US" sz="1050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머신러닝</a:t>
            </a:r>
            <a:r>
              <a:rPr lang="ko-KR" altLang="en-US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기반 산불 취약성 평가의 필요성</a:t>
            </a:r>
            <a:endParaRPr lang="en-US" altLang="ko-KR" sz="1050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강릉시를 대상으로 5개의 </a:t>
            </a:r>
            <a:r>
              <a:rPr lang="ko-KR" altLang="en-US" sz="1050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머신러닝</a:t>
            </a:r>
            <a:r>
              <a:rPr lang="ko-KR" altLang="en-US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알고리즘을 비교하여 산불 피해 취약 지역을 분석</a:t>
            </a:r>
            <a:endParaRPr lang="en-US" altLang="ko-KR" sz="1050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변수 중요도 분석</a:t>
            </a:r>
            <a:r>
              <a:rPr lang="en-US" altLang="ko-KR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</a:t>
            </a:r>
            <a:r>
              <a:rPr lang="ko-KR" altLang="en-US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취약성 지도 작성 </a:t>
            </a:r>
            <a:r>
              <a:rPr lang="en-US" altLang="ko-KR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-&gt; </a:t>
            </a:r>
            <a:r>
              <a:rPr lang="ko-KR" altLang="en-US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주요 영향 요인과 지역별 취약성을 분석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D509B9B6-A6A3-7ED6-386A-58090B1F340C}"/>
              </a:ext>
            </a:extLst>
          </p:cNvPr>
          <p:cNvCxnSpPr>
            <a:cxnSpLocks/>
          </p:cNvCxnSpPr>
          <p:nvPr/>
        </p:nvCxnSpPr>
        <p:spPr>
          <a:xfrm>
            <a:off x="6096000" y="1343076"/>
            <a:ext cx="0" cy="5292441"/>
          </a:xfrm>
          <a:prstGeom prst="line">
            <a:avLst/>
          </a:prstGeom>
          <a:ln w="28575">
            <a:solidFill>
              <a:schemeClr val="accent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11AF15E-9391-BEE9-9282-243B50D6ABDE}"/>
              </a:ext>
            </a:extLst>
          </p:cNvPr>
          <p:cNvSpPr txBox="1"/>
          <p:nvPr/>
        </p:nvSpPr>
        <p:spPr>
          <a:xfrm>
            <a:off x="206187" y="2397846"/>
            <a:ext cx="5889813" cy="54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종속변수 </a:t>
            </a:r>
            <a:r>
              <a:rPr lang="en-US" altLang="ko-KR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ko-KR" altLang="en-US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산불 피해액의 공간적 밀도</a:t>
            </a:r>
            <a:endParaRPr lang="en-US" altLang="ko-KR" sz="1050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독립변수 </a:t>
            </a:r>
            <a:r>
              <a:rPr lang="en-US" altLang="ko-KR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</a:t>
            </a:r>
            <a:r>
              <a:rPr lang="ko-KR" altLang="en-US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기후</a:t>
            </a:r>
            <a:r>
              <a:rPr lang="en-US" altLang="ko-KR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지형</a:t>
            </a:r>
            <a:r>
              <a:rPr lang="en-US" altLang="ko-KR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자연환경</a:t>
            </a:r>
            <a:r>
              <a:rPr lang="en-US" altLang="ko-KR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인문환경 요인으로 구성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BFEC1D-960A-BB6F-66C6-3DE44C155B88}"/>
              </a:ext>
            </a:extLst>
          </p:cNvPr>
          <p:cNvSpPr txBox="1"/>
          <p:nvPr/>
        </p:nvSpPr>
        <p:spPr>
          <a:xfrm>
            <a:off x="206187" y="3209366"/>
            <a:ext cx="5889813" cy="787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적용 모델 </a:t>
            </a:r>
            <a:r>
              <a:rPr lang="en-US" altLang="ko-KR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AdaBoost, </a:t>
            </a:r>
            <a:r>
              <a:rPr lang="en-US" altLang="ko-KR" sz="1050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CatBoost</a:t>
            </a:r>
            <a:r>
              <a:rPr lang="en-US" altLang="ko-KR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en-US" altLang="ko-KR" sz="1050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LightGBM</a:t>
            </a:r>
            <a:r>
              <a:rPr lang="en-US" altLang="ko-KR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Random Forest, </a:t>
            </a:r>
            <a:r>
              <a:rPr lang="en-US" altLang="ko-KR" sz="1050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XGBoost</a:t>
            </a:r>
            <a:endParaRPr lang="en-US" altLang="ko-KR" sz="1050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평가 방법 </a:t>
            </a:r>
            <a:r>
              <a:rPr lang="en-US" altLang="ko-KR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Hyperparameter Tuning + Cross Validation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평가 지표 </a:t>
            </a:r>
            <a:r>
              <a:rPr lang="en-US" altLang="ko-KR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MAE, RMSE, R²</a:t>
            </a:r>
            <a:endParaRPr lang="ko-KR" altLang="en-US" sz="1050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9C14246C-85AB-42F5-E55C-BEFECA4500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8135" y="1445558"/>
            <a:ext cx="5162787" cy="2085924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BF11F02-D806-5604-83F2-0D69B91E2B9F}"/>
              </a:ext>
            </a:extLst>
          </p:cNvPr>
          <p:cNvSpPr txBox="1"/>
          <p:nvPr/>
        </p:nvSpPr>
        <p:spPr>
          <a:xfrm>
            <a:off x="6302187" y="3724283"/>
            <a:ext cx="5889813" cy="54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성능 비교 결과 </a:t>
            </a:r>
            <a:r>
              <a:rPr lang="en-US" altLang="ko-KR" sz="1050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LightGBM</a:t>
            </a:r>
            <a:r>
              <a:rPr lang="ko-KR" altLang="en-US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이 가장 우수 </a:t>
            </a:r>
            <a:r>
              <a:rPr lang="en-US" altLang="ko-KR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(MAE 0.0128, R² 0.9486)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50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XGBoost</a:t>
            </a:r>
            <a:r>
              <a:rPr lang="en-US" altLang="ko-KR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en-US" altLang="ko-KR" sz="1050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CatBoost</a:t>
            </a:r>
            <a:r>
              <a:rPr lang="ko-KR" altLang="en-US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도 높은 정확도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980D207-4182-2DBD-538A-4B73EE553937}"/>
              </a:ext>
            </a:extLst>
          </p:cNvPr>
          <p:cNvSpPr txBox="1"/>
          <p:nvPr/>
        </p:nvSpPr>
        <p:spPr>
          <a:xfrm>
            <a:off x="6302187" y="4535803"/>
            <a:ext cx="5889813" cy="54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주요 변수 </a:t>
            </a:r>
            <a:r>
              <a:rPr lang="en-US" altLang="ko-KR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ko-KR" altLang="en-US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공시지가</a:t>
            </a:r>
            <a:r>
              <a:rPr lang="en-US" altLang="ko-KR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연평균기온</a:t>
            </a:r>
            <a:r>
              <a:rPr lang="en-US" altLang="ko-KR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050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연평균강수량</a:t>
            </a:r>
            <a:r>
              <a:rPr lang="en-US" altLang="ko-KR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토지이용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외곽 지역 취약성 ↑</a:t>
            </a:r>
            <a:r>
              <a:rPr lang="en-US" altLang="ko-KR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도심 지역 취약성 ↓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960401E-A231-7588-5FDF-F80C5EA137AE}"/>
              </a:ext>
            </a:extLst>
          </p:cNvPr>
          <p:cNvSpPr txBox="1"/>
          <p:nvPr/>
        </p:nvSpPr>
        <p:spPr>
          <a:xfrm>
            <a:off x="6302187" y="5347323"/>
            <a:ext cx="5889813" cy="787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5</a:t>
            </a:r>
            <a:r>
              <a:rPr lang="ko-KR" altLang="en-US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개 </a:t>
            </a:r>
            <a:r>
              <a:rPr lang="ko-KR" altLang="en-US" sz="1050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머신러닝</a:t>
            </a:r>
            <a:r>
              <a:rPr lang="ko-KR" altLang="en-US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모델 비교 분석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연구 대상이 강릉시로 한정</a:t>
            </a:r>
            <a:r>
              <a:rPr lang="en-US" altLang="ko-KR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일반화 한계 존재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산불 예방 정책 활용 가능성 제시</a:t>
            </a:r>
          </a:p>
        </p:txBody>
      </p:sp>
    </p:spTree>
    <p:extLst>
      <p:ext uri="{BB962C8B-B14F-4D97-AF65-F5344CB8AC3E}">
        <p14:creationId xmlns:p14="http://schemas.microsoft.com/office/powerpoint/2010/main" val="2056315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157</Words>
  <Application>Microsoft Office PowerPoint</Application>
  <PresentationFormat>와이드스크린</PresentationFormat>
  <Paragraphs>17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함초롬돋움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윤지 차</dc:creator>
  <cp:lastModifiedBy>윤지 차</cp:lastModifiedBy>
  <cp:revision>15</cp:revision>
  <dcterms:created xsi:type="dcterms:W3CDTF">2026-06-03T16:29:54Z</dcterms:created>
  <dcterms:modified xsi:type="dcterms:W3CDTF">2026-06-03T19:27:28Z</dcterms:modified>
</cp:coreProperties>
</file>
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F1F17-1031-9DE2-B0A8-EEFB1DB00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DD0EA3-FF4D-E358-76EA-3DEA12875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6927B3-087E-E437-2A91-5813C224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7FE43-EE44-AB44-8A52-B9B04654A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914F6A-FE39-D390-1D2A-7774170D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45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D331E-16C9-ABBC-C9C2-B57749F0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2DCF4-26EC-7B30-E1A2-13B2E407B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FC790B-12D3-D066-4EAE-DECC6FCF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D4C924-490E-0BB0-7EFB-24E40F585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52FBCF-987D-064F-A8F0-21B7DB45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393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02828-D279-7A24-D53A-2B29485DD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CD8955-6ED4-A3E4-0F7F-5B3B1D86C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8E49F5-9AA2-EC7F-6C5C-9EC2AF23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A44CB8-AA86-68C6-2C83-3A19D1C92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524B26-4DF3-B610-60BD-A5A43DEF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26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D3C27-7E00-2C19-6C60-A1A992FF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8E65-8273-1539-838D-682BD3B48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C24DE4-CD17-310D-5665-BFA508A5F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6425D5-4235-742E-B967-11E3D43C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CEC5CF-D6BC-1B45-D52C-DFAD8D8C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238492-92AF-208D-C0A7-5DA104EF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912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70BB1-BD08-64FB-B3DA-59E27390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71D203-B09A-2B2A-A9C7-F4FA74A54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57D38D-58C2-67C8-C0E2-C70A8A6D4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B50B51-1C41-2056-2511-EEB43E450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E02959-4149-D214-314C-162AD0E08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2103F9-3F61-2B52-5D58-2A40ABC8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8B9EC9-2A0C-08D2-BC39-BDE8B6A0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63A4D6-820E-C01B-5C76-C2191C14B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587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556FD-65D0-B4F8-BA6B-25388576F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46FE5E-715C-09D4-99A9-B0F8060E5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0BAE18-FF9A-09D2-D242-1D72F00C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92A592-9314-CF0B-9884-DFB5A5AA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93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3C723A-FC61-094C-4371-1917064F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D5D881-C8E2-0641-E721-3E6D61431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3ADC50-E063-6715-CDD8-D9699AE0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538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BF43F-E40E-59C8-B4A7-54B9EA81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02F98E-244C-E002-4D1A-7E0D52B38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AF78AC-D484-3850-34D5-AA45680C2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4E64D7-F5BB-27A1-EBFD-7E3E8139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014A23-7A34-8984-84B6-ECCC181C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A410EC-200B-DCD0-5810-BFA5B69FB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73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55E5A-D20E-0898-A420-D9838BD1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DD3BD-0EBF-470B-E650-18EBFE107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02CBEB-BC64-D828-90ED-558BD0AF8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097FBE-2089-B668-2FE9-984A2ECD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CF93F3-835E-A3C9-94CF-60FDDDC36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07EC32-6A7E-27B1-68B5-7D0F6915C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104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FF596-49C9-C01E-707D-D201A6C4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152B47-6CC8-1EC5-03FD-0B144BDB4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9C3294-97DB-D87C-E6A1-09DD0FD5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FF3734-0ED2-6CD1-F755-0172D996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56C5CB-F3B6-75A8-86E4-5CB4D4AA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80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EF5CB4-E52B-7DA8-A832-34D6FBCBC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B861CD-CC93-B2F9-2B22-D2AD055CF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7B4A18-A9E9-21E6-6087-4C9421DB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ACA3F-B5A6-8935-03A2-892621CA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33500-A6B3-1FFA-1A8B-A1D974B9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79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237BD5-8F06-8958-F997-E1D415F9F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4B239F-2035-1BE9-3461-4BAD63E0B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85EAC9-6BE2-1E35-5922-524F9E3B0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1632A-C2BB-4AFA-A753-CAA3454F93C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CD476E-D5CA-873D-EB16-E1150C16A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BE26AC-35E1-EA77-7DFC-0D5D27B99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DDD26-BD25-46C2-857A-D58D53FA2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48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E09EF7-5E20-494E-B005-DED9F8AF9543}"/>
              </a:ext>
            </a:extLst>
          </p:cNvPr>
          <p:cNvSpPr txBox="1"/>
          <p:nvPr/>
        </p:nvSpPr>
        <p:spPr>
          <a:xfrm>
            <a:off x="554675" y="325254"/>
            <a:ext cx="11082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latin typeface="+mj-ea"/>
                <a:ea typeface="+mj-ea"/>
              </a:rPr>
              <a:t>청년인구 유출에 따른 주거이동 영향요인에 관한 연구</a:t>
            </a:r>
            <a:r>
              <a:rPr lang="en-US" altLang="ko-KR" sz="2000" b="1" dirty="0">
                <a:latin typeface="+mj-ea"/>
                <a:ea typeface="+mj-ea"/>
              </a:rPr>
              <a:t>: </a:t>
            </a:r>
            <a:r>
              <a:rPr lang="ko-KR" altLang="en-US" sz="2000" b="1" dirty="0" err="1">
                <a:latin typeface="+mj-ea"/>
                <a:ea typeface="+mj-ea"/>
              </a:rPr>
              <a:t>머신러닝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  <a:r>
              <a:rPr lang="en-US" altLang="ko-KR" sz="2000" b="1" dirty="0" err="1">
                <a:latin typeface="+mj-ea"/>
                <a:ea typeface="+mj-ea"/>
              </a:rPr>
              <a:t>XGboost</a:t>
            </a:r>
            <a:r>
              <a:rPr lang="ko-KR" altLang="en-US" sz="2000" b="1" dirty="0">
                <a:latin typeface="+mj-ea"/>
                <a:ea typeface="+mj-ea"/>
              </a:rPr>
              <a:t>와 </a:t>
            </a:r>
            <a:r>
              <a:rPr lang="en-US" altLang="ko-KR" sz="2000" b="1" dirty="0">
                <a:latin typeface="+mj-ea"/>
                <a:ea typeface="+mj-ea"/>
              </a:rPr>
              <a:t>SHAP</a:t>
            </a:r>
            <a:r>
              <a:rPr lang="ko-KR" altLang="en-US" sz="2000" b="1" dirty="0">
                <a:latin typeface="+mj-ea"/>
                <a:ea typeface="+mj-ea"/>
              </a:rPr>
              <a:t>분석의 적용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3F996E8-E83B-4B61-84FD-9CF0129CB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754879"/>
              </p:ext>
            </p:extLst>
          </p:nvPr>
        </p:nvGraphicFramePr>
        <p:xfrm>
          <a:off x="570826" y="2422545"/>
          <a:ext cx="6188989" cy="1006455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359238">
                  <a:extLst>
                    <a:ext uri="{9D8B030D-6E8A-4147-A177-3AD203B41FA5}">
                      <a16:colId xmlns:a16="http://schemas.microsoft.com/office/drawing/2014/main" val="3974573208"/>
                    </a:ext>
                  </a:extLst>
                </a:gridCol>
                <a:gridCol w="1609917">
                  <a:extLst>
                    <a:ext uri="{9D8B030D-6E8A-4147-A177-3AD203B41FA5}">
                      <a16:colId xmlns:a16="http://schemas.microsoft.com/office/drawing/2014/main" val="3033531293"/>
                    </a:ext>
                  </a:extLst>
                </a:gridCol>
                <a:gridCol w="1609917">
                  <a:extLst>
                    <a:ext uri="{9D8B030D-6E8A-4147-A177-3AD203B41FA5}">
                      <a16:colId xmlns:a16="http://schemas.microsoft.com/office/drawing/2014/main" val="1808748951"/>
                    </a:ext>
                  </a:extLst>
                </a:gridCol>
                <a:gridCol w="1609917">
                  <a:extLst>
                    <a:ext uri="{9D8B030D-6E8A-4147-A177-3AD203B41FA5}">
                      <a16:colId xmlns:a16="http://schemas.microsoft.com/office/drawing/2014/main" val="3836414413"/>
                    </a:ext>
                  </a:extLst>
                </a:gridCol>
              </a:tblGrid>
              <a:tr h="3354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>
                          <a:solidFill>
                            <a:schemeClr val="accent3"/>
                          </a:solidFill>
                          <a:latin typeface="+mn-lt"/>
                        </a:rPr>
                        <a:t>주요 영향 요인</a:t>
                      </a:r>
                      <a:endParaRPr lang="ko-KR" sz="1200" dirty="0">
                        <a:solidFill>
                          <a:schemeClr val="accent3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>
                          <a:solidFill>
                            <a:schemeClr val="accent3"/>
                          </a:solidFill>
                          <a:latin typeface="+mn-lt"/>
                        </a:rPr>
                        <a:t>부산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>
                          <a:solidFill>
                            <a:schemeClr val="accent3"/>
                          </a:solidFill>
                          <a:latin typeface="+mn-lt"/>
                        </a:rPr>
                        <a:t>울산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>
                          <a:solidFill>
                            <a:schemeClr val="accent3"/>
                          </a:solidFill>
                          <a:latin typeface="+mn-lt"/>
                        </a:rPr>
                        <a:t>경남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372005"/>
                  </a:ext>
                </a:extLst>
              </a:tr>
              <a:tr h="3354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>
                          <a:solidFill>
                            <a:schemeClr val="accent3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accent3"/>
                          </a:solidFill>
                          <a:latin typeface="+mn-lt"/>
                        </a:rPr>
                        <a:t>위</a:t>
                      </a:r>
                      <a:endParaRPr lang="ko-KR" sz="1200" dirty="0">
                        <a:solidFill>
                          <a:schemeClr val="accent3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>
                          <a:latin typeface="+mn-lt"/>
                        </a:rPr>
                        <a:t>지방정부 소속감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>
                          <a:latin typeface="+mn-lt"/>
                        </a:rPr>
                        <a:t>창업 의향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>
                          <a:latin typeface="+mn-lt"/>
                        </a:rPr>
                        <a:t>청년정책 참여 경험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884672"/>
                  </a:ext>
                </a:extLst>
              </a:tr>
              <a:tr h="3354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>
                          <a:solidFill>
                            <a:schemeClr val="accent3"/>
                          </a:solidFill>
                          <a:latin typeface="+mn-lt"/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chemeClr val="accent3"/>
                          </a:solidFill>
                          <a:latin typeface="+mn-lt"/>
                        </a:rPr>
                        <a:t>위</a:t>
                      </a:r>
                      <a:endParaRPr lang="ko-KR" sz="1200" dirty="0">
                        <a:solidFill>
                          <a:schemeClr val="accent3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>
                          <a:latin typeface="+mn-lt"/>
                        </a:rPr>
                        <a:t>박탈감·좌절감</a:t>
                      </a:r>
                      <a:r>
                        <a:rPr lang="ko-KR" sz="1200" dirty="0">
                          <a:latin typeface="+mn-lt"/>
                        </a:rPr>
                        <a:t> 경험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>
                          <a:latin typeface="+mn-lt"/>
                        </a:rPr>
                        <a:t>일자리 만족도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>
                          <a:latin typeface="+mn-lt"/>
                        </a:rPr>
                        <a:t>삶의 질 만족도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722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8229CA3-5E62-20AC-E870-1158BBCFF8D4}"/>
              </a:ext>
            </a:extLst>
          </p:cNvPr>
          <p:cNvSpPr txBox="1"/>
          <p:nvPr/>
        </p:nvSpPr>
        <p:spPr>
          <a:xfrm>
            <a:off x="770675" y="1608475"/>
            <a:ext cx="10371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XGboost</a:t>
            </a:r>
            <a:r>
              <a:rPr lang="en-US" altLang="ko-KR" sz="1400" dirty="0"/>
              <a:t> </a:t>
            </a:r>
            <a:r>
              <a:rPr lang="ko-KR" altLang="en-US" sz="1400" dirty="0"/>
              <a:t>모델을 사용하여 </a:t>
            </a:r>
            <a:r>
              <a:rPr lang="ko-KR" altLang="ko-KR" sz="1400" dirty="0"/>
              <a:t>변수 간 비선형 관계와 복합적인 상호작용을 분석</a:t>
            </a:r>
            <a:r>
              <a:rPr lang="en-US" altLang="ko-KR" sz="1400" dirty="0"/>
              <a:t> </a:t>
            </a:r>
            <a:r>
              <a:rPr lang="ko-KR" altLang="en-US" sz="1400" dirty="0"/>
              <a:t>→ 청년인구 유출에 영향을 미치는 복합 요인 분석</a:t>
            </a:r>
          </a:p>
        </p:txBody>
      </p:sp>
      <p:pic>
        <p:nvPicPr>
          <p:cNvPr id="13" name="그래픽 12" descr="배지 체크 표시1 단색으로 채워진">
            <a:extLst>
              <a:ext uri="{FF2B5EF4-FFF2-40B4-BE49-F238E27FC236}">
                <a16:creationId xmlns:a16="http://schemas.microsoft.com/office/drawing/2014/main" id="{1711C502-C5FF-0A27-3DB3-FBF578BE0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675" y="1657244"/>
            <a:ext cx="216000" cy="216000"/>
          </a:xfrm>
          <a:prstGeom prst="rect">
            <a:avLst/>
          </a:prstGeom>
        </p:spPr>
      </p:pic>
      <p:pic>
        <p:nvPicPr>
          <p:cNvPr id="14" name="그래픽 13" descr="배지 체크 표시1 단색으로 채워진">
            <a:extLst>
              <a:ext uri="{FF2B5EF4-FFF2-40B4-BE49-F238E27FC236}">
                <a16:creationId xmlns:a16="http://schemas.microsoft.com/office/drawing/2014/main" id="{6CE06CB9-F562-989C-3BB4-75B1B43C42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675" y="2003803"/>
            <a:ext cx="216000" cy="21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2931124-64C9-637D-D69D-2E0F8DE2365F}"/>
              </a:ext>
            </a:extLst>
          </p:cNvPr>
          <p:cNvSpPr txBox="1"/>
          <p:nvPr/>
        </p:nvSpPr>
        <p:spPr>
          <a:xfrm>
            <a:off x="770674" y="3619093"/>
            <a:ext cx="10564203" cy="84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1400" dirty="0"/>
              <a:t>청년인구 유출은 단순히 소득이나 고용과 같은 경제적 요인만으로 설명되지 </a:t>
            </a:r>
            <a:endParaRPr lang="en-US" altLang="ko-KR" sz="1400" dirty="0"/>
          </a:p>
          <a:p>
            <a:pPr>
              <a:lnSpc>
                <a:spcPct val="120000"/>
              </a:lnSpc>
            </a:pPr>
            <a:r>
              <a:rPr lang="ko-KR" altLang="en-US" sz="1400" dirty="0"/>
              <a:t>않고</a:t>
            </a:r>
            <a:r>
              <a:rPr lang="en-US" altLang="ko-KR" sz="1400" dirty="0"/>
              <a:t>, </a:t>
            </a:r>
            <a:r>
              <a:rPr lang="ko-KR" altLang="en-US" sz="1400" dirty="0"/>
              <a:t>지역별로 주요 영향 요인이 다르다</a:t>
            </a:r>
            <a:r>
              <a:rPr lang="en-US" altLang="ko-KR" sz="1400" dirty="0"/>
              <a:t>.</a:t>
            </a:r>
            <a:r>
              <a:rPr lang="ko-KR" altLang="ko-KR" sz="1400" dirty="0"/>
              <a:t> </a:t>
            </a:r>
            <a:endParaRPr lang="en-US" altLang="ko-KR" sz="1400" dirty="0"/>
          </a:p>
          <a:p>
            <a:pPr>
              <a:lnSpc>
                <a:spcPct val="120000"/>
              </a:lnSpc>
            </a:pPr>
            <a:r>
              <a:rPr lang="ko-KR" altLang="en-US" sz="1400" dirty="0"/>
              <a:t>따라서 청년인구 유출을 막기 위해서는 </a:t>
            </a:r>
            <a:r>
              <a:rPr lang="ko-KR" altLang="ko-KR" sz="1400" dirty="0"/>
              <a:t>지역</a:t>
            </a:r>
            <a:r>
              <a:rPr lang="ko-KR" altLang="en-US" sz="1400" dirty="0"/>
              <a:t>별 </a:t>
            </a:r>
            <a:r>
              <a:rPr lang="ko-KR" altLang="ko-KR" sz="1400" dirty="0"/>
              <a:t>맞춤형 청년정책이 필요하다.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91B7AB-4415-1B7A-8BF3-EACD0BCDFDBF}"/>
              </a:ext>
            </a:extLst>
          </p:cNvPr>
          <p:cNvSpPr txBox="1"/>
          <p:nvPr/>
        </p:nvSpPr>
        <p:spPr>
          <a:xfrm>
            <a:off x="770675" y="1262894"/>
            <a:ext cx="10599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종속변수</a:t>
            </a:r>
            <a:r>
              <a:rPr lang="en-US" altLang="ko-KR" sz="1400" dirty="0"/>
              <a:t>: </a:t>
            </a:r>
            <a:r>
              <a:rPr lang="ko-KR" altLang="en-US" sz="1400" dirty="0"/>
              <a:t>청년의 수도권 이주 의향 </a:t>
            </a:r>
            <a:r>
              <a:rPr lang="en-US" altLang="ko-KR" sz="1400" dirty="0"/>
              <a:t>/ </a:t>
            </a:r>
            <a:r>
              <a:rPr lang="ko-KR" altLang="en-US" sz="1400" dirty="0"/>
              <a:t>독립변수</a:t>
            </a:r>
            <a:r>
              <a:rPr lang="en-US" altLang="ko-KR" sz="1400" dirty="0"/>
              <a:t>: </a:t>
            </a:r>
            <a:r>
              <a:rPr lang="ko-KR" altLang="en-US" sz="1400" dirty="0"/>
              <a:t>개인적</a:t>
            </a:r>
            <a:r>
              <a:rPr lang="en-US" altLang="ko-KR" sz="1400" dirty="0"/>
              <a:t>, </a:t>
            </a:r>
            <a:r>
              <a:rPr lang="ko-KR" altLang="en-US" sz="1400" dirty="0"/>
              <a:t>경제적</a:t>
            </a:r>
            <a:r>
              <a:rPr lang="en-US" altLang="ko-KR" sz="1400" dirty="0"/>
              <a:t>, </a:t>
            </a:r>
            <a:r>
              <a:rPr lang="ko-KR" altLang="en-US" sz="1400" dirty="0"/>
              <a:t>생활환경적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사회</a:t>
            </a:r>
            <a:r>
              <a:rPr lang="ko-KR" altLang="ko-KR" sz="1400" dirty="0" err="1">
                <a:latin typeface="+mn-lt"/>
              </a:rPr>
              <a:t>·</a:t>
            </a:r>
            <a:r>
              <a:rPr lang="ko-KR" altLang="en-US" sz="1400" dirty="0" err="1">
                <a:latin typeface="+mn-lt"/>
              </a:rPr>
              <a:t>심리적</a:t>
            </a:r>
            <a:r>
              <a:rPr lang="ko-KR" altLang="en-US" sz="1400" dirty="0">
                <a:latin typeface="+mn-lt"/>
              </a:rPr>
              <a:t> 요인 등 총</a:t>
            </a:r>
            <a:r>
              <a:rPr lang="en-US" altLang="ko-KR" sz="1400" dirty="0"/>
              <a:t> 4</a:t>
            </a:r>
            <a:r>
              <a:rPr lang="ko-KR" altLang="en-US" sz="1400" dirty="0"/>
              <a:t>개 영역 중 </a:t>
            </a:r>
            <a:r>
              <a:rPr lang="en-US" altLang="ko-KR" sz="1400" dirty="0"/>
              <a:t>33</a:t>
            </a:r>
            <a:r>
              <a:rPr lang="ko-KR" altLang="en-US" sz="1400" dirty="0"/>
              <a:t>개의 세부 변수</a:t>
            </a:r>
          </a:p>
        </p:txBody>
      </p:sp>
      <p:pic>
        <p:nvPicPr>
          <p:cNvPr id="18" name="그래픽 17" descr="배지 체크 표시1 단색으로 채워진">
            <a:extLst>
              <a:ext uri="{FF2B5EF4-FFF2-40B4-BE49-F238E27FC236}">
                <a16:creationId xmlns:a16="http://schemas.microsoft.com/office/drawing/2014/main" id="{98A8DFB2-616B-289F-A80C-04C6E877C2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675" y="1311663"/>
            <a:ext cx="216000" cy="216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D58EF86-48EA-893B-5F04-6143DE0309A9}"/>
              </a:ext>
            </a:extLst>
          </p:cNvPr>
          <p:cNvSpPr txBox="1"/>
          <p:nvPr/>
        </p:nvSpPr>
        <p:spPr>
          <a:xfrm>
            <a:off x="770675" y="904814"/>
            <a:ext cx="3504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부산</a:t>
            </a:r>
            <a:r>
              <a:rPr lang="ko-KR" altLang="ko-KR" sz="1400" dirty="0" err="1">
                <a:latin typeface="+mn-lt"/>
              </a:rPr>
              <a:t>·</a:t>
            </a:r>
            <a:r>
              <a:rPr lang="ko-KR" altLang="en-US" sz="1400" dirty="0" err="1">
                <a:latin typeface="+mn-lt"/>
              </a:rPr>
              <a:t>울산</a:t>
            </a:r>
            <a:r>
              <a:rPr lang="ko-KR" altLang="ko-KR" sz="1400" dirty="0" err="1">
                <a:latin typeface="+mn-lt"/>
              </a:rPr>
              <a:t>·</a:t>
            </a:r>
            <a:r>
              <a:rPr lang="ko-KR" altLang="en-US" sz="1400" dirty="0" err="1">
                <a:latin typeface="+mn-lt"/>
              </a:rPr>
              <a:t>경남의</a:t>
            </a:r>
            <a:r>
              <a:rPr lang="ko-KR" altLang="en-US" sz="1400" dirty="0"/>
              <a:t> </a:t>
            </a:r>
            <a:r>
              <a:rPr lang="ko-KR" altLang="en-US" sz="1400" dirty="0">
                <a:latin typeface="+mn-lt"/>
              </a:rPr>
              <a:t>청년층을 대상으로 연구</a:t>
            </a:r>
            <a:endParaRPr lang="ko-KR" altLang="en-US" sz="1400" dirty="0"/>
          </a:p>
        </p:txBody>
      </p:sp>
      <p:pic>
        <p:nvPicPr>
          <p:cNvPr id="20" name="그래픽 19" descr="배지 체크 표시1 단색으로 채워진">
            <a:extLst>
              <a:ext uri="{FF2B5EF4-FFF2-40B4-BE49-F238E27FC236}">
                <a16:creationId xmlns:a16="http://schemas.microsoft.com/office/drawing/2014/main" id="{A7E2B0C7-B1DC-BA68-940F-AF3421F4BD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675" y="953583"/>
            <a:ext cx="216000" cy="216000"/>
          </a:xfrm>
          <a:prstGeom prst="rect">
            <a:avLst/>
          </a:prstGeom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5B274790-73EB-CE2E-F86C-88C4C1EE9C6D}"/>
              </a:ext>
            </a:extLst>
          </p:cNvPr>
          <p:cNvSpPr/>
          <p:nvPr/>
        </p:nvSpPr>
        <p:spPr>
          <a:xfrm>
            <a:off x="570826" y="3688284"/>
            <a:ext cx="199849" cy="171833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ACB11-8E17-9FE2-1769-18E54BE8A2FE}"/>
              </a:ext>
            </a:extLst>
          </p:cNvPr>
          <p:cNvSpPr txBox="1"/>
          <p:nvPr/>
        </p:nvSpPr>
        <p:spPr>
          <a:xfrm>
            <a:off x="771647" y="1965105"/>
            <a:ext cx="6949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SHAP</a:t>
            </a:r>
            <a:r>
              <a:rPr lang="ko-KR" altLang="en-US" sz="1400" dirty="0"/>
              <a:t>분석으로 각 변수의 중요도를 산출 → 지역별 주요 영향 요인을 도출하고 해석 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388D4D1-74A4-10DB-394A-F14EB4CEEEE4}"/>
              </a:ext>
            </a:extLst>
          </p:cNvPr>
          <p:cNvSpPr/>
          <p:nvPr/>
        </p:nvSpPr>
        <p:spPr>
          <a:xfrm>
            <a:off x="659003" y="4770256"/>
            <a:ext cx="650512" cy="30777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3"/>
                </a:solidFill>
              </a:rPr>
              <a:t>의의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77D8034-69FE-0795-61BF-EB3660BD3CFA}"/>
              </a:ext>
            </a:extLst>
          </p:cNvPr>
          <p:cNvSpPr/>
          <p:nvPr/>
        </p:nvSpPr>
        <p:spPr>
          <a:xfrm>
            <a:off x="6568491" y="5073808"/>
            <a:ext cx="650512" cy="30777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3"/>
                </a:solidFill>
              </a:rPr>
              <a:t>한계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1391D8-1ADC-61AE-99F6-EA2F57FDE9E3}"/>
              </a:ext>
            </a:extLst>
          </p:cNvPr>
          <p:cNvSpPr txBox="1"/>
          <p:nvPr/>
        </p:nvSpPr>
        <p:spPr>
          <a:xfrm>
            <a:off x="554675" y="5201529"/>
            <a:ext cx="5571782" cy="58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/>
              <a:t>전통적 회귀 분석과 다르게 </a:t>
            </a:r>
            <a:r>
              <a:rPr lang="en-US" altLang="ko-KR" sz="1400" dirty="0" err="1"/>
              <a:t>XGboost</a:t>
            </a:r>
            <a:r>
              <a:rPr lang="en-US" altLang="ko-KR" sz="1400" dirty="0"/>
              <a:t> </a:t>
            </a:r>
            <a:r>
              <a:rPr lang="ko-KR" altLang="en-US" sz="1400" dirty="0"/>
              <a:t>모델을 사용하여</a:t>
            </a:r>
            <a:r>
              <a:rPr lang="en-US" altLang="ko-KR" sz="1400" dirty="0"/>
              <a:t> </a:t>
            </a:r>
            <a:r>
              <a:rPr lang="ko-KR" altLang="en-US" sz="1400" dirty="0"/>
              <a:t>복합 요인을 </a:t>
            </a:r>
            <a:endParaRPr lang="en-US" altLang="ko-KR" sz="1400" dirty="0"/>
          </a:p>
          <a:p>
            <a:pPr>
              <a:lnSpc>
                <a:spcPct val="120000"/>
              </a:lnSpc>
            </a:pPr>
            <a:r>
              <a:rPr lang="ko-KR" altLang="en-US" sz="1400" dirty="0"/>
              <a:t>분석하여 복잡한 사회현상을 효과적으로 설명할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D269F0-2B24-FCD0-27C0-FE05D33AF485}"/>
              </a:ext>
            </a:extLst>
          </p:cNvPr>
          <p:cNvSpPr txBox="1"/>
          <p:nvPr/>
        </p:nvSpPr>
        <p:spPr>
          <a:xfrm>
            <a:off x="6478661" y="5496701"/>
            <a:ext cx="4504759" cy="58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 err="1"/>
              <a:t>부산</a:t>
            </a:r>
            <a:r>
              <a:rPr lang="ko-KR" altLang="ko-KR" sz="1400" dirty="0" err="1">
                <a:latin typeface="+mn-lt"/>
              </a:rPr>
              <a:t>·</a:t>
            </a:r>
            <a:r>
              <a:rPr lang="ko-KR" altLang="en-US" sz="1400" dirty="0" err="1">
                <a:latin typeface="+mn-lt"/>
              </a:rPr>
              <a:t>울산</a:t>
            </a:r>
            <a:r>
              <a:rPr lang="ko-KR" altLang="ko-KR" sz="1400" dirty="0" err="1">
                <a:latin typeface="+mn-lt"/>
              </a:rPr>
              <a:t>·</a:t>
            </a:r>
            <a:r>
              <a:rPr lang="ko-KR" altLang="en-US" sz="1400" dirty="0" err="1">
                <a:latin typeface="+mn-lt"/>
              </a:rPr>
              <a:t>경남</a:t>
            </a:r>
            <a:r>
              <a:rPr lang="ko-KR" altLang="en-US" sz="1400" dirty="0">
                <a:latin typeface="+mn-lt"/>
              </a:rPr>
              <a:t> 지역을 중심으로 이루어진 연구이므로</a:t>
            </a:r>
            <a:r>
              <a:rPr lang="en-US" altLang="ko-KR" sz="1400" dirty="0">
                <a:latin typeface="+mn-lt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ko-KR" altLang="en-US" sz="1400" dirty="0"/>
              <a:t>전국으로 일반화하기 어렵다</a:t>
            </a:r>
            <a:r>
              <a:rPr lang="en-US" altLang="ko-KR" sz="1400" dirty="0"/>
              <a:t>.</a:t>
            </a:r>
            <a:endParaRPr lang="en-US" altLang="ko-KR" sz="1400" dirty="0"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BEC8BA-1C6A-1C99-DEC0-9A687DDC4D5F}"/>
              </a:ext>
            </a:extLst>
          </p:cNvPr>
          <p:cNvSpPr txBox="1"/>
          <p:nvPr/>
        </p:nvSpPr>
        <p:spPr>
          <a:xfrm>
            <a:off x="554675" y="5788672"/>
            <a:ext cx="5747086" cy="58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/>
              <a:t>SHAP</a:t>
            </a:r>
            <a:r>
              <a:rPr lang="ko-KR" altLang="en-US" sz="1400" dirty="0"/>
              <a:t>분석으로 주요 영향 요인과 함께 각 변수가 예측 결과에 미치는 </a:t>
            </a:r>
            <a:endParaRPr lang="en-US" altLang="ko-KR" sz="1400" dirty="0"/>
          </a:p>
          <a:p>
            <a:pPr>
              <a:lnSpc>
                <a:spcPct val="120000"/>
              </a:lnSpc>
            </a:pPr>
            <a:r>
              <a:rPr lang="ko-KR" altLang="en-US" sz="1400" dirty="0"/>
              <a:t>긍정적</a:t>
            </a:r>
            <a:r>
              <a:rPr lang="en-US" altLang="ko-KR" sz="1400" dirty="0"/>
              <a:t>, </a:t>
            </a:r>
            <a:r>
              <a:rPr lang="ko-KR" altLang="en-US" sz="1400" dirty="0"/>
              <a:t>부정적 영향을 알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6ACB5DD3-D7BD-149F-D2FB-14A07779A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470" y="2272882"/>
            <a:ext cx="4868414" cy="258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3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187</Words>
  <Application>Microsoft Office PowerPoint</Application>
  <PresentationFormat>와이드스크린</PresentationFormat>
  <Paragraphs>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 윤정</dc:creator>
  <cp:lastModifiedBy>허 윤정</cp:lastModifiedBy>
  <cp:revision>29</cp:revision>
  <dcterms:created xsi:type="dcterms:W3CDTF">2026-06-03T14:20:53Z</dcterms:created>
  <dcterms:modified xsi:type="dcterms:W3CDTF">2026-06-04T03:30:16Z</dcterms:modified>
</cp:coreProperties>
</file>
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9834" autoAdjust="0"/>
  </p:normalViewPr>
  <p:slideViewPr>
    <p:cSldViewPr snapToGrid="0" snapToObjects="1">
      <p:cViewPr>
        <p:scale>
          <a:sx n="150" d="100"/>
          <a:sy n="150" d="100"/>
        </p:scale>
        <p:origin x="-78" y="10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lin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2926080" cy="2926080"/>
          </a:xfrm>
          <a:prstGeom prst="lin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097280"/>
            <a:ext cx="219456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097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 기반 연구방법론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+mj-ea"/>
                <a:ea typeface="+mj-ea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chemeClr val="bg1"/>
                </a:solidFill>
                <a:latin typeface="+mj-ea"/>
                <a:ea typeface="+mj-ea"/>
                <a:cs typeface="Calibri" pitchFamily="34" charset="-120"/>
              </a:rPr>
              <a:t> 기반 </a:t>
            </a: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  <a:cs typeface="Calibri" pitchFamily="34" charset="-120"/>
              </a:rPr>
              <a:t>전기자동차</a:t>
            </a:r>
            <a:endParaRPr lang="en-US" sz="3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+mj-ea"/>
                <a:ea typeface="+mj-ea"/>
                <a:cs typeface="Calibri" pitchFamily="34" charset="-120"/>
              </a:rPr>
              <a:t>통합 열관리 제어시스템 리뷰</a:t>
            </a:r>
            <a:endParaRPr 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2907792"/>
            <a:ext cx="27432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35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임종원 · 한양대 미래모빌리티학과 · </a:t>
            </a:r>
            <a:r>
              <a:rPr lang="en-US" sz="1100" dirty="0" smtClean="0">
                <a:solidFill>
                  <a:srgbClr val="7A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2025.02 </a:t>
            </a:r>
            <a:r>
              <a:rPr lang="ko-KR" altLang="en-US" sz="1100" dirty="0" smtClean="0">
                <a:solidFill>
                  <a:srgbClr val="7A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 준 수  |  202476701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AI 기반 전기자동차 통합 열관리 제어시스템</a:t>
            </a:r>
            <a:endParaRPr lang="en-US" sz="20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51206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AE"/>
                </a:solidFill>
                <a:latin typeface="+mn-ea"/>
                <a:cs typeface="Calibri" pitchFamily="34" charset="-120"/>
              </a:rPr>
              <a:t>임종원 (한양대 2025) </a:t>
            </a:r>
            <a:r>
              <a:rPr lang="en-US" sz="950" dirty="0" smtClean="0">
                <a:solidFill>
                  <a:srgbClr val="7A99AE"/>
                </a:solidFill>
                <a:latin typeface="+mn-ea"/>
                <a:cs typeface="Calibri" pitchFamily="34" charset="-120"/>
              </a:rPr>
              <a:t> </a:t>
            </a:r>
            <a:r>
              <a:rPr lang="ko-KR" altLang="en-US" sz="950" dirty="0" smtClean="0">
                <a:solidFill>
                  <a:srgbClr val="7A99AE"/>
                </a:solidFill>
                <a:latin typeface="+mn-ea"/>
                <a:cs typeface="Calibri" pitchFamily="34" charset="-120"/>
              </a:rPr>
              <a:t>저</a:t>
            </a:r>
            <a:r>
              <a:rPr lang="en-US" sz="950" dirty="0" smtClean="0">
                <a:solidFill>
                  <a:srgbClr val="7A99AE"/>
                </a:solidFill>
                <a:latin typeface="+mn-ea"/>
                <a:cs typeface="Calibri" pitchFamily="34" charset="-120"/>
              </a:rPr>
              <a:t>   </a:t>
            </a:r>
            <a:r>
              <a:rPr lang="en-US" sz="950" dirty="0">
                <a:solidFill>
                  <a:srgbClr val="7A99AE"/>
                </a:solidFill>
                <a:latin typeface="+mn-ea"/>
                <a:cs typeface="Calibri" pitchFamily="34" charset="-120"/>
              </a:rPr>
              <a:t>발표: 김준수 202476701</a:t>
            </a:r>
            <a:endParaRPr lang="en-US" sz="95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21040" y="201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AE"/>
                </a:solidFill>
                <a:latin typeface="+mn-ea"/>
                <a:cs typeface="Calibri" pitchFamily="34" charset="-120"/>
              </a:rPr>
              <a:t>2 / 2</a:t>
            </a:r>
            <a:endParaRPr lang="en-US" sz="9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850392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77824"/>
            <a:ext cx="2670048" cy="1389888"/>
          </a:xfrm>
          <a:prstGeom prst="rect">
            <a:avLst/>
          </a:prstGeom>
          <a:solidFill>
            <a:srgbClr val="162536"/>
          </a:solidFill>
          <a:ln w="1524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77824"/>
            <a:ext cx="50292" cy="13898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5097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+mn-ea"/>
                <a:cs typeface="Calibri" pitchFamily="34" charset="-120"/>
              </a:rPr>
              <a:t>연구 배경 · 목적</a:t>
            </a:r>
            <a:endParaRPr lang="en-US" sz="105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9768" y="1225296"/>
            <a:ext cx="2505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냉매 상변화로 Simscape 실시간 불가 (10⁻¹⁰s)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목표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: 정확도 유지 + 실시간 0.1초 고정 시뮬레이션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HILS 검증을 위한 신경망 기반 차수 축소 모델 개발</a:t>
            </a:r>
            <a:endParaRPr lang="en-US" sz="90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877824"/>
            <a:ext cx="2670048" cy="1389888"/>
          </a:xfrm>
          <a:prstGeom prst="rect">
            <a:avLst/>
          </a:prstGeom>
          <a:solidFill>
            <a:srgbClr val="162536"/>
          </a:solidFill>
          <a:ln w="1524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877824"/>
            <a:ext cx="50292" cy="13898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5097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+mn-ea"/>
                <a:cs typeface="Calibri" pitchFamily="34" charset="-120"/>
              </a:rPr>
              <a:t>데이터</a:t>
            </a:r>
            <a:endParaRPr lang="en-US" sz="105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1225296"/>
            <a:ext cx="2505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Simscape 시뮬레이션 출력 → 학습 데이터 생성</a:t>
            </a:r>
            <a:endParaRPr lang="en-US" sz="800" dirty="0">
              <a:latin typeface="+mn-ea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표준 5종 + Bus5413(</a:t>
            </a:r>
            <a:r>
              <a:rPr lang="en-US" sz="800" dirty="0" err="1">
                <a:solidFill>
                  <a:srgbClr val="D9EDF4"/>
                </a:solidFill>
                <a:latin typeface="+mn-ea"/>
                <a:cs typeface="Calibri" pitchFamily="34" charset="-120"/>
              </a:rPr>
              <a:t>실도로</a:t>
            </a:r>
            <a:r>
              <a:rPr 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</a:t>
            </a:r>
            <a:endParaRPr lang="en-US" sz="800" dirty="0">
              <a:latin typeface="+mn-ea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입력</a:t>
            </a:r>
            <a:r>
              <a:rPr 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(압축기 회전수·냉각모드·공기·냉각수 상태)</a:t>
            </a:r>
            <a:endParaRPr lang="en-US" sz="800" dirty="0">
              <a:latin typeface="+mn-ea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ko-KR" alt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출력</a:t>
            </a:r>
            <a:r>
              <a:rPr 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(</a:t>
            </a:r>
            <a:r>
              <a:rPr lang="en-US" sz="800" dirty="0" err="1">
                <a:solidFill>
                  <a:srgbClr val="D9EDF4"/>
                </a:solidFill>
                <a:latin typeface="+mn-ea"/>
                <a:cs typeface="Calibri" pitchFamily="34" charset="-120"/>
              </a:rPr>
              <a:t>Q̇_evap</a:t>
            </a:r>
            <a:r>
              <a:rPr 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,(</a:t>
            </a:r>
            <a:r>
              <a:rPr lang="ko-KR" alt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에어컨</a:t>
            </a:r>
            <a:r>
              <a:rPr 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</a:t>
            </a:r>
            <a:r>
              <a:rPr lang="en-US" sz="8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Q</a:t>
            </a:r>
            <a:r>
              <a:rPr lang="en-US" sz="800" dirty="0" err="1">
                <a:solidFill>
                  <a:srgbClr val="D9EDF4"/>
                </a:solidFill>
                <a:latin typeface="+mn-ea"/>
                <a:cs typeface="Calibri" pitchFamily="34" charset="-120"/>
              </a:rPr>
              <a:t>̇_</a:t>
            </a:r>
            <a:r>
              <a:rPr lang="en-US" sz="8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chiller</a:t>
            </a:r>
            <a:r>
              <a:rPr 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(</a:t>
            </a:r>
            <a:r>
              <a:rPr lang="ko-KR" alt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배터리냉각수</a:t>
            </a:r>
            <a:r>
              <a:rPr lang="en-US" sz="8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))</a:t>
            </a:r>
            <a:endParaRPr lang="en-US" sz="8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4184" y="877824"/>
            <a:ext cx="2670048" cy="1389888"/>
          </a:xfrm>
          <a:prstGeom prst="rect">
            <a:avLst/>
          </a:prstGeom>
          <a:solidFill>
            <a:srgbClr val="162536"/>
          </a:solidFill>
          <a:ln w="15240">
            <a:solidFill>
              <a:srgbClr val="028090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877824"/>
            <a:ext cx="50292" cy="13898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95097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+mn-ea"/>
                <a:cs typeface="Calibri" pitchFamily="34" charset="-120"/>
              </a:rPr>
              <a:t>모델 분석</a:t>
            </a:r>
            <a:endParaRPr lang="en-US" sz="105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53912" y="1225296"/>
            <a:ext cx="2505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MLP(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다층 </a:t>
            </a:r>
            <a:r>
              <a:rPr lang="ko-KR" alt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퍼셉트론</a:t>
            </a:r>
            <a:r>
              <a:rPr lang="en-US" altLang="ko-KR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: </a:t>
            </a:r>
            <a:r>
              <a:rPr lang="ko-KR" alt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입력값을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층을 거치며 반환 후 출력</a:t>
            </a:r>
            <a:r>
              <a:rPr lang="en-US" altLang="ko-KR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, 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각 시점 데이터 독립 처리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LSTM(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순환신경망</a:t>
            </a:r>
            <a:r>
              <a:rPr lang="en-US" altLang="ko-KR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: 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게이트로 장기 </a:t>
            </a:r>
            <a:r>
              <a:rPr lang="en-US" sz="900" dirty="0" err="1">
                <a:solidFill>
                  <a:srgbClr val="D9EDF4"/>
                </a:solidFill>
                <a:latin typeface="+mn-ea"/>
                <a:cs typeface="Calibri" pitchFamily="34" charset="-120"/>
              </a:rPr>
              <a:t>종속성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학습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(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과거를 기억</a:t>
            </a:r>
            <a:r>
              <a:rPr lang="en-US" altLang="ko-KR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MLP 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대비 오차 63% 감소 → 최종 채택</a:t>
            </a:r>
            <a:endParaRPr lang="en-US" sz="900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8549640" cy="2560320"/>
          </a:xfrm>
          <a:prstGeom prst="rect">
            <a:avLst/>
          </a:prstGeom>
          <a:solidFill>
            <a:srgbClr val="162536"/>
          </a:solidFill>
          <a:ln w="25400">
            <a:solidFill>
              <a:srgbClr val="02C39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395728"/>
            <a:ext cx="8503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432304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4944" y="2423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+mn-ea"/>
                <a:cs typeface="Calibri" pitchFamily="34" charset="-120"/>
              </a:rPr>
              <a:t>결론 및 평가</a:t>
            </a:r>
            <a:endParaRPr lang="en-US" sz="1300" dirty="0">
              <a:latin typeface="+mn-ea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71216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40080" y="28529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+mn-ea"/>
                <a:cs typeface="Calibri" pitchFamily="34" charset="-120"/>
              </a:rPr>
              <a:t>연구 결과</a:t>
            </a:r>
            <a:endParaRPr lang="en-US" sz="1050" dirty="0">
              <a:latin typeface="+mn-ea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84048" y="3163824"/>
            <a:ext cx="26334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LSTM 기반 차수 축소 모델로 실시간성 한계 극복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RCP(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실제 하드웨어 장비 </a:t>
            </a:r>
            <a:r>
              <a:rPr lang="ko-KR" alt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시뮬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 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환경에서 실시간 검증 성공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MIL(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컴퓨터 모델 시뮬레이션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) 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와 </a:t>
            </a:r>
            <a:r>
              <a:rPr lang="en-US" altLang="ko-KR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RCP </a:t>
            </a:r>
            <a:r>
              <a:rPr lang="ko-KR" alt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결과 동일하게 출력됨 검증</a:t>
            </a:r>
            <a:r>
              <a:rPr lang="en-US" altLang="ko-KR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/>
            </a:r>
            <a:br>
              <a:rPr lang="en-US" altLang="ko-KR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</a:b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고정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0.1초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단위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실시간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시뮬레이션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→ HILS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검증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적용</a:t>
            </a: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가능</a:t>
            </a:r>
            <a:endParaRPr lang="en-US" sz="900" dirty="0">
              <a:latin typeface="+mn-ea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3086100" y="2852928"/>
            <a:ext cx="18288" cy="19476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871216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410712" y="28529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+mn-ea"/>
                <a:cs typeface="Calibri" pitchFamily="34" charset="-120"/>
              </a:rPr>
              <a:t>핵심 특징 · 개인 평가</a:t>
            </a:r>
            <a:endParaRPr lang="en-US" sz="1050" dirty="0">
              <a:latin typeface="+mn-ea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3154680" y="3163824"/>
            <a:ext cx="26334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하이브리드 전략: 냉각수(수식) + 냉매 사이클(LSTM) 분리 적용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Bus5413 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실도로 검증 전용 분리 → 실제 과도 특성 </a:t>
            </a:r>
            <a:r>
              <a:rPr lang="en-US" sz="900" dirty="0" err="1">
                <a:solidFill>
                  <a:srgbClr val="D9EDF4"/>
                </a:solidFill>
                <a:latin typeface="+mn-ea"/>
                <a:cs typeface="Calibri" pitchFamily="34" charset="-120"/>
              </a:rPr>
              <a:t>일반화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검증</a:t>
            </a:r>
            <a:endParaRPr lang="en-US" sz="900" dirty="0" smtClean="0">
              <a:solidFill>
                <a:srgbClr val="D9EDF4"/>
              </a:solidFill>
              <a:latin typeface="+mn-ea"/>
              <a:cs typeface="Calibri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o-KR" altLang="en-US" sz="900" dirty="0" smtClean="0">
                <a:solidFill>
                  <a:schemeClr val="bg1"/>
                </a:solidFill>
                <a:latin typeface="+mn-ea"/>
              </a:rPr>
              <a:t>기존 </a:t>
            </a:r>
            <a:r>
              <a:rPr lang="en-US" altLang="ko-KR" sz="900" dirty="0" err="1" smtClean="0">
                <a:solidFill>
                  <a:schemeClr val="bg1"/>
                </a:solidFill>
                <a:latin typeface="+mn-ea"/>
              </a:rPr>
              <a:t>Simscape</a:t>
            </a:r>
            <a:r>
              <a:rPr lang="en-US" altLang="ko-KR" sz="9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900" dirty="0" smtClean="0">
                <a:solidFill>
                  <a:schemeClr val="bg1"/>
                </a:solidFill>
                <a:latin typeface="+mn-ea"/>
              </a:rPr>
              <a:t>기반 모델의 실시간성 한계를 극복해서 </a:t>
            </a:r>
            <a:r>
              <a:rPr lang="en-US" altLang="ko-KR" sz="900" dirty="0" smtClean="0">
                <a:solidFill>
                  <a:schemeClr val="bg1"/>
                </a:solidFill>
                <a:latin typeface="+mn-ea"/>
              </a:rPr>
              <a:t>HIL </a:t>
            </a:r>
            <a:r>
              <a:rPr lang="ko-KR" altLang="en-US" sz="900" dirty="0" smtClean="0">
                <a:solidFill>
                  <a:schemeClr val="bg1"/>
                </a:solidFill>
                <a:latin typeface="+mn-ea"/>
              </a:rPr>
              <a:t>기반 열관리 제어 알고리즘 검증 효율화 기여</a:t>
            </a:r>
            <a:endParaRPr 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5856732" y="2852928"/>
            <a:ext cx="18288" cy="19476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2871216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81344" y="28529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+mn-ea"/>
                <a:cs typeface="Calibri" pitchFamily="34" charset="-120"/>
              </a:rPr>
              <a:t>한계 · 향후 과제</a:t>
            </a:r>
            <a:endParaRPr lang="en-US" sz="1050" dirty="0">
              <a:latin typeface="+mn-ea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5925312" y="3163824"/>
            <a:ext cx="263347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 smtClean="0">
                <a:solidFill>
                  <a:srgbClr val="D9EDF4"/>
                </a:solidFill>
                <a:latin typeface="+mn-ea"/>
                <a:cs typeface="Calibri" pitchFamily="34" charset="-120"/>
              </a:rPr>
              <a:t>LSTM </a:t>
            </a: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블랙박스 특성 → 극한 조건에서 거동 보증 어려움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실차 계측 데이터와의 교차 검증 필요</a:t>
            </a:r>
            <a:endParaRPr lang="en-US" sz="900" dirty="0">
              <a:latin typeface="+mn-ea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D9EDF4"/>
                </a:solidFill>
                <a:latin typeface="+mn-ea"/>
                <a:cs typeface="Calibri" pitchFamily="34" charset="-120"/>
              </a:rPr>
              <a:t>향후: PINN(물리지식 기반 신경망) 접목으로 두 한계 동시 완화 가능</a:t>
            </a:r>
            <a:endParaRPr lang="en-US" sz="9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277</Words>
  <Application>Microsoft Office PowerPoint</Application>
  <PresentationFormat>화면 슬라이드 쇼(16:9)</PresentationFormat>
  <Paragraphs>36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Theme</vt:lpstr>
      <vt:lpstr>슬라이드 1</vt:lpstr>
      <vt:lpstr>슬라이드 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14장 발표 - 김준수</dc:title>
  <dc:subject>PptxGenJS Presentation</dc:subject>
  <dc:creator>PptxGenJS</dc:creator>
  <cp:lastModifiedBy>user</cp:lastModifiedBy>
  <cp:revision>12</cp:revision>
  <dcterms:created xsi:type="dcterms:W3CDTF">2026-06-01T06:53:41Z</dcterms:created>
  <dcterms:modified xsi:type="dcterms:W3CDTF">2026-06-04T08:59:14Z</dcterms:modified>
</cp:coreProperties>
</file>
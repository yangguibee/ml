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ko-KR" altLang="ko-KR"/>
              <a:t>7/23/19</a:t>
            </a:fld>
            <a:endParaRPr lang="ko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ko-KR"/>
              <a:t>Click to edit Master text styles</a:t>
            </a:r>
          </a:p>
          <a:p>
            <a:pPr lvl="1"/>
            <a:r>
              <a:rPr lang="ko-KR" altLang="ko-KR"/>
              <a:t>Second level</a:t>
            </a:r>
          </a:p>
          <a:p>
            <a:pPr lvl="2"/>
            <a:r>
              <a:rPr lang="ko-KR" altLang="ko-KR"/>
              <a:t>Third level</a:t>
            </a:r>
          </a:p>
          <a:p>
            <a:pPr lvl="3"/>
            <a:r>
              <a:rPr lang="ko-KR" altLang="ko-KR"/>
              <a:t>Fourth level</a:t>
            </a:r>
          </a:p>
          <a:p>
            <a:pPr lvl="4"/>
            <a:r>
              <a:rPr lang="ko-KR" altLang="ko-KR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ko-KR" altLang="ko-KR"/>
              <a:t>‹#›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/>
            </a:r>
            <a:endParaRPr 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ko-KR" altLang="ko-KR"/>
              <a:t>1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530352"/>
          </a:xfrm>
          <a:prstGeom prst="rect">
            <a:avLst/>
          </a:prstGeom>
          <a:solidFill>
            <a:srgbClr val="0D6E72"/>
          </a:solidFill>
          <a:ln w="12700">
            <a:solidFill>
              <a:srgbClr val="0D6E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ko-KR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(5) 결론</a:t>
            </a:r>
            <a:endParaRPr lang="ko-KR" sz="2000" dirty="0"/>
          </a:p>
        </p:txBody>
      </p:sp>
      <p:sp>
        <p:nvSpPr>
          <p:cNvPr id="5" name="Text 3"/>
          <p:cNvSpPr/>
          <p:nvPr/>
        </p:nvSpPr>
        <p:spPr>
          <a:xfrm>
            <a:off x="2240280" y="0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ko-KR" sz="1100" dirty="0">
                <a:solidFill>
                  <a:srgbClr val="A8C4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딥러닝 기반 SAR 영상 객체 탐지 모델의 구조적 특성 분석</a:t>
            </a:r>
            <a:endParaRPr lang="ko-KR" sz="1100" dirty="0"/>
          </a:p>
        </p:txBody>
      </p:sp>
      <p:sp>
        <p:nvSpPr>
          <p:cNvPr id="6" name="Text 4"/>
          <p:cNvSpPr/>
          <p:nvPr/>
        </p:nvSpPr>
        <p:spPr>
          <a:xfrm>
            <a:off x="7589520" y="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ko-KR" sz="750" dirty="0">
                <a:solidFill>
                  <a:srgbClr val="7AAF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양서정 | 충남대 대학원 2025  ·  박병윤(202576623)</a:t>
            </a:r>
            <a:endParaRPr lang="ko-KR" sz="750" dirty="0"/>
          </a:p>
        </p:txBody>
      </p:sp>
      <p:sp>
        <p:nvSpPr>
          <p:cNvPr id="7" name="Shape 5"/>
          <p:cNvSpPr/>
          <p:nvPr/>
        </p:nvSpPr>
        <p:spPr>
          <a:xfrm>
            <a:off x="91440" y="594360"/>
            <a:ext cx="2212848" cy="4187952"/>
          </a:xfrm>
          <a:prstGeom prst="rect">
            <a:avLst/>
          </a:prstGeom>
          <a:solidFill>
            <a:srgbClr val="F7F9FC"/>
          </a:solidFill>
          <a:ln w="7620">
            <a:solidFill>
              <a:srgbClr val="C5D3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" y="594360"/>
            <a:ext cx="2212848" cy="260604"/>
          </a:xfrm>
          <a:prstGeom prst="rect">
            <a:avLst/>
          </a:prstGeom>
          <a:solidFill>
            <a:srgbClr val="0D6E72"/>
          </a:solidFill>
          <a:ln w="12700">
            <a:solidFill>
              <a:srgbClr val="0D6E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" y="594360"/>
            <a:ext cx="213055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ko-KR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배경 &amp; 목적</a:t>
            </a:r>
            <a:endParaRPr lang="ko-KR" sz="1000" dirty="0"/>
          </a:p>
        </p:txBody>
      </p:sp>
      <p:sp>
        <p:nvSpPr>
          <p:cNvPr id="10" name="Shape 8"/>
          <p:cNvSpPr/>
          <p:nvPr/>
        </p:nvSpPr>
        <p:spPr>
          <a:xfrm>
            <a:off x="173736" y="928116"/>
            <a:ext cx="2048256" cy="219456"/>
          </a:xfrm>
          <a:prstGeom prst="rect">
            <a:avLst/>
          </a:prstGeom>
          <a:solidFill>
            <a:srgbClr val="0D6E72"/>
          </a:solidFill>
          <a:ln w="12700">
            <a:solidFill>
              <a:srgbClr val="0D6E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" y="928116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ko-KR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SAR 영상이란?</a:t>
            </a:r>
            <a:endParaRPr lang="ko-KR" sz="900" dirty="0"/>
          </a:p>
        </p:txBody>
      </p:sp>
      <p:sp>
        <p:nvSpPr>
          <p:cNvPr id="12" name="Text 10"/>
          <p:cNvSpPr/>
          <p:nvPr/>
        </p:nvSpPr>
        <p:spPr>
          <a:xfrm>
            <a:off x="173736" y="1184148"/>
            <a:ext cx="2048256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ko-KR" altLang="ko-KR" sz="9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능동형 센서</a:t>
            </a:r>
            <a:pPr indent="0" marL="0">
              <a:buNone/>
            </a:pPr>
            <a:r>
              <a:rPr lang="ko-KR" altLang="ko-KR" sz="9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마이크로파 직접 발사·수신
</a:t>
            </a:r>
            <a:pPr indent="0" marL="0">
              <a:buNone/>
            </a:pPr>
            <a:r>
              <a:rPr lang="ko-KR" altLang="ko-KR" sz="9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전천후 관측</a:t>
            </a:r>
            <a:pPr indent="0" marL="0">
              <a:buNone/>
            </a:pPr>
            <a:r>
              <a:rPr lang="ko-KR" altLang="ko-KR" sz="9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주야간·구름·안개 무관
</a:t>
            </a:r>
            <a:pPr indent="0" marL="0">
              <a:buNone/>
            </a:pPr>
            <a:r>
              <a:rPr lang="ko-KR" altLang="ko-KR" sz="9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금속 재질·거칠기로 명암 결정
</a:t>
            </a:r>
            <a:pPr indent="0" marL="0">
              <a:buNone/>
            </a:pPr>
            <a:r>
              <a:rPr lang="ko-KR" altLang="ko-KR" sz="950" b="1" dirty="0">
                <a:solidFill>
                  <a:srgbClr val="0D6E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해양감시·재난대응의 핵심 수단</a:t>
            </a:r>
            <a:endParaRPr lang="ko-KR" sz="950" dirty="0"/>
          </a:p>
        </p:txBody>
      </p:sp>
      <p:sp>
        <p:nvSpPr>
          <p:cNvPr id="13" name="Shape 11"/>
          <p:cNvSpPr/>
          <p:nvPr/>
        </p:nvSpPr>
        <p:spPr>
          <a:xfrm>
            <a:off x="173736" y="2647188"/>
            <a:ext cx="2048256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" y="2647188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ko-KR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목적</a:t>
            </a:r>
            <a:endParaRPr lang="ko-KR" sz="900" dirty="0"/>
          </a:p>
        </p:txBody>
      </p:sp>
      <p:sp>
        <p:nvSpPr>
          <p:cNvPr id="15" name="Text 13"/>
          <p:cNvSpPr/>
          <p:nvPr/>
        </p:nvSpPr>
        <p:spPr>
          <a:xfrm>
            <a:off x="173736" y="2903220"/>
            <a:ext cx="2048256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ko-KR" altLang="ko-KR" sz="950" b="1" dirty="0">
                <a:solidFill>
                  <a:srgbClr val="256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YOLOv8</a:t>
            </a:r>
            <a:pPr indent="0" marL="0">
              <a:buNone/>
            </a:pPr>
            <a:r>
              <a:rPr lang="ko-KR" altLang="ko-KR" sz="9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(CNN) vs </a:t>
            </a:r>
            <a:pPr indent="0" marL="0">
              <a:buNone/>
            </a:pPr>
            <a:r>
              <a:rPr lang="ko-KR" altLang="ko-KR" sz="950" b="1" dirty="0">
                <a:solidFill>
                  <a:srgbClr val="C879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RF-DETR</a:t>
            </a:r>
            <a:pPr indent="0" marL="0">
              <a:buNone/>
            </a:pPr>
            <a:r>
              <a:rPr lang="ko-KR" altLang="ko-KR" sz="9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(Transformer)
동일 조건 비교 분석
</a:t>
            </a:r>
            <a:pPr indent="0" marL="0">
              <a:buNone/>
            </a:pPr>
            <a:r>
              <a:rPr lang="ko-KR" altLang="ko-KR" sz="95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pPr indent="0" marL="0">
              <a:buNone/>
            </a:pPr>
            <a:r>
              <a:rPr lang="ko-KR" altLang="ko-KR" sz="9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 성능 차이 규명
</a:t>
            </a:r>
            <a:pPr indent="0" marL="0">
              <a:buNone/>
            </a:pPr>
            <a:r>
              <a:rPr lang="ko-KR" altLang="ko-KR" sz="95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</a:t>
            </a:r>
            <a:pPr indent="0" marL="0">
              <a:buNone/>
            </a:pPr>
            <a:r>
              <a:rPr lang="ko-KR" altLang="ko-KR" sz="9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패턴 분석 (FP/FN)
</a:t>
            </a:r>
            <a:pPr indent="0" marL="0">
              <a:buNone/>
            </a:pPr>
            <a:r>
              <a:rPr lang="ko-KR" altLang="ko-KR" sz="950" b="1" dirty="0">
                <a:solidFill>
                  <a:srgbClr val="1B3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</a:t>
            </a:r>
            <a:pPr indent="0" marL="0">
              <a:buNone/>
            </a:pPr>
            <a:r>
              <a:rPr lang="ko-KR" altLang="ko-KR" sz="9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활용 전략 제시</a:t>
            </a:r>
            <a:endParaRPr lang="ko-KR" sz="950" dirty="0"/>
          </a:p>
        </p:txBody>
      </p:sp>
      <p:sp>
        <p:nvSpPr>
          <p:cNvPr id="16" name="Shape 14"/>
          <p:cNvSpPr/>
          <p:nvPr/>
        </p:nvSpPr>
        <p:spPr>
          <a:xfrm>
            <a:off x="2395728" y="594360"/>
            <a:ext cx="3621024" cy="4187952"/>
          </a:xfrm>
          <a:prstGeom prst="rect">
            <a:avLst/>
          </a:prstGeom>
          <a:solidFill>
            <a:srgbClr val="F7F9FC"/>
          </a:solidFill>
          <a:ln w="7620">
            <a:solidFill>
              <a:srgbClr val="C5D3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395728" y="594360"/>
            <a:ext cx="3621024" cy="26060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78024" y="594360"/>
            <a:ext cx="353872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ko-KR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비교 결과 (YOLOv8 vs RF-DETR)</a:t>
            </a:r>
            <a:endParaRPr lang="ko-KR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32304" y="909828"/>
          <a:ext cx="354787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04672"/>
                <a:gridCol w="804672"/>
                <a:gridCol w="704088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ko-KR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 지표</a:t>
                      </a:r>
                      <a:endParaRPr lang="ko-KR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ko-KR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YOLOv8</a:t>
                      </a:r>
                      <a:endParaRPr lang="ko-KR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ko-KR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RF-DETR</a:t>
                      </a:r>
                      <a:endParaRPr lang="ko-KR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79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ko-KR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우세</a:t>
                      </a:r>
                      <a:endParaRPr lang="ko-KR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ko-KR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mAP@0.5</a:t>
                      </a:r>
                      <a:endParaRPr lang="ko-KR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ko-KR" sz="1000" b="1" dirty="0">
                          <a:solidFill>
                            <a:srgbClr val="2563A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94.5% ★</a:t>
                      </a:r>
                      <a:endParaRPr lang="ko-KR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ko-KR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92.7%</a:t>
                      </a:r>
                      <a:endParaRPr lang="ko-KR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ko-KR" sz="900" dirty="0">
                          <a:solidFill>
                            <a:srgbClr val="2563A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YOLOv8</a:t>
                      </a:r>
                      <a:endParaRPr 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7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ko-KR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mAP@0.5:0.95</a:t>
                      </a:r>
                      <a:endParaRPr lang="ko-KR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ko-KR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70.5%</a:t>
                      </a:r>
                      <a:endParaRPr lang="ko-KR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ko-KR" sz="1000" b="1" dirty="0">
                          <a:solidFill>
                            <a:srgbClr val="C879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72.1% ★</a:t>
                      </a:r>
                      <a:endParaRPr lang="ko-KR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ko-KR" sz="900" dirty="0">
                          <a:solidFill>
                            <a:srgbClr val="C879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RF-DETR</a:t>
                      </a:r>
                      <a:endParaRPr 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ko-KR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Precision</a:t>
                      </a:r>
                      <a:endParaRPr lang="ko-KR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ko-KR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93.2%</a:t>
                      </a:r>
                      <a:endParaRPr lang="ko-KR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ko-KR" sz="1000" b="1" dirty="0">
                          <a:solidFill>
                            <a:srgbClr val="C879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95.0% ★</a:t>
                      </a:r>
                      <a:endParaRPr lang="ko-KR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ko-KR" sz="900" dirty="0">
                          <a:solidFill>
                            <a:srgbClr val="C879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RF-DETR</a:t>
                      </a:r>
                      <a:endParaRPr 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7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ko-KR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Recall</a:t>
                      </a:r>
                      <a:endParaRPr lang="ko-KR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ko-KR" sz="1000" b="1" dirty="0">
                          <a:solidFill>
                            <a:srgbClr val="2563A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88.4% ★</a:t>
                      </a:r>
                      <a:endParaRPr lang="ko-KR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ko-KR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87.0%</a:t>
                      </a:r>
                      <a:endParaRPr lang="ko-KR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ko-KR" sz="900" dirty="0">
                          <a:solidFill>
                            <a:srgbClr val="2563A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YOLOv8</a:t>
                      </a:r>
                      <a:endParaRPr 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ko-KR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FP (오탐↓)</a:t>
                      </a:r>
                      <a:endParaRPr lang="ko-KR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ko-KR" sz="1000" b="1" dirty="0">
                          <a:solidFill>
                            <a:srgbClr val="2563A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225건 ★</a:t>
                      </a:r>
                      <a:endParaRPr lang="ko-KR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ko-KR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262건</a:t>
                      </a:r>
                      <a:endParaRPr lang="ko-KR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ko-KR" sz="900" dirty="0">
                          <a:solidFill>
                            <a:srgbClr val="2563A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YOLOv8</a:t>
                      </a:r>
                      <a:endParaRPr 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7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ko-KR" sz="10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FN (미탐↓)</a:t>
                      </a:r>
                      <a:endParaRPr lang="ko-KR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ko-KR" sz="10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817건</a:t>
                      </a:r>
                      <a:endParaRPr lang="ko-KR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ko-KR" sz="1000" b="1" dirty="0">
                          <a:solidFill>
                            <a:srgbClr val="C879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706건 ★</a:t>
                      </a:r>
                      <a:endParaRPr lang="ko-KR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ko-KR" sz="900" dirty="0">
                          <a:solidFill>
                            <a:srgbClr val="C879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RF-DETR</a:t>
                      </a:r>
                      <a:endParaRPr lang="ko-KR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2432304" y="2921508"/>
            <a:ext cx="1728216" cy="1824228"/>
          </a:xfrm>
          <a:prstGeom prst="rect">
            <a:avLst/>
          </a:prstGeom>
          <a:solidFill>
            <a:srgbClr val="EBF3FF"/>
          </a:solidFill>
          <a:ln w="15240">
            <a:solidFill>
              <a:srgbClr val="2563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432304" y="2921508"/>
            <a:ext cx="1728216" cy="23774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487168" y="2921508"/>
            <a:ext cx="1655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ko-KR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YOLOv8  →  실시간 감시</a:t>
            </a:r>
            <a:endParaRPr lang="ko-KR" sz="900" dirty="0"/>
          </a:p>
        </p:txBody>
      </p:sp>
      <p:sp>
        <p:nvSpPr>
          <p:cNvPr id="23" name="Text 20"/>
          <p:cNvSpPr/>
          <p:nvPr/>
        </p:nvSpPr>
        <p:spPr>
          <a:xfrm>
            <a:off x="2487168" y="3186684"/>
            <a:ext cx="1636776" cy="15316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ko-KR" altLang="ko-KR" sz="9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mAP@0.5·FP 우세 → 속도 중심</a:t>
            </a:r>
            <a:endParaRPr lang="ko-KR" sz="950" dirty="0"/>
          </a:p>
          <a:p>
            <a:pPr indent="0" marL="0">
              <a:buNone/>
            </a:pPr>
            <a:r>
              <a:rPr lang="ko-KR" altLang="ko-KR" sz="9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해군·해경 실시간 경보 적합</a:t>
            </a:r>
            <a:endParaRPr lang="ko-KR" sz="950" dirty="0"/>
          </a:p>
        </p:txBody>
      </p:sp>
      <p:sp>
        <p:nvSpPr>
          <p:cNvPr id="24" name="Shape 21"/>
          <p:cNvSpPr/>
          <p:nvPr/>
        </p:nvSpPr>
        <p:spPr>
          <a:xfrm>
            <a:off x="4251960" y="2921508"/>
            <a:ext cx="1728216" cy="1824228"/>
          </a:xfrm>
          <a:prstGeom prst="rect">
            <a:avLst/>
          </a:prstGeom>
          <a:solidFill>
            <a:srgbClr val="FFF4E8"/>
          </a:solidFill>
          <a:ln w="15240">
            <a:solidFill>
              <a:srgbClr val="C8791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251960" y="2921508"/>
            <a:ext cx="1728216" cy="237744"/>
          </a:xfrm>
          <a:prstGeom prst="rect">
            <a:avLst/>
          </a:prstGeom>
          <a:solidFill>
            <a:srgbClr val="C8791A"/>
          </a:solidFill>
          <a:ln w="12700">
            <a:solidFill>
              <a:srgbClr val="C8791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306824" y="2921508"/>
            <a:ext cx="1655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ko-KR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RF-DETR  →  정밀 탐지</a:t>
            </a:r>
            <a:endParaRPr lang="ko-KR" sz="900" dirty="0"/>
          </a:p>
        </p:txBody>
      </p:sp>
      <p:sp>
        <p:nvSpPr>
          <p:cNvPr id="27" name="Text 24"/>
          <p:cNvSpPr/>
          <p:nvPr/>
        </p:nvSpPr>
        <p:spPr>
          <a:xfrm>
            <a:off x="4306824" y="3186684"/>
            <a:ext cx="1636776" cy="15316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ko-KR" altLang="ko-KR" sz="9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Precision·FN 우세 → 정밀도 중심</a:t>
            </a:r>
            <a:endParaRPr lang="ko-KR" sz="950" dirty="0"/>
          </a:p>
          <a:p>
            <a:pPr indent="0" marL="0">
              <a:buNone/>
            </a:pPr>
            <a:r>
              <a:rPr lang="ko-KR" altLang="ko-KR" sz="9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군사·재난 정밀 판독 적합</a:t>
            </a:r>
            <a:endParaRPr lang="ko-KR" sz="950" dirty="0"/>
          </a:p>
        </p:txBody>
      </p:sp>
      <p:sp>
        <p:nvSpPr>
          <p:cNvPr id="28" name="Shape 25"/>
          <p:cNvSpPr/>
          <p:nvPr/>
        </p:nvSpPr>
        <p:spPr>
          <a:xfrm>
            <a:off x="6108192" y="594360"/>
            <a:ext cx="2944368" cy="4187952"/>
          </a:xfrm>
          <a:prstGeom prst="rect">
            <a:avLst/>
          </a:prstGeom>
          <a:solidFill>
            <a:srgbClr val="F7F9FC"/>
          </a:solidFill>
          <a:ln w="7620">
            <a:solidFill>
              <a:srgbClr val="C5D3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108192" y="594360"/>
            <a:ext cx="2944368" cy="26060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190488" y="594360"/>
            <a:ext cx="286207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ko-KR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평가 및 논문 특성</a:t>
            </a:r>
            <a:endParaRPr lang="ko-KR" sz="1000" dirty="0"/>
          </a:p>
        </p:txBody>
      </p:sp>
      <p:sp>
        <p:nvSpPr>
          <p:cNvPr id="31" name="Shape 28"/>
          <p:cNvSpPr/>
          <p:nvPr/>
        </p:nvSpPr>
        <p:spPr>
          <a:xfrm>
            <a:off x="6108192" y="909828"/>
            <a:ext cx="2944368" cy="1229868"/>
          </a:xfrm>
          <a:prstGeom prst="rect">
            <a:avLst/>
          </a:prstGeom>
          <a:solidFill>
            <a:srgbClr val="EBF3FF"/>
          </a:solidFill>
          <a:ln w="12700">
            <a:solidFill>
              <a:srgbClr val="2563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108192" y="909828"/>
            <a:ext cx="256032" cy="122986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08192" y="1001268"/>
            <a:ext cx="256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</a:t>
            </a:r>
            <a:endParaRPr lang="ko-KR" sz="1300" dirty="0"/>
          </a:p>
        </p:txBody>
      </p:sp>
      <p:sp>
        <p:nvSpPr>
          <p:cNvPr id="34" name="Text 31"/>
          <p:cNvSpPr/>
          <p:nvPr/>
        </p:nvSpPr>
        <p:spPr>
          <a:xfrm>
            <a:off x="6108192" y="1792224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ko-KR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</a:t>
            </a:r>
            <a:endParaRPr lang="ko-KR" sz="800" dirty="0"/>
          </a:p>
        </p:txBody>
      </p:sp>
      <p:sp>
        <p:nvSpPr>
          <p:cNvPr id="35" name="Text 32"/>
          <p:cNvSpPr/>
          <p:nvPr/>
        </p:nvSpPr>
        <p:spPr>
          <a:xfrm>
            <a:off x="6428232" y="982980"/>
            <a:ext cx="2578608" cy="5657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ko-KR" altLang="ko-KR" sz="9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SAR 도메인에서 CNN·Transformer를 동일 조건으로 엄밀히 비교 → 학술적 가치 높음</a:t>
            </a:r>
            <a:endParaRPr lang="ko-KR" sz="950" dirty="0"/>
          </a:p>
        </p:txBody>
      </p:sp>
      <p:sp>
        <p:nvSpPr>
          <p:cNvPr id="36" name="Text 33"/>
          <p:cNvSpPr/>
          <p:nvPr/>
        </p:nvSpPr>
        <p:spPr>
          <a:xfrm>
            <a:off x="6428232" y="1573317"/>
            <a:ext cx="2578608" cy="5657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ko-KR" altLang="ko-KR" sz="9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Confusion Matrix·Vector Analysis로 단순 수치를 넘어 오차 유형까지 심층 분석</a:t>
            </a:r>
            <a:endParaRPr lang="ko-KR" sz="950" dirty="0"/>
          </a:p>
        </p:txBody>
      </p:sp>
      <p:sp>
        <p:nvSpPr>
          <p:cNvPr id="37" name="Shape 34"/>
          <p:cNvSpPr/>
          <p:nvPr/>
        </p:nvSpPr>
        <p:spPr>
          <a:xfrm>
            <a:off x="6108192" y="2231136"/>
            <a:ext cx="2944368" cy="1229868"/>
          </a:xfrm>
          <a:prstGeom prst="rect">
            <a:avLst/>
          </a:prstGeom>
          <a:solidFill>
            <a:srgbClr val="FFF4E8"/>
          </a:solidFill>
          <a:ln w="12700">
            <a:solidFill>
              <a:srgbClr val="C8791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108192" y="2231136"/>
            <a:ext cx="256032" cy="1229868"/>
          </a:xfrm>
          <a:prstGeom prst="rect">
            <a:avLst/>
          </a:prstGeom>
          <a:solidFill>
            <a:srgbClr val="C8791A"/>
          </a:solidFill>
          <a:ln w="12700">
            <a:solidFill>
              <a:srgbClr val="C8791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108192" y="2322576"/>
            <a:ext cx="256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</a:t>
            </a:r>
            <a:endParaRPr lang="ko-KR" sz="1300" dirty="0"/>
          </a:p>
        </p:txBody>
      </p:sp>
      <p:sp>
        <p:nvSpPr>
          <p:cNvPr id="40" name="Text 37"/>
          <p:cNvSpPr/>
          <p:nvPr/>
        </p:nvSpPr>
        <p:spPr>
          <a:xfrm>
            <a:off x="6108192" y="3113532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ko-KR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ko-KR" sz="800" dirty="0"/>
          </a:p>
        </p:txBody>
      </p:sp>
      <p:sp>
        <p:nvSpPr>
          <p:cNvPr id="41" name="Text 38"/>
          <p:cNvSpPr/>
          <p:nvPr/>
        </p:nvSpPr>
        <p:spPr>
          <a:xfrm>
            <a:off x="6428232" y="2304288"/>
            <a:ext cx="2578608" cy="5657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ko-KR" altLang="ko-KR" sz="9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단일 데이터셋(HRSID)만 활용 → 다른 해역·환경에 대한 일반화 가능성 검증 미흡</a:t>
            </a:r>
            <a:endParaRPr lang="ko-KR" sz="950" dirty="0"/>
          </a:p>
        </p:txBody>
      </p:sp>
      <p:sp>
        <p:nvSpPr>
          <p:cNvPr id="42" name="Text 39"/>
          <p:cNvSpPr/>
          <p:nvPr/>
        </p:nvSpPr>
        <p:spPr>
          <a:xfrm>
            <a:off x="6428232" y="2894625"/>
            <a:ext cx="2578608" cy="5657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ko-KR" altLang="ko-KR" sz="9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추론 속도(FPS) 정량 비교 부재 → 실시간 적용 가능성 판단 근거 부족</a:t>
            </a:r>
            <a:endParaRPr lang="ko-KR" sz="950" dirty="0"/>
          </a:p>
        </p:txBody>
      </p:sp>
      <p:sp>
        <p:nvSpPr>
          <p:cNvPr id="43" name="Shape 40"/>
          <p:cNvSpPr/>
          <p:nvPr/>
        </p:nvSpPr>
        <p:spPr>
          <a:xfrm>
            <a:off x="6108192" y="3552444"/>
            <a:ext cx="2944368" cy="1229868"/>
          </a:xfrm>
          <a:prstGeom prst="rect">
            <a:avLst/>
          </a:prstGeom>
          <a:solidFill>
            <a:srgbClr val="E8F5EE"/>
          </a:solidFill>
          <a:ln w="12700">
            <a:solidFill>
              <a:srgbClr val="1E6B4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6108192" y="3552444"/>
            <a:ext cx="256032" cy="1229868"/>
          </a:xfrm>
          <a:prstGeom prst="rect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108192" y="3643884"/>
            <a:ext cx="256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ko-KR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ko-KR" sz="1300" dirty="0"/>
          </a:p>
        </p:txBody>
      </p:sp>
      <p:sp>
        <p:nvSpPr>
          <p:cNvPr id="46" name="Text 43"/>
          <p:cNvSpPr/>
          <p:nvPr/>
        </p:nvSpPr>
        <p:spPr>
          <a:xfrm>
            <a:off x="6108192" y="4434840"/>
            <a:ext cx="256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ko-KR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제언</a:t>
            </a:r>
            <a:endParaRPr lang="ko-KR" sz="800" dirty="0"/>
          </a:p>
        </p:txBody>
      </p:sp>
      <p:sp>
        <p:nvSpPr>
          <p:cNvPr id="47" name="Text 44"/>
          <p:cNvSpPr/>
          <p:nvPr/>
        </p:nvSpPr>
        <p:spPr>
          <a:xfrm>
            <a:off x="6428232" y="3625596"/>
            <a:ext cx="2578608" cy="5657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ko-KR" altLang="ko-KR" sz="9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앙상블 또는 하이브리드 구조(CNN 백본 + Transformer 헤드)로 속도·정밀도 동시 확보 기대</a:t>
            </a:r>
            <a:endParaRPr lang="ko-KR" sz="950" dirty="0"/>
          </a:p>
        </p:txBody>
      </p:sp>
      <p:sp>
        <p:nvSpPr>
          <p:cNvPr id="48" name="Text 45"/>
          <p:cNvSpPr/>
          <p:nvPr/>
        </p:nvSpPr>
        <p:spPr>
          <a:xfrm>
            <a:off x="6428232" y="4215933"/>
            <a:ext cx="2578608" cy="5657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ko-KR" altLang="ko-KR" sz="9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다양한 SAR 데이터셋 추가 실험으로 모델 범용성 검증 필요</a:t>
            </a:r>
            <a:endParaRPr lang="ko-KR" sz="950" dirty="0"/>
          </a:p>
        </p:txBody>
      </p:sp>
      <p:sp>
        <p:nvSpPr>
          <p:cNvPr id="49" name="Shape 46"/>
          <p:cNvSpPr/>
          <p:nvPr/>
        </p:nvSpPr>
        <p:spPr>
          <a:xfrm>
            <a:off x="91440" y="4846320"/>
            <a:ext cx="8961120" cy="3200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91440" y="4846320"/>
            <a:ext cx="182880" cy="320040"/>
          </a:xfrm>
          <a:prstGeom prst="rect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47472" y="4846320"/>
            <a:ext cx="8641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ko-KR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종합:  속도 우선 → YOLOv8  /  정밀도 우선 → RF-DETR  |  향후: 두 모델의 앙상블·하이브리드 구조로 SAR 탐지 성능 추가 향상 기대</a:t>
            </a:r>
            <a:endParaRPr lang="ko-KR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2026-06-03T04:25:48Z</dcterms:created>
  <dcterms:modified xsi:type="dcterms:W3CDTF">2026-06-03T04:25:48Z</dcterms:modified>
</cp:coreProperties>
</file>
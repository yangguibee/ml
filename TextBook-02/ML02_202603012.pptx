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324" r:id="rId2"/>
    <p:sldId id="346" r:id="rId3"/>
    <p:sldId id="326" r:id="rId4"/>
    <p:sldId id="344" r:id="rId5"/>
    <p:sldId id="343" r:id="rId6"/>
    <p:sldId id="345" r:id="rId7"/>
  </p:sldIdLst>
  <p:sldSz cx="12192000" cy="6858000"/>
  <p:notesSz cx="6797675" cy="9926638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5935" autoAdjust="0"/>
    <p:restoredTop sz="86437" autoAdjust="0"/>
  </p:normalViewPr>
  <p:slideViewPr>
    <p:cSldViewPr snapToGrid="0">
      <p:cViewPr varScale="1">
        <p:scale>
          <a:sx n="64" d="100"/>
          <a:sy n="64" d="100"/>
        </p:scale>
        <p:origin x="400" y="4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78" d="100"/>
          <a:sy n="78" d="100"/>
        </p:scale>
        <p:origin x="3404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49688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D4DA0A7-FD9F-4435-B1D5-7267E1A37088}" type="datetimeFigureOut">
              <a:rPr lang="ko-KR" altLang="en-US" smtClean="0"/>
              <a:t>2026-03-12</a:t>
            </a:fld>
            <a:endParaRPr lang="ko-KR" altLang="en-US" dirty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 dirty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9450" y="4776788"/>
            <a:ext cx="5438775" cy="390842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2975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49688" y="942975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07F62DE-34EC-4057-822D-799CF81ECAA5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0822148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FA8E23B-F0E9-4B10-94D7-7B62E5D5ADD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C93AE85C-2281-4817-BE9E-E6379D56EFD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F44FFC9-8220-4157-8FB9-B25881CE33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043F6-4F4D-4CB6-B54F-64438BCF3E22}" type="datetimeFigureOut">
              <a:rPr lang="ko-KR" altLang="en-US" smtClean="0"/>
              <a:t>2026-03-12</a:t>
            </a:fld>
            <a:endParaRPr lang="ko-KR" alt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CAEC6EB-1CAC-407E-A433-9F1281F339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8A763EE-8B06-49EF-BA75-35242781BF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080151-3B5B-4796-A661-C66F99228B83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833651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425E23A-E0A9-405C-BF0A-72BB9BC2D7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55C189B-AC77-4437-A885-00263F09D7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7A1F04B-0F89-4984-9B60-50DD8A1DB3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043F6-4F4D-4CB6-B54F-64438BCF3E22}" type="datetimeFigureOut">
              <a:rPr lang="ko-KR" altLang="en-US" smtClean="0"/>
              <a:t>2026-03-12</a:t>
            </a:fld>
            <a:endParaRPr lang="ko-KR" alt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80816CC-AD95-4546-836F-99AE91EB75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E98C12F-B0EA-454A-9466-FB5385C49D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080151-3B5B-4796-A661-C66F99228B83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279206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1CB79D1-AC4B-4787-927B-7EF46AEC5D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7FE35A6-ADA7-460C-AD7C-E673C1AB67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A5B3825-AED0-4BEC-8D29-A59AAF0A94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043F6-4F4D-4CB6-B54F-64438BCF3E22}" type="datetimeFigureOut">
              <a:rPr lang="ko-KR" altLang="en-US" smtClean="0"/>
              <a:t>2026-03-12</a:t>
            </a:fld>
            <a:endParaRPr lang="ko-KR" alt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925B07A-C113-4D8C-AAD6-1F78E62031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E2BFBAE-DB5F-4B83-8E75-53207E9678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080151-3B5B-4796-A661-C66F99228B83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326978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57C1C0A-A78B-45D5-9F40-6304D25CF3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C8295CC-148A-49C5-BA79-715ED4E9925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75B625EC-A024-4315-8018-96A5CB50E5E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D00DF5A-7454-4574-9FCF-BBC4B35AEB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043F6-4F4D-4CB6-B54F-64438BCF3E22}" type="datetimeFigureOut">
              <a:rPr lang="ko-KR" altLang="en-US" smtClean="0"/>
              <a:t>2026-03-12</a:t>
            </a:fld>
            <a:endParaRPr lang="ko-KR" altLang="en-US" dirty="0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F57DC97-CB44-47BC-8498-13D5714ADF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EBA68A6-A6A4-4AA7-9B5F-AD1C2BE99F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080151-3B5B-4796-A661-C66F99228B83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1409999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C4293F2-83B6-4772-815A-482DFE6D66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2216F97-1748-4816-93E4-789F4F1DA0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747BC754-21C2-4480-B8F5-2140DB2F844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22553287-7BF8-49FB-BBC0-3047D7B462B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1B52FC25-6EEE-4A5C-9987-C04EE2E3A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6DBDE308-CFCC-483A-9595-29641FDE2D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043F6-4F4D-4CB6-B54F-64438BCF3E22}" type="datetimeFigureOut">
              <a:rPr lang="ko-KR" altLang="en-US" smtClean="0"/>
              <a:t>2026-03-12</a:t>
            </a:fld>
            <a:endParaRPr lang="ko-KR" altLang="en-US" dirty="0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8E4ADEA9-B683-4228-9FF6-75C7425C73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DB9DCC2C-3148-46EA-B7FA-F74F95D235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080151-3B5B-4796-A661-C66F99228B83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481415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2846B0E-E1A6-4B9C-BA80-B584DABCE8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C603AF5E-E832-4276-AE70-9E3E7AB0E8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043F6-4F4D-4CB6-B54F-64438BCF3E22}" type="datetimeFigureOut">
              <a:rPr lang="ko-KR" altLang="en-US" smtClean="0"/>
              <a:t>2026-03-12</a:t>
            </a:fld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C23FCB58-064A-4A54-BC72-316F290E57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6C13771E-66FF-4CA8-834B-1D35A3F8DD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080151-3B5B-4796-A661-C66F99228B83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542421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2F35B767-EE4D-42B6-BBC9-74C9E2F1CC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043F6-4F4D-4CB6-B54F-64438BCF3E22}" type="datetimeFigureOut">
              <a:rPr lang="ko-KR" altLang="en-US" smtClean="0"/>
              <a:t>2026-03-12</a:t>
            </a:fld>
            <a:endParaRPr lang="ko-KR" altLang="en-US" dirty="0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4473DE23-3160-4BA4-BDC1-ACAD5B7A61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AEC72F6-E106-4BD4-A7F1-BC1902A609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080151-3B5B-4796-A661-C66F99228B83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7693623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326D8B5-8345-435E-AFEB-C09E0979A4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C9E06DC-C929-478D-AAF2-410E633B06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921758E4-78E1-499E-8896-E37973A78D4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EFCE34F-58CF-45FD-9F50-7B9FDC910F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043F6-4F4D-4CB6-B54F-64438BCF3E22}" type="datetimeFigureOut">
              <a:rPr lang="ko-KR" altLang="en-US" smtClean="0"/>
              <a:t>2026-03-12</a:t>
            </a:fld>
            <a:endParaRPr lang="ko-KR" altLang="en-US" dirty="0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265251D-ABF8-4225-9230-1693511BF4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E1C334E-FAAE-47A5-B5C9-161A817A0B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080151-3B5B-4796-A661-C66F99228B83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2706267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C202F8B-0C86-4553-A00F-6F778D101D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5A742D9B-53A2-45A2-A5C8-A11B564B742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B0507A6-9901-4336-A6F6-09232163D0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5D2DAA8-0379-4F60-8838-3E74EF8D1A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043F6-4F4D-4CB6-B54F-64438BCF3E22}" type="datetimeFigureOut">
              <a:rPr lang="ko-KR" altLang="en-US" smtClean="0"/>
              <a:t>2026-03-12</a:t>
            </a:fld>
            <a:endParaRPr lang="ko-KR" altLang="en-US" dirty="0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7E97A47-FDF3-42CD-B879-95FD6CC583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162C005-1AAF-47C9-BE8B-09888906E5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080151-3B5B-4796-A661-C66F99228B83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3691903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F538819-EE1A-40B9-B541-4A40C2F8A7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E2FB293-A2FD-462C-9283-CE0131E4DE7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2C85D8E-73F1-4886-87EF-0DBE95FF74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043F6-4F4D-4CB6-B54F-64438BCF3E22}" type="datetimeFigureOut">
              <a:rPr lang="ko-KR" altLang="en-US" smtClean="0"/>
              <a:t>2026-03-12</a:t>
            </a:fld>
            <a:endParaRPr lang="ko-KR" alt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838E4AA-6BDD-4A8E-952E-88E4A2290B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0DD0FCA-0A1B-471D-8171-8B29E57E6B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080151-3B5B-4796-A661-C66F99228B83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2573527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679D0B9C-E5E5-4E95-A480-EFEF19BDF34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9A66BA4C-4BE6-4FC2-8155-FC9E164D098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3CBCAB0-916F-41EE-8276-8909FF5899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043F6-4F4D-4CB6-B54F-64438BCF3E22}" type="datetimeFigureOut">
              <a:rPr lang="ko-KR" altLang="en-US" smtClean="0"/>
              <a:t>2026-03-12</a:t>
            </a:fld>
            <a:endParaRPr lang="ko-KR" alt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54E6C37-A87A-49FE-B81E-BF7C190089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2D10F43-0418-4CDD-8426-7D12DC3661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080151-3B5B-4796-A661-C66F99228B83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7276777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5A9B92D0-C80B-40BB-8085-14F7632446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F08BACE-8542-441D-BA7E-B549B97A96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5CADE8F-D911-4205-BE5B-EC32974BEDE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48043F6-4F4D-4CB6-B54F-64438BCF3E22}" type="datetimeFigureOut">
              <a:rPr lang="ko-KR" altLang="en-US" smtClean="0"/>
              <a:t>2026-03-12</a:t>
            </a:fld>
            <a:endParaRPr lang="ko-KR" alt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B36DF68-EC07-408B-851E-4B231E48892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7AB029D-F13F-4D80-83D8-1332C636156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8080151-3B5B-4796-A661-C66F99228B83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9842494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github.com/yangguibee/AIG" TargetMode="External"/><Relationship Id="rId5" Type="http://schemas.openxmlformats.org/officeDocument/2006/relationships/hyperlink" Target="mailto:heejung.yang@bok.or.kr" TargetMode="External"/><Relationship Id="rId4" Type="http://schemas.openxmlformats.org/officeDocument/2006/relationships/hyperlink" Target="mailto:guibee@konkuk.ac.kr" TargetMode="Externa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3.png"/><Relationship Id="rId7" Type="http://schemas.openxmlformats.org/officeDocument/2006/relationships/hyperlink" Target="https://github.com/yangguibee/AIG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hyperlink" Target="https://ecampus.konkuk.ac.kr/" TargetMode="Externa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75AF8E-A806-1C68-09C1-6F93D2D86E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림 8" descr="노랑, 다채로움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4048F682-6301-4D68-A1E2-FD20DE47E7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1720" y="2721452"/>
            <a:ext cx="2780656" cy="923679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4F3E0DE-7586-70A7-661C-B8451F1B477E}"/>
              </a:ext>
            </a:extLst>
          </p:cNvPr>
          <p:cNvSpPr txBox="1"/>
          <p:nvPr/>
        </p:nvSpPr>
        <p:spPr>
          <a:xfrm>
            <a:off x="1268935" y="131389"/>
            <a:ext cx="370325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000" b="1" dirty="0">
                <a:solidFill>
                  <a:schemeClr val="accent6">
                    <a:lumMod val="50000"/>
                  </a:schemeClr>
                </a:solidFill>
              </a:rPr>
              <a:t>건국대학교 공학대학원 </a:t>
            </a:r>
            <a:r>
              <a:rPr lang="en-US" altLang="ko-KR" sz="2000" b="1" dirty="0">
                <a:solidFill>
                  <a:schemeClr val="accent6">
                    <a:lumMod val="50000"/>
                  </a:schemeClr>
                </a:solidFill>
              </a:rPr>
              <a:t>AI</a:t>
            </a:r>
            <a:r>
              <a:rPr lang="ko-KR" altLang="en-US" sz="2000" b="1" dirty="0">
                <a:solidFill>
                  <a:schemeClr val="accent6">
                    <a:lumMod val="50000"/>
                  </a:schemeClr>
                </a:solidFill>
              </a:rPr>
              <a:t>전공</a:t>
            </a:r>
            <a:endParaRPr lang="en-US" altLang="ko-KR" sz="2000" b="1" dirty="0">
              <a:solidFill>
                <a:schemeClr val="accent6">
                  <a:lumMod val="50000"/>
                </a:schemeClr>
              </a:solidFill>
            </a:endParaRPr>
          </a:p>
        </p:txBody>
      </p:sp>
      <p:pic>
        <p:nvPicPr>
          <p:cNvPr id="5" name="그림 4" descr="텍스트, 폰트, 디자인, 타이포그래피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4F0CAF15-BF6C-89C1-7946-F972B78DA3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215" y="131389"/>
            <a:ext cx="1150720" cy="38103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8EC39D6-0EF0-B229-5081-12D7CBCE4A69}"/>
              </a:ext>
            </a:extLst>
          </p:cNvPr>
          <p:cNvSpPr txBox="1"/>
          <p:nvPr/>
        </p:nvSpPr>
        <p:spPr>
          <a:xfrm>
            <a:off x="1684789" y="2753771"/>
            <a:ext cx="7353295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4400" b="1" dirty="0"/>
              <a:t>머신러닝 기반의 연구방법론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1060427-D4E6-EABB-B166-EA68CCD6E4B4}"/>
              </a:ext>
            </a:extLst>
          </p:cNvPr>
          <p:cNvSpPr txBox="1"/>
          <p:nvPr/>
        </p:nvSpPr>
        <p:spPr>
          <a:xfrm>
            <a:off x="7122243" y="5283819"/>
            <a:ext cx="313900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b="1" dirty="0"/>
              <a:t>2026</a:t>
            </a:r>
            <a:r>
              <a:rPr lang="ko-KR" altLang="en-US" sz="2400" b="1" dirty="0"/>
              <a:t>년 </a:t>
            </a:r>
            <a:r>
              <a:rPr lang="en-US" altLang="ko-KR" sz="2400" b="1" dirty="0"/>
              <a:t>1</a:t>
            </a:r>
            <a:r>
              <a:rPr lang="ko-KR" altLang="en-US" sz="2400" b="1" dirty="0"/>
              <a:t>학기 양희정</a:t>
            </a:r>
            <a:endParaRPr lang="en-US" altLang="ko-KR" sz="2400" b="1" dirty="0"/>
          </a:p>
        </p:txBody>
      </p: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77396F36-C076-0E42-DE70-544C319D2214}"/>
              </a:ext>
            </a:extLst>
          </p:cNvPr>
          <p:cNvCxnSpPr>
            <a:cxnSpLocks/>
          </p:cNvCxnSpPr>
          <p:nvPr/>
        </p:nvCxnSpPr>
        <p:spPr>
          <a:xfrm>
            <a:off x="1768651" y="3523212"/>
            <a:ext cx="8396757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D19582E5-F7B8-A99B-63B2-DDFA65998CB5}"/>
              </a:ext>
            </a:extLst>
          </p:cNvPr>
          <p:cNvSpPr txBox="1"/>
          <p:nvPr/>
        </p:nvSpPr>
        <p:spPr>
          <a:xfrm>
            <a:off x="8105205" y="5653151"/>
            <a:ext cx="215603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ko-KR" sz="1400" dirty="0">
                <a:hlinkClick r:id="rId4"/>
              </a:rPr>
              <a:t>guibee@konkuk.ac.kr</a:t>
            </a:r>
            <a:endParaRPr lang="en-US" altLang="ko-KR" sz="1400" dirty="0"/>
          </a:p>
          <a:p>
            <a:pPr algn="r"/>
            <a:r>
              <a:rPr lang="en-US" altLang="ko-KR" sz="1400" dirty="0">
                <a:hlinkClick r:id="rId5"/>
              </a:rPr>
              <a:t>heejung.yang@bok.or.kr</a:t>
            </a:r>
            <a:endParaRPr lang="ko-KR" altLang="en-US" sz="14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CEAD115-078E-E2E8-1F41-902AD1D1CA4F}"/>
              </a:ext>
            </a:extLst>
          </p:cNvPr>
          <p:cNvSpPr txBox="1"/>
          <p:nvPr/>
        </p:nvSpPr>
        <p:spPr>
          <a:xfrm>
            <a:off x="5673129" y="3523212"/>
            <a:ext cx="4698017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b="1" dirty="0">
                <a:hlinkClick r:id="rId6"/>
              </a:rPr>
              <a:t>https://github.com/yangguibee/ML</a:t>
            </a:r>
            <a:endParaRPr lang="en-US" altLang="ko-KR" sz="2000" b="1" dirty="0"/>
          </a:p>
          <a:p>
            <a:endParaRPr lang="en-US" altLang="ko-KR" sz="2000" b="1" dirty="0"/>
          </a:p>
          <a:p>
            <a:endParaRPr lang="ko-KR" altLang="en-US" sz="2000" b="1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319B286-40D1-466A-8738-FC70802ED0E7}"/>
              </a:ext>
            </a:extLst>
          </p:cNvPr>
          <p:cNvSpPr txBox="1"/>
          <p:nvPr/>
        </p:nvSpPr>
        <p:spPr>
          <a:xfrm>
            <a:off x="10424869" y="2846103"/>
            <a:ext cx="124264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200" b="1" dirty="0">
                <a:solidFill>
                  <a:srgbClr val="C00000"/>
                </a:solidFill>
              </a:rPr>
              <a:t>제</a:t>
            </a:r>
            <a:r>
              <a:rPr lang="en-US" altLang="ko-KR" sz="3200" b="1" dirty="0">
                <a:solidFill>
                  <a:srgbClr val="C00000"/>
                </a:solidFill>
              </a:rPr>
              <a:t>2</a:t>
            </a:r>
            <a:r>
              <a:rPr lang="ko-KR" altLang="en-US" sz="3200" b="1" dirty="0">
                <a:solidFill>
                  <a:srgbClr val="C00000"/>
                </a:solidFill>
              </a:rPr>
              <a:t>강</a:t>
            </a:r>
          </a:p>
        </p:txBody>
      </p:sp>
    </p:spTree>
    <p:extLst>
      <p:ext uri="{BB962C8B-B14F-4D97-AF65-F5344CB8AC3E}">
        <p14:creationId xmlns:p14="http://schemas.microsoft.com/office/powerpoint/2010/main" val="10600753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45C41E-79DD-F3B4-0264-7C5AF0BB95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그림 27" descr="노랑, 다채로움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CEE6D805-4D1C-C2BB-6A76-85C8023561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211" y="711799"/>
            <a:ext cx="2990973" cy="923679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9900DFB7-7457-C0AE-1001-CF591D400B28}"/>
              </a:ext>
            </a:extLst>
          </p:cNvPr>
          <p:cNvSpPr txBox="1"/>
          <p:nvPr/>
        </p:nvSpPr>
        <p:spPr>
          <a:xfrm>
            <a:off x="4789312" y="2205106"/>
            <a:ext cx="243368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/>
              <a:t>긴급 안내</a:t>
            </a:r>
            <a:r>
              <a:rPr lang="en-US" altLang="ko-KR" sz="2400" b="1" dirty="0"/>
              <a:t>, Q&amp;A</a:t>
            </a:r>
            <a:endParaRPr lang="ko-KR" altLang="en-US" sz="2400" b="1" dirty="0"/>
          </a:p>
        </p:txBody>
      </p:sp>
      <p:pic>
        <p:nvPicPr>
          <p:cNvPr id="5" name="그림 4" descr="로고, 그래픽, 폰트, 상징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C69FFD93-24BD-B459-499E-82C5A5981B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7972" y="3111017"/>
            <a:ext cx="1196444" cy="1120237"/>
          </a:xfrm>
          <a:prstGeom prst="rect">
            <a:avLst/>
          </a:prstGeom>
        </p:spPr>
      </p:pic>
      <p:pic>
        <p:nvPicPr>
          <p:cNvPr id="7" name="그림 6" descr="텍스트, 폰트, 로고, 상징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08A9C3C-9A12-1F7E-B822-7C0E8338E28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06587" y="3111017"/>
            <a:ext cx="1442597" cy="15003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6AAA160-5C6D-04BE-51E0-50E5763163D8}"/>
              </a:ext>
            </a:extLst>
          </p:cNvPr>
          <p:cNvSpPr txBox="1"/>
          <p:nvPr/>
        </p:nvSpPr>
        <p:spPr>
          <a:xfrm>
            <a:off x="683081" y="4611317"/>
            <a:ext cx="330917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hlinkClick r:id="rId5"/>
              </a:rPr>
              <a:t>https://ecampus.konkuk.ac.kr/</a:t>
            </a:r>
            <a:endParaRPr lang="en-US" altLang="ko-KR" dirty="0"/>
          </a:p>
          <a:p>
            <a:endParaRPr lang="ko-KR" altLang="en-US" dirty="0"/>
          </a:p>
        </p:txBody>
      </p:sp>
      <p:pic>
        <p:nvPicPr>
          <p:cNvPr id="13" name="그림 12" descr="블랙, 어둠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B8069E51-AC6A-DBE1-7464-F3979070B08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53282" y="3111017"/>
            <a:ext cx="1369221" cy="1369221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363EAFC0-2C38-9874-1CD5-892503E20A87}"/>
              </a:ext>
            </a:extLst>
          </p:cNvPr>
          <p:cNvSpPr txBox="1"/>
          <p:nvPr/>
        </p:nvSpPr>
        <p:spPr>
          <a:xfrm>
            <a:off x="7820310" y="4637206"/>
            <a:ext cx="385554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hlinkClick r:id="rId7"/>
              </a:rPr>
              <a:t>https://github.com/yangguibee/ML</a:t>
            </a:r>
            <a:endParaRPr lang="en-US" altLang="ko-KR" dirty="0"/>
          </a:p>
          <a:p>
            <a:endParaRPr lang="ko-KR" alt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2D277CA-446C-B200-F7E2-9F697BC4D62D}"/>
              </a:ext>
            </a:extLst>
          </p:cNvPr>
          <p:cNvSpPr txBox="1"/>
          <p:nvPr/>
        </p:nvSpPr>
        <p:spPr>
          <a:xfrm>
            <a:off x="4974460" y="4606409"/>
            <a:ext cx="20633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AIG2026-1 </a:t>
            </a:r>
            <a:r>
              <a:rPr lang="ko-KR" altLang="en-US" dirty="0"/>
              <a:t>단톡방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D835E69-2088-E1D1-DB87-A5ECB8458A8C}"/>
              </a:ext>
            </a:extLst>
          </p:cNvPr>
          <p:cNvSpPr txBox="1"/>
          <p:nvPr/>
        </p:nvSpPr>
        <p:spPr>
          <a:xfrm>
            <a:off x="8627342" y="2227250"/>
            <a:ext cx="222048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2400" b="1" dirty="0"/>
              <a:t>교안</a:t>
            </a:r>
            <a:r>
              <a:rPr lang="en-US" altLang="ko-KR" sz="2400" b="1" dirty="0"/>
              <a:t>, </a:t>
            </a:r>
            <a:r>
              <a:rPr lang="ko-KR" altLang="en-US" sz="2400" b="1" dirty="0"/>
              <a:t>참고자료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3B71BAC-7DA2-2C5B-9977-76D2B794B466}"/>
              </a:ext>
            </a:extLst>
          </p:cNvPr>
          <p:cNvSpPr txBox="1"/>
          <p:nvPr/>
        </p:nvSpPr>
        <p:spPr>
          <a:xfrm>
            <a:off x="490279" y="2238761"/>
            <a:ext cx="362387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/>
              <a:t>출석체크</a:t>
            </a:r>
            <a:r>
              <a:rPr lang="en-US" altLang="ko-KR" sz="2400" b="1" dirty="0"/>
              <a:t>, </a:t>
            </a:r>
            <a:r>
              <a:rPr lang="ko-KR" altLang="en-US" sz="2400" b="1" dirty="0"/>
              <a:t>공지사항</a:t>
            </a:r>
            <a:r>
              <a:rPr lang="en-US" altLang="ko-KR" sz="2400" b="1" dirty="0"/>
              <a:t>, FAQ</a:t>
            </a:r>
            <a:endParaRPr lang="ko-KR" altLang="en-US" sz="2400" b="1" dirty="0"/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B2C14E92-5F23-EF5A-6455-17C5D56F144F}"/>
              </a:ext>
            </a:extLst>
          </p:cNvPr>
          <p:cNvSpPr/>
          <p:nvPr/>
        </p:nvSpPr>
        <p:spPr>
          <a:xfrm>
            <a:off x="4592116" y="2082037"/>
            <a:ext cx="2830749" cy="3170703"/>
          </a:xfrm>
          <a:prstGeom prst="roundRect">
            <a:avLst/>
          </a:prstGeom>
          <a:noFill/>
          <a:ln w="7620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56129399-2A6D-F5EC-28D6-402D2D0E6D91}"/>
              </a:ext>
            </a:extLst>
          </p:cNvPr>
          <p:cNvSpPr/>
          <p:nvPr/>
        </p:nvSpPr>
        <p:spPr>
          <a:xfrm>
            <a:off x="7673432" y="2082037"/>
            <a:ext cx="4254119" cy="3170703"/>
          </a:xfrm>
          <a:prstGeom prst="roundRect">
            <a:avLst/>
          </a:prstGeom>
          <a:noFill/>
          <a:ln w="12700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7F901204-FF0D-835C-3E4A-CC459A124D08}"/>
              </a:ext>
            </a:extLst>
          </p:cNvPr>
          <p:cNvSpPr/>
          <p:nvPr/>
        </p:nvSpPr>
        <p:spPr>
          <a:xfrm>
            <a:off x="248598" y="2082037"/>
            <a:ext cx="4107241" cy="3170703"/>
          </a:xfrm>
          <a:prstGeom prst="roundRect">
            <a:avLst/>
          </a:prstGeom>
          <a:noFill/>
          <a:ln w="3810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22F216D-EC25-5080-0350-1C3DE48176F1}"/>
              </a:ext>
            </a:extLst>
          </p:cNvPr>
          <p:cNvSpPr txBox="1"/>
          <p:nvPr/>
        </p:nvSpPr>
        <p:spPr>
          <a:xfrm>
            <a:off x="450115" y="907062"/>
            <a:ext cx="197041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200" b="1" dirty="0"/>
              <a:t>강의 진행</a:t>
            </a:r>
          </a:p>
        </p:txBody>
      </p:sp>
      <p:pic>
        <p:nvPicPr>
          <p:cNvPr id="23" name="그림 22" descr="텍스트, 스케치, 폰트, 그래픽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3F7310F-C6CE-5FC9-60E2-069A4564F1B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322503" y="3678987"/>
            <a:ext cx="1486793" cy="531234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3B74416A-9581-8779-9B78-17AD4FC90F5E}"/>
              </a:ext>
            </a:extLst>
          </p:cNvPr>
          <p:cNvSpPr txBox="1"/>
          <p:nvPr/>
        </p:nvSpPr>
        <p:spPr>
          <a:xfrm>
            <a:off x="1491738" y="5478665"/>
            <a:ext cx="16209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rgbClr val="0070C0"/>
                </a:solidFill>
              </a:rPr>
              <a:t>~ 2026.1</a:t>
            </a:r>
            <a:r>
              <a:rPr lang="ko-KR" altLang="en-US" b="1" dirty="0">
                <a:solidFill>
                  <a:srgbClr val="0070C0"/>
                </a:solidFill>
              </a:rPr>
              <a:t>학기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8B17C65-A30D-2D55-6ABC-45479D1E439E}"/>
              </a:ext>
            </a:extLst>
          </p:cNvPr>
          <p:cNvSpPr txBox="1"/>
          <p:nvPr/>
        </p:nvSpPr>
        <p:spPr>
          <a:xfrm>
            <a:off x="5375274" y="5478665"/>
            <a:ext cx="11256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rgbClr val="0070C0"/>
                </a:solidFill>
              </a:rPr>
              <a:t>~ </a:t>
            </a:r>
            <a:r>
              <a:rPr lang="ko-KR" altLang="en-US" b="1" dirty="0">
                <a:solidFill>
                  <a:srgbClr val="0070C0"/>
                </a:solidFill>
              </a:rPr>
              <a:t>나가기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F3D88FC-2DDE-8801-ED80-FC73177E831B}"/>
              </a:ext>
            </a:extLst>
          </p:cNvPr>
          <p:cNvSpPr txBox="1"/>
          <p:nvPr/>
        </p:nvSpPr>
        <p:spPr>
          <a:xfrm>
            <a:off x="8940319" y="5478665"/>
            <a:ext cx="17203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rgbClr val="0070C0"/>
                </a:solidFill>
              </a:rPr>
              <a:t>~ Github </a:t>
            </a:r>
            <a:r>
              <a:rPr lang="ko-KR" altLang="en-US" b="1" dirty="0">
                <a:solidFill>
                  <a:srgbClr val="0070C0"/>
                </a:solidFill>
              </a:rPr>
              <a:t>정책</a:t>
            </a:r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61E4CEF2-5FC6-2881-2F28-4173CACDC3A0}"/>
              </a:ext>
            </a:extLst>
          </p:cNvPr>
          <p:cNvGrpSpPr/>
          <p:nvPr/>
        </p:nvGrpSpPr>
        <p:grpSpPr>
          <a:xfrm>
            <a:off x="6007491" y="555304"/>
            <a:ext cx="3458056" cy="1526734"/>
            <a:chOff x="6007491" y="555304"/>
            <a:chExt cx="3458056" cy="1526734"/>
          </a:xfrm>
        </p:grpSpPr>
        <p:sp>
          <p:nvSpPr>
            <p:cNvPr id="3" name="직사각형 2">
              <a:extLst>
                <a:ext uri="{FF2B5EF4-FFF2-40B4-BE49-F238E27FC236}">
                  <a16:creationId xmlns:a16="http://schemas.microsoft.com/office/drawing/2014/main" id="{17AD5CD2-AED9-EC4C-002B-966C265FEDC6}"/>
                </a:ext>
              </a:extLst>
            </p:cNvPr>
            <p:cNvSpPr/>
            <p:nvPr/>
          </p:nvSpPr>
          <p:spPr>
            <a:xfrm>
              <a:off x="7876360" y="583896"/>
              <a:ext cx="1589187" cy="646331"/>
            </a:xfrm>
            <a:custGeom>
              <a:avLst/>
              <a:gdLst>
                <a:gd name="connsiteX0" fmla="*/ 0 w 1589187"/>
                <a:gd name="connsiteY0" fmla="*/ 0 h 646331"/>
                <a:gd name="connsiteX1" fmla="*/ 513837 w 1589187"/>
                <a:gd name="connsiteY1" fmla="*/ 0 h 646331"/>
                <a:gd name="connsiteX2" fmla="*/ 995891 w 1589187"/>
                <a:gd name="connsiteY2" fmla="*/ 0 h 646331"/>
                <a:gd name="connsiteX3" fmla="*/ 1589187 w 1589187"/>
                <a:gd name="connsiteY3" fmla="*/ 0 h 646331"/>
                <a:gd name="connsiteX4" fmla="*/ 1589187 w 1589187"/>
                <a:gd name="connsiteY4" fmla="*/ 316702 h 646331"/>
                <a:gd name="connsiteX5" fmla="*/ 1589187 w 1589187"/>
                <a:gd name="connsiteY5" fmla="*/ 646331 h 646331"/>
                <a:gd name="connsiteX6" fmla="*/ 1091242 w 1589187"/>
                <a:gd name="connsiteY6" fmla="*/ 646331 h 646331"/>
                <a:gd name="connsiteX7" fmla="*/ 593296 w 1589187"/>
                <a:gd name="connsiteY7" fmla="*/ 646331 h 646331"/>
                <a:gd name="connsiteX8" fmla="*/ 0 w 1589187"/>
                <a:gd name="connsiteY8" fmla="*/ 646331 h 646331"/>
                <a:gd name="connsiteX9" fmla="*/ 0 w 1589187"/>
                <a:gd name="connsiteY9" fmla="*/ 342555 h 646331"/>
                <a:gd name="connsiteX10" fmla="*/ 0 w 1589187"/>
                <a:gd name="connsiteY10" fmla="*/ 0 h 6463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589187" h="646331" extrusionOk="0">
                  <a:moveTo>
                    <a:pt x="0" y="0"/>
                  </a:moveTo>
                  <a:cubicBezTo>
                    <a:pt x="144315" y="-56466"/>
                    <a:pt x="314185" y="59477"/>
                    <a:pt x="513837" y="0"/>
                  </a:cubicBezTo>
                  <a:cubicBezTo>
                    <a:pt x="713489" y="-59477"/>
                    <a:pt x="805919" y="31433"/>
                    <a:pt x="995891" y="0"/>
                  </a:cubicBezTo>
                  <a:cubicBezTo>
                    <a:pt x="1185863" y="-31433"/>
                    <a:pt x="1295659" y="2050"/>
                    <a:pt x="1589187" y="0"/>
                  </a:cubicBezTo>
                  <a:cubicBezTo>
                    <a:pt x="1616570" y="121065"/>
                    <a:pt x="1575617" y="238935"/>
                    <a:pt x="1589187" y="316702"/>
                  </a:cubicBezTo>
                  <a:cubicBezTo>
                    <a:pt x="1602757" y="394469"/>
                    <a:pt x="1582330" y="514100"/>
                    <a:pt x="1589187" y="646331"/>
                  </a:cubicBezTo>
                  <a:cubicBezTo>
                    <a:pt x="1393738" y="665150"/>
                    <a:pt x="1216777" y="613474"/>
                    <a:pt x="1091242" y="646331"/>
                  </a:cubicBezTo>
                  <a:cubicBezTo>
                    <a:pt x="965708" y="679188"/>
                    <a:pt x="760853" y="602916"/>
                    <a:pt x="593296" y="646331"/>
                  </a:cubicBezTo>
                  <a:cubicBezTo>
                    <a:pt x="425739" y="689746"/>
                    <a:pt x="181260" y="618562"/>
                    <a:pt x="0" y="646331"/>
                  </a:cubicBezTo>
                  <a:cubicBezTo>
                    <a:pt x="-26174" y="508757"/>
                    <a:pt x="23894" y="459392"/>
                    <a:pt x="0" y="342555"/>
                  </a:cubicBezTo>
                  <a:cubicBezTo>
                    <a:pt x="-23894" y="225718"/>
                    <a:pt x="27255" y="138134"/>
                    <a:pt x="0" y="0"/>
                  </a:cubicBezTo>
                  <a:close/>
                </a:path>
              </a:pathLst>
            </a:custGeom>
            <a:noFill/>
            <a:ln w="63500">
              <a:solidFill>
                <a:srgbClr val="C00000"/>
              </a:solidFill>
              <a:extLst>
                <a:ext uri="{C807C97D-BFC1-408E-A445-0C87EB9F89A2}">
                  <ask:lineSketchStyleProps xmlns:ask="http://schemas.microsoft.com/office/drawing/2018/sketchyshapes" sd="1219033472">
                    <a:prstGeom prst="rect">
                      <a:avLst/>
                    </a:prstGeom>
                    <ask:type>
                      <ask:lineSketchScribble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cxnSp>
          <p:nvCxnSpPr>
            <p:cNvPr id="4" name="연결선: 구부러짐 3">
              <a:extLst>
                <a:ext uri="{FF2B5EF4-FFF2-40B4-BE49-F238E27FC236}">
                  <a16:creationId xmlns:a16="http://schemas.microsoft.com/office/drawing/2014/main" id="{0B9184C5-9F2B-1630-53A8-FB917261A212}"/>
                </a:ext>
              </a:extLst>
            </p:cNvPr>
            <p:cNvCxnSpPr>
              <a:cxnSpLocks/>
              <a:stCxn id="19" idx="0"/>
              <a:endCxn id="3" idx="1"/>
            </p:cNvCxnSpPr>
            <p:nvPr/>
          </p:nvCxnSpPr>
          <p:spPr>
            <a:xfrm rot="5400000" flipH="1" flipV="1">
              <a:off x="6354438" y="560116"/>
              <a:ext cx="1174975" cy="1868869"/>
            </a:xfrm>
            <a:prstGeom prst="curvedConnector2">
              <a:avLst/>
            </a:prstGeom>
            <a:ln w="38100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22F9FBE3-797B-08C3-7957-12D8092F759D}"/>
                </a:ext>
              </a:extLst>
            </p:cNvPr>
            <p:cNvSpPr txBox="1"/>
            <p:nvPr/>
          </p:nvSpPr>
          <p:spPr>
            <a:xfrm>
              <a:off x="8057313" y="555304"/>
              <a:ext cx="1234633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dirty="0">
                  <a:solidFill>
                    <a:srgbClr val="C00000"/>
                  </a:solidFill>
                </a:rPr>
                <a:t>ML2026-1</a:t>
              </a:r>
            </a:p>
            <a:p>
              <a:pPr algn="ctr"/>
              <a:r>
                <a:rPr lang="en-US" altLang="ko-KR" dirty="0">
                  <a:solidFill>
                    <a:srgbClr val="C00000"/>
                  </a:solidFill>
                </a:rPr>
                <a:t>20260301</a:t>
              </a:r>
              <a:endParaRPr lang="ko-KR" altLang="en-US" dirty="0">
                <a:solidFill>
                  <a:srgbClr val="C000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4006926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66F453-B458-CA3C-258E-CC1732ECE1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2F66D23A-6A05-4983-8D4A-D5942C763A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5963" y="1190694"/>
            <a:ext cx="11713863" cy="4920655"/>
          </a:xfrm>
          <a:prstGeom prst="rect">
            <a:avLst/>
          </a:prstGeom>
        </p:spPr>
      </p:pic>
      <p:pic>
        <p:nvPicPr>
          <p:cNvPr id="11" name="그림 10" descr="노랑, 다채로움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79F8CE8-020B-44F0-B6A5-83F5C7558C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5066"/>
            <a:ext cx="2990973" cy="923679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9B83E127-B4EB-1785-F44E-CAC209D0C03F}"/>
              </a:ext>
            </a:extLst>
          </p:cNvPr>
          <p:cNvSpPr txBox="1"/>
          <p:nvPr/>
        </p:nvSpPr>
        <p:spPr>
          <a:xfrm>
            <a:off x="600930" y="194519"/>
            <a:ext cx="197041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200" b="1" dirty="0"/>
              <a:t>강의 계획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29B1CE6A-827F-C148-5646-CBDB1EFA23BD}"/>
              </a:ext>
            </a:extLst>
          </p:cNvPr>
          <p:cNvSpPr/>
          <p:nvPr/>
        </p:nvSpPr>
        <p:spPr>
          <a:xfrm>
            <a:off x="225962" y="1741656"/>
            <a:ext cx="11713863" cy="310810"/>
          </a:xfrm>
          <a:prstGeom prst="rect">
            <a:avLst/>
          </a:prstGeom>
          <a:noFill/>
          <a:ln w="635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833461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FD493D-3350-8DDE-9921-7DC7DEBA59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그림 36" descr="노랑, 다채로움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F3B05EE-8576-BC2F-94A2-F8804A365D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5066"/>
            <a:ext cx="2990973" cy="92367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EB56943-0E4D-9022-D1CC-22CF01198F39}"/>
              </a:ext>
            </a:extLst>
          </p:cNvPr>
          <p:cNvSpPr txBox="1"/>
          <p:nvPr/>
        </p:nvSpPr>
        <p:spPr>
          <a:xfrm>
            <a:off x="2589985" y="1285355"/>
            <a:ext cx="121700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/>
              <a:t>개요 ①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CE14B07-F78D-0253-5252-0DFBA57F37BC}"/>
              </a:ext>
            </a:extLst>
          </p:cNvPr>
          <p:cNvSpPr txBox="1"/>
          <p:nvPr/>
        </p:nvSpPr>
        <p:spPr>
          <a:xfrm>
            <a:off x="2589985" y="1834596"/>
            <a:ext cx="152477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/>
              <a:t>데이터 ②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96E2030-66AE-D504-0C65-BBC0BE35E5EF}"/>
              </a:ext>
            </a:extLst>
          </p:cNvPr>
          <p:cNvSpPr txBox="1"/>
          <p:nvPr/>
        </p:nvSpPr>
        <p:spPr>
          <a:xfrm>
            <a:off x="2589985" y="2383837"/>
            <a:ext cx="214033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/>
              <a:t>연구방법론 ③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F012DCF-DFDE-0291-3FB5-C8CA55401C3B}"/>
              </a:ext>
            </a:extLst>
          </p:cNvPr>
          <p:cNvSpPr txBox="1"/>
          <p:nvPr/>
        </p:nvSpPr>
        <p:spPr>
          <a:xfrm>
            <a:off x="2589985" y="2933079"/>
            <a:ext cx="317266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/>
              <a:t>비지도 학습 ④⑤⑥⑦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4AEC03C-0090-F7A6-E089-5960FD9FB209}"/>
              </a:ext>
            </a:extLst>
          </p:cNvPr>
          <p:cNvSpPr txBox="1"/>
          <p:nvPr/>
        </p:nvSpPr>
        <p:spPr>
          <a:xfrm>
            <a:off x="441453" y="2138649"/>
            <a:ext cx="172354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/>
              <a:t>비지도학습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B67046E-560F-CFFA-113F-1D9A9FF25D8E}"/>
              </a:ext>
            </a:extLst>
          </p:cNvPr>
          <p:cNvSpPr txBox="1"/>
          <p:nvPr/>
        </p:nvSpPr>
        <p:spPr>
          <a:xfrm>
            <a:off x="441453" y="4713549"/>
            <a:ext cx="141577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/>
              <a:t>지도학습</a:t>
            </a:r>
            <a:endParaRPr lang="en-US" altLang="ko-KR" sz="2400" b="1" dirty="0"/>
          </a:p>
          <a:p>
            <a:r>
              <a:rPr lang="ko-KR" altLang="en-US" sz="2400" b="1" dirty="0"/>
              <a:t>강화학습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EAFDC6D-EA54-113D-3A24-038A0C0C1BA8}"/>
              </a:ext>
            </a:extLst>
          </p:cNvPr>
          <p:cNvSpPr txBox="1"/>
          <p:nvPr/>
        </p:nvSpPr>
        <p:spPr>
          <a:xfrm>
            <a:off x="2589985" y="3531330"/>
            <a:ext cx="183255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/>
              <a:t>중간고사 ⑧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A24E79F-F8F3-0DB1-E253-014B979025FD}"/>
              </a:ext>
            </a:extLst>
          </p:cNvPr>
          <p:cNvSpPr txBox="1"/>
          <p:nvPr/>
        </p:nvSpPr>
        <p:spPr>
          <a:xfrm>
            <a:off x="3236720" y="4208177"/>
            <a:ext cx="275588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/>
              <a:t>지도학습 ⑨⑩⑪⑫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1C5A458-BC48-C20A-4C93-4EE293F7C525}"/>
              </a:ext>
            </a:extLst>
          </p:cNvPr>
          <p:cNvSpPr txBox="1"/>
          <p:nvPr/>
        </p:nvSpPr>
        <p:spPr>
          <a:xfrm>
            <a:off x="3236720" y="4695218"/>
            <a:ext cx="183255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/>
              <a:t>강화학습 ⑬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996A502-651B-15E7-1EB5-47B5BCCB6DE6}"/>
              </a:ext>
            </a:extLst>
          </p:cNvPr>
          <p:cNvSpPr txBox="1"/>
          <p:nvPr/>
        </p:nvSpPr>
        <p:spPr>
          <a:xfrm>
            <a:off x="3236720" y="5669300"/>
            <a:ext cx="190949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/>
              <a:t>기말고사 </a:t>
            </a:r>
            <a:r>
              <a:rPr lang="en-US" altLang="ko-KR" sz="1600" b="1" dirty="0"/>
              <a:t>(16)</a:t>
            </a:r>
            <a:endParaRPr lang="en-US" altLang="ko-KR" sz="2400" b="1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4B455BD-4EB9-0CCE-AC73-84333274AF50}"/>
              </a:ext>
            </a:extLst>
          </p:cNvPr>
          <p:cNvSpPr txBox="1"/>
          <p:nvPr/>
        </p:nvSpPr>
        <p:spPr>
          <a:xfrm>
            <a:off x="3236720" y="5182259"/>
            <a:ext cx="252447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b="1" dirty="0"/>
              <a:t>Case Study ⑭⑮</a:t>
            </a:r>
          </a:p>
        </p:txBody>
      </p:sp>
      <p:cxnSp>
        <p:nvCxnSpPr>
          <p:cNvPr id="17" name="연결선: 구부러짐 16">
            <a:extLst>
              <a:ext uri="{FF2B5EF4-FFF2-40B4-BE49-F238E27FC236}">
                <a16:creationId xmlns:a16="http://schemas.microsoft.com/office/drawing/2014/main" id="{DF42A3C2-6FBF-D99C-96EC-443655ED5F14}"/>
              </a:ext>
            </a:extLst>
          </p:cNvPr>
          <p:cNvCxnSpPr>
            <a:stCxn id="8" idx="3"/>
            <a:endCxn id="4" idx="1"/>
          </p:cNvCxnSpPr>
          <p:nvPr/>
        </p:nvCxnSpPr>
        <p:spPr>
          <a:xfrm flipV="1">
            <a:off x="2165002" y="1516188"/>
            <a:ext cx="424983" cy="853294"/>
          </a:xfrm>
          <a:prstGeom prst="curvedConnector3">
            <a:avLst>
              <a:gd name="adj1" fmla="val 50000"/>
            </a:avLst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연결선: 구부러짐 17">
            <a:extLst>
              <a:ext uri="{FF2B5EF4-FFF2-40B4-BE49-F238E27FC236}">
                <a16:creationId xmlns:a16="http://schemas.microsoft.com/office/drawing/2014/main" id="{0F2827C1-CAE3-03FF-0782-5B66445A34CB}"/>
              </a:ext>
            </a:extLst>
          </p:cNvPr>
          <p:cNvCxnSpPr>
            <a:cxnSpLocks/>
            <a:stCxn id="8" idx="3"/>
            <a:endCxn id="5" idx="1"/>
          </p:cNvCxnSpPr>
          <p:nvPr/>
        </p:nvCxnSpPr>
        <p:spPr>
          <a:xfrm flipV="1">
            <a:off x="2165002" y="2065429"/>
            <a:ext cx="424983" cy="304053"/>
          </a:xfrm>
          <a:prstGeom prst="curvedConnector3">
            <a:avLst>
              <a:gd name="adj1" fmla="val 50000"/>
            </a:avLst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연결선: 구부러짐 20">
            <a:extLst>
              <a:ext uri="{FF2B5EF4-FFF2-40B4-BE49-F238E27FC236}">
                <a16:creationId xmlns:a16="http://schemas.microsoft.com/office/drawing/2014/main" id="{2F819FC1-7DBC-FE37-E7E6-1EF96C9D912D}"/>
              </a:ext>
            </a:extLst>
          </p:cNvPr>
          <p:cNvCxnSpPr>
            <a:cxnSpLocks/>
            <a:stCxn id="8" idx="3"/>
            <a:endCxn id="6" idx="1"/>
          </p:cNvCxnSpPr>
          <p:nvPr/>
        </p:nvCxnSpPr>
        <p:spPr>
          <a:xfrm>
            <a:off x="2165002" y="2369482"/>
            <a:ext cx="424983" cy="245188"/>
          </a:xfrm>
          <a:prstGeom prst="curvedConnector3">
            <a:avLst>
              <a:gd name="adj1" fmla="val 50000"/>
            </a:avLst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연결선: 구부러짐 23">
            <a:extLst>
              <a:ext uri="{FF2B5EF4-FFF2-40B4-BE49-F238E27FC236}">
                <a16:creationId xmlns:a16="http://schemas.microsoft.com/office/drawing/2014/main" id="{AF1AFCF4-06C3-695A-0E0E-CDAA3109938F}"/>
              </a:ext>
            </a:extLst>
          </p:cNvPr>
          <p:cNvCxnSpPr>
            <a:cxnSpLocks/>
            <a:stCxn id="8" idx="3"/>
            <a:endCxn id="7" idx="1"/>
          </p:cNvCxnSpPr>
          <p:nvPr/>
        </p:nvCxnSpPr>
        <p:spPr>
          <a:xfrm>
            <a:off x="2165002" y="2369482"/>
            <a:ext cx="424983" cy="794430"/>
          </a:xfrm>
          <a:prstGeom prst="curvedConnector3">
            <a:avLst>
              <a:gd name="adj1" fmla="val 50000"/>
            </a:avLst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연결선: 구부러짐 26">
            <a:extLst>
              <a:ext uri="{FF2B5EF4-FFF2-40B4-BE49-F238E27FC236}">
                <a16:creationId xmlns:a16="http://schemas.microsoft.com/office/drawing/2014/main" id="{9061310C-BE42-E67C-4051-2A1D77C843D1}"/>
              </a:ext>
            </a:extLst>
          </p:cNvPr>
          <p:cNvCxnSpPr>
            <a:cxnSpLocks/>
            <a:stCxn id="8" idx="3"/>
            <a:endCxn id="11" idx="1"/>
          </p:cNvCxnSpPr>
          <p:nvPr/>
        </p:nvCxnSpPr>
        <p:spPr>
          <a:xfrm>
            <a:off x="2165002" y="2369482"/>
            <a:ext cx="424983" cy="1392681"/>
          </a:xfrm>
          <a:prstGeom prst="curvedConnector3">
            <a:avLst>
              <a:gd name="adj1" fmla="val 50000"/>
            </a:avLst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연결선: 구부러짐 29">
            <a:extLst>
              <a:ext uri="{FF2B5EF4-FFF2-40B4-BE49-F238E27FC236}">
                <a16:creationId xmlns:a16="http://schemas.microsoft.com/office/drawing/2014/main" id="{2FD31F0C-2CFD-E2A3-C798-8DC417C4A8A7}"/>
              </a:ext>
            </a:extLst>
          </p:cNvPr>
          <p:cNvCxnSpPr>
            <a:cxnSpLocks/>
            <a:stCxn id="9" idx="3"/>
            <a:endCxn id="12" idx="1"/>
          </p:cNvCxnSpPr>
          <p:nvPr/>
        </p:nvCxnSpPr>
        <p:spPr>
          <a:xfrm flipV="1">
            <a:off x="1857225" y="4439010"/>
            <a:ext cx="1379495" cy="690038"/>
          </a:xfrm>
          <a:prstGeom prst="curvedConnector3">
            <a:avLst>
              <a:gd name="adj1" fmla="val 50000"/>
            </a:avLst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연결선: 구부러짐 32">
            <a:extLst>
              <a:ext uri="{FF2B5EF4-FFF2-40B4-BE49-F238E27FC236}">
                <a16:creationId xmlns:a16="http://schemas.microsoft.com/office/drawing/2014/main" id="{CD2B2603-D6FA-0E20-7730-3CE7F2CED473}"/>
              </a:ext>
            </a:extLst>
          </p:cNvPr>
          <p:cNvCxnSpPr>
            <a:cxnSpLocks/>
            <a:stCxn id="9" idx="3"/>
            <a:endCxn id="13" idx="1"/>
          </p:cNvCxnSpPr>
          <p:nvPr/>
        </p:nvCxnSpPr>
        <p:spPr>
          <a:xfrm flipV="1">
            <a:off x="1857225" y="4926051"/>
            <a:ext cx="1379495" cy="202997"/>
          </a:xfrm>
          <a:prstGeom prst="curvedConnector3">
            <a:avLst>
              <a:gd name="adj1" fmla="val 50000"/>
            </a:avLst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연결선: 구부러짐 35">
            <a:extLst>
              <a:ext uri="{FF2B5EF4-FFF2-40B4-BE49-F238E27FC236}">
                <a16:creationId xmlns:a16="http://schemas.microsoft.com/office/drawing/2014/main" id="{FEC31CBA-191D-02B0-1EB4-C53DE70165EE}"/>
              </a:ext>
            </a:extLst>
          </p:cNvPr>
          <p:cNvCxnSpPr>
            <a:cxnSpLocks/>
            <a:stCxn id="9" idx="3"/>
            <a:endCxn id="15" idx="1"/>
          </p:cNvCxnSpPr>
          <p:nvPr/>
        </p:nvCxnSpPr>
        <p:spPr>
          <a:xfrm>
            <a:off x="1857225" y="5129048"/>
            <a:ext cx="1379495" cy="284044"/>
          </a:xfrm>
          <a:prstGeom prst="curvedConnector3">
            <a:avLst>
              <a:gd name="adj1" fmla="val 50000"/>
            </a:avLst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연결선: 구부러짐 38">
            <a:extLst>
              <a:ext uri="{FF2B5EF4-FFF2-40B4-BE49-F238E27FC236}">
                <a16:creationId xmlns:a16="http://schemas.microsoft.com/office/drawing/2014/main" id="{FD9CB859-D481-16B9-B1DA-433B4C19442E}"/>
              </a:ext>
            </a:extLst>
          </p:cNvPr>
          <p:cNvCxnSpPr>
            <a:cxnSpLocks/>
            <a:stCxn id="9" idx="3"/>
            <a:endCxn id="14" idx="1"/>
          </p:cNvCxnSpPr>
          <p:nvPr/>
        </p:nvCxnSpPr>
        <p:spPr>
          <a:xfrm>
            <a:off x="1857225" y="5129048"/>
            <a:ext cx="1379495" cy="771085"/>
          </a:xfrm>
          <a:prstGeom prst="curvedConnector3">
            <a:avLst>
              <a:gd name="adj1" fmla="val 50000"/>
            </a:avLst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TextBox 78">
            <a:extLst>
              <a:ext uri="{FF2B5EF4-FFF2-40B4-BE49-F238E27FC236}">
                <a16:creationId xmlns:a16="http://schemas.microsoft.com/office/drawing/2014/main" id="{6E08F9BE-2115-1C74-49A8-FFCA1B201611}"/>
              </a:ext>
            </a:extLst>
          </p:cNvPr>
          <p:cNvSpPr txBox="1"/>
          <p:nvPr/>
        </p:nvSpPr>
        <p:spPr>
          <a:xfrm>
            <a:off x="486799" y="187001"/>
            <a:ext cx="197041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200" b="1" dirty="0"/>
              <a:t>강의 구성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17B5F04-8CA4-3BA8-586E-EC3CFCB9287F}"/>
              </a:ext>
            </a:extLst>
          </p:cNvPr>
          <p:cNvSpPr txBox="1"/>
          <p:nvPr/>
        </p:nvSpPr>
        <p:spPr>
          <a:xfrm>
            <a:off x="6814760" y="187001"/>
            <a:ext cx="4890441" cy="25853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1. </a:t>
            </a:r>
            <a:r>
              <a:rPr lang="ko-KR" altLang="en-US" dirty="0"/>
              <a:t>시각화 </a:t>
            </a:r>
            <a:r>
              <a:rPr lang="en-US" altLang="ko-KR" dirty="0"/>
              <a:t>: Matplotlib, Seaborn, Orange3</a:t>
            </a:r>
          </a:p>
          <a:p>
            <a:r>
              <a:rPr lang="en-US" altLang="ko-KR" dirty="0"/>
              <a:t>2. </a:t>
            </a:r>
            <a:r>
              <a:rPr lang="ko-KR" altLang="en-US" dirty="0"/>
              <a:t>군집화 </a:t>
            </a:r>
            <a:r>
              <a:rPr lang="en-US" altLang="ko-KR" dirty="0"/>
              <a:t>: Partitioning, Hierarchical, </a:t>
            </a:r>
          </a:p>
          <a:p>
            <a:r>
              <a:rPr lang="en-US" altLang="ko-KR" dirty="0"/>
              <a:t>              Density, Grid, Model,</a:t>
            </a:r>
          </a:p>
          <a:p>
            <a:r>
              <a:rPr lang="en-US" altLang="ko-KR" dirty="0"/>
              <a:t>              Graph -Based Clustering</a:t>
            </a:r>
          </a:p>
          <a:p>
            <a:r>
              <a:rPr lang="en-US" altLang="ko-KR" dirty="0"/>
              <a:t>3. </a:t>
            </a:r>
            <a:r>
              <a:rPr lang="ko-KR" altLang="en-US" dirty="0"/>
              <a:t>연관규칙 </a:t>
            </a:r>
            <a:r>
              <a:rPr lang="en-US" altLang="ko-KR" dirty="0"/>
              <a:t>: Apriori, FP-Growth, Eclat,</a:t>
            </a:r>
          </a:p>
          <a:p>
            <a:r>
              <a:rPr lang="en-US" altLang="ko-KR" dirty="0"/>
              <a:t>                 MLAR, MDAR, AIS</a:t>
            </a:r>
          </a:p>
          <a:p>
            <a:r>
              <a:rPr lang="en-US" altLang="ko-KR" dirty="0"/>
              <a:t>   </a:t>
            </a:r>
            <a:r>
              <a:rPr lang="ko-KR" altLang="en-US" dirty="0"/>
              <a:t>차원축소 </a:t>
            </a:r>
            <a:r>
              <a:rPr lang="en-US" altLang="ko-KR" dirty="0"/>
              <a:t>: PCA, t-SNE, UMAP, SVD, ICA, </a:t>
            </a:r>
          </a:p>
          <a:p>
            <a:r>
              <a:rPr lang="en-US" altLang="ko-KR" dirty="0"/>
              <a:t>                 LDA, Isomap, MDS, SOM, NMF</a:t>
            </a:r>
          </a:p>
          <a:p>
            <a:r>
              <a:rPr lang="en-US" altLang="ko-KR" dirty="0"/>
              <a:t>4. </a:t>
            </a:r>
            <a:r>
              <a:rPr lang="ko-KR" altLang="en-US" dirty="0"/>
              <a:t>평가 </a:t>
            </a:r>
            <a:r>
              <a:rPr lang="en-US" altLang="ko-KR" dirty="0"/>
              <a:t>: </a:t>
            </a:r>
            <a:r>
              <a:rPr lang="ko-KR" altLang="en-US" dirty="0"/>
              <a:t>군집</a:t>
            </a:r>
            <a:r>
              <a:rPr lang="en-US" altLang="ko-KR" dirty="0"/>
              <a:t>, </a:t>
            </a:r>
            <a:r>
              <a:rPr lang="ko-KR" altLang="en-US" dirty="0"/>
              <a:t>연관규칙</a:t>
            </a:r>
            <a:r>
              <a:rPr lang="en-US" altLang="ko-KR" dirty="0"/>
              <a:t>, </a:t>
            </a:r>
            <a:r>
              <a:rPr lang="ko-KR" altLang="en-US" dirty="0"/>
              <a:t>차원축소</a:t>
            </a:r>
            <a:endParaRPr lang="en-US" altLang="ko-KR" dirty="0"/>
          </a:p>
        </p:txBody>
      </p:sp>
      <p:sp>
        <p:nvSpPr>
          <p:cNvPr id="19" name="왼쪽 중괄호 18">
            <a:extLst>
              <a:ext uri="{FF2B5EF4-FFF2-40B4-BE49-F238E27FC236}">
                <a16:creationId xmlns:a16="http://schemas.microsoft.com/office/drawing/2014/main" id="{E43CB37F-61B0-1B45-6B28-FCA0EEC00999}"/>
              </a:ext>
            </a:extLst>
          </p:cNvPr>
          <p:cNvSpPr/>
          <p:nvPr/>
        </p:nvSpPr>
        <p:spPr>
          <a:xfrm>
            <a:off x="6297040" y="370191"/>
            <a:ext cx="517720" cy="2262984"/>
          </a:xfrm>
          <a:prstGeom prst="leftBrac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cxnSp>
        <p:nvCxnSpPr>
          <p:cNvPr id="20" name="연결선: 구부러짐 19">
            <a:extLst>
              <a:ext uri="{FF2B5EF4-FFF2-40B4-BE49-F238E27FC236}">
                <a16:creationId xmlns:a16="http://schemas.microsoft.com/office/drawing/2014/main" id="{9BE293F5-BB91-8FB0-9BBC-9680A78EB124}"/>
              </a:ext>
            </a:extLst>
          </p:cNvPr>
          <p:cNvCxnSpPr>
            <a:cxnSpLocks/>
            <a:stCxn id="7" idx="3"/>
          </p:cNvCxnSpPr>
          <p:nvPr/>
        </p:nvCxnSpPr>
        <p:spPr>
          <a:xfrm flipV="1">
            <a:off x="5762648" y="1516187"/>
            <a:ext cx="424099" cy="1647725"/>
          </a:xfrm>
          <a:prstGeom prst="curvedConnector2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B4106597-5500-FEA9-7554-53512EECAC2A}"/>
              </a:ext>
            </a:extLst>
          </p:cNvPr>
          <p:cNvSpPr/>
          <p:nvPr/>
        </p:nvSpPr>
        <p:spPr>
          <a:xfrm>
            <a:off x="2623641" y="1807860"/>
            <a:ext cx="1524776" cy="474809"/>
          </a:xfrm>
          <a:prstGeom prst="rect">
            <a:avLst/>
          </a:prstGeom>
          <a:noFill/>
          <a:ln w="635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F4A71B89-2EBE-4B46-A067-96B04F3726B7}"/>
              </a:ext>
            </a:extLst>
          </p:cNvPr>
          <p:cNvSpPr txBox="1"/>
          <p:nvPr/>
        </p:nvSpPr>
        <p:spPr>
          <a:xfrm>
            <a:off x="6554489" y="3146348"/>
            <a:ext cx="5716308" cy="30469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1. </a:t>
            </a:r>
            <a:r>
              <a:rPr lang="ko-KR" altLang="en-US" dirty="0"/>
              <a:t>회귀 </a:t>
            </a:r>
            <a:r>
              <a:rPr lang="en-US" altLang="ko-KR" dirty="0"/>
              <a:t>: Linear Regression, </a:t>
            </a:r>
          </a:p>
          <a:p>
            <a:r>
              <a:rPr lang="en-US" altLang="ko-KR" dirty="0"/>
              <a:t>           Generalized/Multiple/Polynomial/</a:t>
            </a:r>
          </a:p>
          <a:p>
            <a:r>
              <a:rPr lang="en-US" altLang="ko-KR" dirty="0"/>
              <a:t>           nonlinear/Regularized  Linear Regression</a:t>
            </a:r>
          </a:p>
          <a:p>
            <a:r>
              <a:rPr lang="en-US" altLang="ko-KR" dirty="0"/>
              <a:t>2. </a:t>
            </a:r>
            <a:r>
              <a:rPr lang="ko-KR" altLang="en-US" dirty="0"/>
              <a:t>분류 </a:t>
            </a:r>
            <a:r>
              <a:rPr lang="en-US" altLang="ko-KR" dirty="0"/>
              <a:t>: Logistic Regression, Naive Bayes</a:t>
            </a:r>
          </a:p>
          <a:p>
            <a:r>
              <a:rPr lang="en-US" altLang="ko-KR" dirty="0"/>
              <a:t>3. </a:t>
            </a:r>
            <a:r>
              <a:rPr lang="ko-KR" altLang="en-US" dirty="0"/>
              <a:t>회귀</a:t>
            </a:r>
            <a:r>
              <a:rPr lang="en-US" altLang="ko-KR" dirty="0"/>
              <a:t>+</a:t>
            </a:r>
            <a:r>
              <a:rPr lang="ko-KR" altLang="en-US" dirty="0"/>
              <a:t>분류 </a:t>
            </a:r>
            <a:r>
              <a:rPr lang="en-US" altLang="ko-KR" dirty="0"/>
              <a:t>: K-NN, SVM, Decision Tree, </a:t>
            </a:r>
          </a:p>
          <a:p>
            <a:r>
              <a:rPr lang="en-US" altLang="ko-KR" dirty="0"/>
              <a:t>                   Random Forest</a:t>
            </a:r>
          </a:p>
          <a:p>
            <a:r>
              <a:rPr lang="en-US" altLang="ko-KR" dirty="0"/>
              <a:t>4. </a:t>
            </a:r>
            <a:r>
              <a:rPr lang="ko-KR" altLang="en-US" dirty="0"/>
              <a:t>평가 </a:t>
            </a:r>
            <a:r>
              <a:rPr lang="en-US" altLang="ko-KR" dirty="0"/>
              <a:t>: </a:t>
            </a:r>
            <a:r>
              <a:rPr lang="ko-KR" altLang="en-US" dirty="0"/>
              <a:t>회귀</a:t>
            </a:r>
            <a:r>
              <a:rPr lang="en-US" altLang="ko-KR" sz="1600" dirty="0"/>
              <a:t>(ME, MAE, MSE, MSLE, RMSE, RMSLE, </a:t>
            </a:r>
          </a:p>
          <a:p>
            <a:r>
              <a:rPr lang="en-US" altLang="ko-KR" sz="1600" dirty="0"/>
              <a:t>                    MPE, MAPE, MASE, R2 score)</a:t>
            </a:r>
          </a:p>
          <a:p>
            <a:r>
              <a:rPr lang="ko-KR" altLang="en-US" dirty="0"/>
              <a:t>           분류</a:t>
            </a:r>
            <a:r>
              <a:rPr lang="en-US" altLang="ko-KR" sz="1600" dirty="0"/>
              <a:t>(Confusion Matrix, Accurancy, Precision, </a:t>
            </a:r>
          </a:p>
          <a:p>
            <a:r>
              <a:rPr lang="en-US" altLang="ko-KR" sz="1600" dirty="0"/>
              <a:t>                    Recall/Sensitivity, F1 score, Error Rate, </a:t>
            </a:r>
          </a:p>
          <a:p>
            <a:r>
              <a:rPr lang="en-US" altLang="ko-KR" sz="1600" dirty="0"/>
              <a:t>                    Specificity, Fall Out, ROC curve, AUC score)</a:t>
            </a:r>
          </a:p>
        </p:txBody>
      </p:sp>
      <p:sp>
        <p:nvSpPr>
          <p:cNvPr id="54" name="왼쪽 중괄호 53">
            <a:extLst>
              <a:ext uri="{FF2B5EF4-FFF2-40B4-BE49-F238E27FC236}">
                <a16:creationId xmlns:a16="http://schemas.microsoft.com/office/drawing/2014/main" id="{22C65FBA-3D7A-4104-ADB5-E70F1D5B08BB}"/>
              </a:ext>
            </a:extLst>
          </p:cNvPr>
          <p:cNvSpPr/>
          <p:nvPr/>
        </p:nvSpPr>
        <p:spPr>
          <a:xfrm>
            <a:off x="6130390" y="3307517"/>
            <a:ext cx="517720" cy="2262984"/>
          </a:xfrm>
          <a:prstGeom prst="leftBrac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cxnSp>
        <p:nvCxnSpPr>
          <p:cNvPr id="55" name="연결선: 구부러짐 54">
            <a:extLst>
              <a:ext uri="{FF2B5EF4-FFF2-40B4-BE49-F238E27FC236}">
                <a16:creationId xmlns:a16="http://schemas.microsoft.com/office/drawing/2014/main" id="{3B921C45-5C0A-4B4E-8EB2-F60574F3BE45}"/>
              </a:ext>
            </a:extLst>
          </p:cNvPr>
          <p:cNvCxnSpPr>
            <a:cxnSpLocks/>
            <a:stCxn id="12" idx="3"/>
            <a:endCxn id="54" idx="1"/>
          </p:cNvCxnSpPr>
          <p:nvPr/>
        </p:nvCxnSpPr>
        <p:spPr>
          <a:xfrm flipV="1">
            <a:off x="5992603" y="4439009"/>
            <a:ext cx="137787" cy="1"/>
          </a:xfrm>
          <a:prstGeom prst="curvedConnector3">
            <a:avLst>
              <a:gd name="adj1" fmla="val 50000"/>
            </a:avLst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084314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1C69E4-758A-C78E-A53D-3910B909E3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15A76F52-7E58-453D-EF02-1043B80A3F2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7081" y="0"/>
            <a:ext cx="2806070" cy="299085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8162636-D8A9-8842-AD3F-C0ABC4B93B15}"/>
              </a:ext>
            </a:extLst>
          </p:cNvPr>
          <p:cNvSpPr txBox="1"/>
          <p:nvPr/>
        </p:nvSpPr>
        <p:spPr>
          <a:xfrm>
            <a:off x="591044" y="930205"/>
            <a:ext cx="2118144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2400" b="1" dirty="0"/>
              <a:t>1</a:t>
            </a:r>
            <a:r>
              <a:rPr lang="ko-KR" altLang="en-US" sz="2400" b="1" dirty="0"/>
              <a:t>강</a:t>
            </a:r>
            <a:r>
              <a:rPr lang="en-US" altLang="ko-KR" sz="2400" b="1" dirty="0"/>
              <a:t>.</a:t>
            </a:r>
          </a:p>
          <a:p>
            <a:pPr algn="ctr"/>
            <a:endParaRPr lang="en-US" altLang="ko-KR" sz="1200" b="1" dirty="0"/>
          </a:p>
          <a:p>
            <a:pPr algn="ctr"/>
            <a:r>
              <a:rPr lang="en-US" altLang="ko-KR" sz="2400" b="1" dirty="0"/>
              <a:t>OT &amp; </a:t>
            </a:r>
          </a:p>
          <a:p>
            <a:pPr algn="ctr"/>
            <a:r>
              <a:rPr lang="en-US" altLang="ko-KR" sz="2400" b="1" dirty="0"/>
              <a:t>ML Overview</a:t>
            </a:r>
            <a:endParaRPr lang="ko-KR" altLang="en-US" sz="2400" b="1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1775B1F-08F4-5FDF-C262-90F15FD218DD}"/>
              </a:ext>
            </a:extLst>
          </p:cNvPr>
          <p:cNvSpPr txBox="1"/>
          <p:nvPr/>
        </p:nvSpPr>
        <p:spPr>
          <a:xfrm>
            <a:off x="336098" y="4470078"/>
            <a:ext cx="71526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b="1" dirty="0"/>
              <a:t>ML</a:t>
            </a:r>
            <a:endParaRPr lang="ko-KR" altLang="en-US" sz="2800" b="1" dirty="0">
              <a:solidFill>
                <a:srgbClr val="FF0000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2AA69D4-A1FE-E71D-908D-EC4F87100043}"/>
              </a:ext>
            </a:extLst>
          </p:cNvPr>
          <p:cNvSpPr txBox="1"/>
          <p:nvPr/>
        </p:nvSpPr>
        <p:spPr>
          <a:xfrm>
            <a:off x="3255920" y="202620"/>
            <a:ext cx="54854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b="1" dirty="0"/>
              <a:t>AI</a:t>
            </a:r>
            <a:endParaRPr lang="ko-KR" altLang="en-US" sz="2800" b="1" dirty="0">
              <a:solidFill>
                <a:srgbClr val="FF000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BCBE380-68B7-BF28-1547-C592067DFD17}"/>
              </a:ext>
            </a:extLst>
          </p:cNvPr>
          <p:cNvSpPr txBox="1"/>
          <p:nvPr/>
        </p:nvSpPr>
        <p:spPr>
          <a:xfrm>
            <a:off x="3690168" y="191460"/>
            <a:ext cx="8802410" cy="480131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▣ 전략기술 트렌트</a:t>
            </a:r>
            <a:r>
              <a:rPr lang="en-US" altLang="ko-KR" dirty="0"/>
              <a:t>(Gartner) : </a:t>
            </a:r>
          </a:p>
          <a:p>
            <a:r>
              <a:rPr lang="en-US" altLang="ko-KR" dirty="0"/>
              <a:t>     2026</a:t>
            </a:r>
            <a:r>
              <a:rPr lang="ko-KR" altLang="en-US" dirty="0"/>
              <a:t>년</a:t>
            </a:r>
            <a:r>
              <a:rPr lang="en-US" altLang="ko-KR" dirty="0"/>
              <a:t>, 2025</a:t>
            </a:r>
            <a:r>
              <a:rPr lang="ko-KR" altLang="en-US" dirty="0"/>
              <a:t>년</a:t>
            </a:r>
            <a:r>
              <a:rPr lang="en-US" altLang="ko-KR" dirty="0"/>
              <a:t>, 2024</a:t>
            </a:r>
            <a:r>
              <a:rPr lang="ko-KR" altLang="en-US" dirty="0"/>
              <a:t>년 </a:t>
            </a:r>
            <a:r>
              <a:rPr lang="en-US" altLang="ko-KR" dirty="0"/>
              <a:t>10</a:t>
            </a:r>
            <a:r>
              <a:rPr lang="ko-KR" altLang="en-US" dirty="0"/>
              <a:t>대 전략기술 트렌트</a:t>
            </a:r>
            <a:r>
              <a:rPr lang="en-US" altLang="ko-KR" dirty="0"/>
              <a:t>( </a:t>
            </a:r>
            <a:r>
              <a:rPr lang="ko-KR" altLang="en-US" dirty="0"/>
              <a:t>최근 </a:t>
            </a:r>
            <a:r>
              <a:rPr lang="en-US" altLang="ko-KR" dirty="0"/>
              <a:t>10</a:t>
            </a:r>
            <a:r>
              <a:rPr lang="ko-KR" altLang="en-US" dirty="0"/>
              <a:t>년간 목록</a:t>
            </a:r>
            <a:r>
              <a:rPr lang="en-US" altLang="ko-KR" dirty="0"/>
              <a:t>)</a:t>
            </a:r>
          </a:p>
          <a:p>
            <a:r>
              <a:rPr lang="en-US" altLang="ko-KR" dirty="0"/>
              <a:t>     2025</a:t>
            </a:r>
            <a:r>
              <a:rPr lang="ko-KR" altLang="en-US" dirty="0"/>
              <a:t>년</a:t>
            </a:r>
            <a:r>
              <a:rPr lang="en-US" altLang="ko-KR" dirty="0"/>
              <a:t>, 2024</a:t>
            </a:r>
            <a:r>
              <a:rPr lang="ko-KR" altLang="en-US" dirty="0"/>
              <a:t>년 </a:t>
            </a:r>
            <a:r>
              <a:rPr lang="en-US" altLang="ko-KR" dirty="0"/>
              <a:t>Hype Cycle for Emerging Technologies</a:t>
            </a:r>
          </a:p>
          <a:p>
            <a:r>
              <a:rPr lang="en-US" altLang="ko-KR" dirty="0"/>
              <a:t>     2025</a:t>
            </a:r>
            <a:r>
              <a:rPr lang="ko-KR" altLang="en-US" dirty="0"/>
              <a:t>년</a:t>
            </a:r>
            <a:r>
              <a:rPr lang="en-US" altLang="ko-KR" dirty="0"/>
              <a:t>, 2024</a:t>
            </a:r>
            <a:r>
              <a:rPr lang="ko-KR" altLang="en-US" dirty="0"/>
              <a:t>년 </a:t>
            </a:r>
            <a:r>
              <a:rPr lang="en-US" altLang="ko-KR" dirty="0"/>
              <a:t>Hype Cycle for AI</a:t>
            </a:r>
          </a:p>
          <a:p>
            <a:r>
              <a:rPr lang="en-US" altLang="ko-KR" dirty="0"/>
              <a:t> ▣ AI</a:t>
            </a:r>
            <a:r>
              <a:rPr lang="ko-KR" altLang="en-US" dirty="0"/>
              <a:t>의 역사</a:t>
            </a:r>
          </a:p>
          <a:p>
            <a:r>
              <a:rPr lang="ko-KR" altLang="en-US" dirty="0"/>
              <a:t>     </a:t>
            </a:r>
            <a:r>
              <a:rPr lang="en-US" altLang="ko-KR" dirty="0"/>
              <a:t>1. AI</a:t>
            </a:r>
            <a:r>
              <a:rPr lang="ko-KR" altLang="en-US" dirty="0"/>
              <a:t>의 태동기</a:t>
            </a:r>
            <a:r>
              <a:rPr lang="en-US" altLang="ko-KR" dirty="0"/>
              <a:t>(~ 1955</a:t>
            </a:r>
            <a:r>
              <a:rPr lang="ko-KR" altLang="en-US" dirty="0"/>
              <a:t>년</a:t>
            </a:r>
            <a:r>
              <a:rPr lang="en-US" altLang="ko-KR" dirty="0"/>
              <a:t>) : </a:t>
            </a:r>
            <a:r>
              <a:rPr lang="ko-KR" altLang="en-US" dirty="0"/>
              <a:t>튜링테스트</a:t>
            </a:r>
          </a:p>
          <a:p>
            <a:r>
              <a:rPr lang="ko-KR" altLang="en-US" dirty="0"/>
              <a:t>     </a:t>
            </a:r>
            <a:r>
              <a:rPr lang="en-US" altLang="ko-KR" dirty="0"/>
              <a:t>2. </a:t>
            </a:r>
            <a:r>
              <a:rPr lang="ko-KR" altLang="en-US" dirty="0"/>
              <a:t>데이터 기반 분석</a:t>
            </a:r>
            <a:r>
              <a:rPr lang="en-US" altLang="ko-KR" dirty="0"/>
              <a:t>(1956</a:t>
            </a:r>
            <a:r>
              <a:rPr lang="ko-KR" altLang="en-US" dirty="0"/>
              <a:t>년 </a:t>
            </a:r>
            <a:r>
              <a:rPr lang="en-US" altLang="ko-KR" dirty="0"/>
              <a:t>~ 1960</a:t>
            </a:r>
            <a:r>
              <a:rPr lang="ko-KR" altLang="en-US" dirty="0"/>
              <a:t>년대</a:t>
            </a:r>
            <a:r>
              <a:rPr lang="en-US" altLang="ko-KR" dirty="0"/>
              <a:t>) : </a:t>
            </a:r>
            <a:r>
              <a:rPr lang="ko-KR" altLang="en-US" dirty="0"/>
              <a:t>다트머스 회의</a:t>
            </a:r>
          </a:p>
          <a:p>
            <a:r>
              <a:rPr lang="ko-KR" altLang="en-US" dirty="0"/>
              <a:t>     </a:t>
            </a:r>
            <a:r>
              <a:rPr lang="en-US" altLang="ko-KR" dirty="0"/>
              <a:t>3. </a:t>
            </a:r>
            <a:r>
              <a:rPr lang="ko-KR" altLang="en-US" dirty="0"/>
              <a:t>첫번째 </a:t>
            </a:r>
            <a:r>
              <a:rPr lang="en-US" altLang="ko-KR" dirty="0"/>
              <a:t>AI</a:t>
            </a:r>
            <a:r>
              <a:rPr lang="ko-KR" altLang="en-US" dirty="0"/>
              <a:t>겨울</a:t>
            </a:r>
            <a:r>
              <a:rPr lang="en-US" altLang="ko-KR" dirty="0"/>
              <a:t>(1970</a:t>
            </a:r>
            <a:r>
              <a:rPr lang="ko-KR" altLang="en-US" dirty="0"/>
              <a:t>년대</a:t>
            </a:r>
            <a:r>
              <a:rPr lang="en-US" altLang="ko-KR" dirty="0"/>
              <a:t>) : </a:t>
            </a:r>
            <a:r>
              <a:rPr lang="ko-KR" altLang="en-US" dirty="0"/>
              <a:t>폭발적 조합의 증가문제 대처 불가</a:t>
            </a:r>
          </a:p>
          <a:p>
            <a:r>
              <a:rPr lang="ko-KR" altLang="en-US" dirty="0"/>
              <a:t>     </a:t>
            </a:r>
            <a:r>
              <a:rPr lang="en-US" altLang="ko-KR" dirty="0"/>
              <a:t>4. </a:t>
            </a:r>
            <a:r>
              <a:rPr lang="ko-KR" altLang="en-US" dirty="0"/>
              <a:t>전문가시스템 부상</a:t>
            </a:r>
            <a:r>
              <a:rPr lang="en-US" altLang="ko-KR" dirty="0"/>
              <a:t>,</a:t>
            </a:r>
            <a:r>
              <a:rPr lang="ko-KR" altLang="en-US" dirty="0"/>
              <a:t> 상업화</a:t>
            </a:r>
            <a:r>
              <a:rPr lang="en-US" altLang="ko-KR" dirty="0"/>
              <a:t>(1980</a:t>
            </a:r>
            <a:r>
              <a:rPr lang="ko-KR" altLang="en-US" dirty="0"/>
              <a:t>년대</a:t>
            </a:r>
            <a:r>
              <a:rPr lang="en-US" altLang="ko-KR" dirty="0"/>
              <a:t>) : </a:t>
            </a:r>
            <a:r>
              <a:rPr lang="ko-KR" altLang="en-US" dirty="0"/>
              <a:t>역전파 알고리즘</a:t>
            </a:r>
            <a:r>
              <a:rPr lang="en-US" altLang="ko-KR" dirty="0"/>
              <a:t>, </a:t>
            </a:r>
            <a:r>
              <a:rPr lang="ko-KR" altLang="en-US" dirty="0"/>
              <a:t>다중 퍼셉트론</a:t>
            </a:r>
          </a:p>
          <a:p>
            <a:r>
              <a:rPr lang="ko-KR" altLang="en-US" dirty="0"/>
              <a:t>     </a:t>
            </a:r>
            <a:r>
              <a:rPr lang="en-US" altLang="ko-KR" dirty="0"/>
              <a:t>5. </a:t>
            </a:r>
            <a:r>
              <a:rPr lang="ko-KR" altLang="en-US" dirty="0"/>
              <a:t>두 번째 </a:t>
            </a:r>
            <a:r>
              <a:rPr lang="en-US" altLang="ko-KR" dirty="0"/>
              <a:t>AI </a:t>
            </a:r>
            <a:r>
              <a:rPr lang="ko-KR" altLang="en-US" dirty="0"/>
              <a:t>겨울</a:t>
            </a:r>
            <a:r>
              <a:rPr lang="en-US" altLang="ko-KR" dirty="0"/>
              <a:t>(1987</a:t>
            </a:r>
            <a:r>
              <a:rPr lang="ko-KR" altLang="en-US" dirty="0"/>
              <a:t>년 </a:t>
            </a:r>
            <a:r>
              <a:rPr lang="en-US" altLang="ko-KR" dirty="0"/>
              <a:t>~ 1993</a:t>
            </a:r>
            <a:r>
              <a:rPr lang="ko-KR" altLang="en-US" dirty="0"/>
              <a:t>년</a:t>
            </a:r>
            <a:r>
              <a:rPr lang="en-US" altLang="ko-KR" dirty="0"/>
              <a:t>) : </a:t>
            </a:r>
            <a:r>
              <a:rPr lang="ko-KR" altLang="en-US" dirty="0"/>
              <a:t>전문가시스템 한계</a:t>
            </a:r>
          </a:p>
          <a:p>
            <a:r>
              <a:rPr lang="ko-KR" altLang="en-US" dirty="0"/>
              <a:t>     </a:t>
            </a:r>
            <a:r>
              <a:rPr lang="en-US" altLang="ko-KR" dirty="0"/>
              <a:t>6. </a:t>
            </a:r>
            <a:r>
              <a:rPr lang="ko-KR" altLang="en-US" dirty="0"/>
              <a:t>인공신경망 연구</a:t>
            </a:r>
            <a:r>
              <a:rPr lang="en-US" altLang="ko-KR" dirty="0"/>
              <a:t>(1993</a:t>
            </a:r>
            <a:r>
              <a:rPr lang="ko-KR" altLang="en-US" dirty="0"/>
              <a:t>년 </a:t>
            </a:r>
            <a:r>
              <a:rPr lang="en-US" altLang="ko-KR" dirty="0"/>
              <a:t>~ 2000</a:t>
            </a:r>
            <a:r>
              <a:rPr lang="ko-KR" altLang="en-US" dirty="0"/>
              <a:t>년</a:t>
            </a:r>
            <a:r>
              <a:rPr lang="en-US" altLang="ko-KR" dirty="0"/>
              <a:t>) : </a:t>
            </a:r>
            <a:r>
              <a:rPr lang="ko-KR" altLang="en-US" dirty="0"/>
              <a:t>빅데이터</a:t>
            </a:r>
          </a:p>
          <a:p>
            <a:r>
              <a:rPr lang="ko-KR" altLang="en-US" dirty="0"/>
              <a:t>     </a:t>
            </a:r>
            <a:r>
              <a:rPr lang="en-US" altLang="ko-KR" dirty="0"/>
              <a:t>7. </a:t>
            </a:r>
            <a:r>
              <a:rPr lang="ko-KR" altLang="en-US" dirty="0"/>
              <a:t>머신러닝과 딥러닝의 발전</a:t>
            </a:r>
            <a:r>
              <a:rPr lang="en-US" altLang="ko-KR" dirty="0"/>
              <a:t>(2000</a:t>
            </a:r>
            <a:r>
              <a:rPr lang="ko-KR" altLang="en-US" dirty="0"/>
              <a:t>년 </a:t>
            </a:r>
            <a:r>
              <a:rPr lang="en-US" altLang="ko-KR" dirty="0"/>
              <a:t>~ </a:t>
            </a:r>
            <a:r>
              <a:rPr lang="ko-KR" altLang="en-US" dirty="0"/>
              <a:t>현재</a:t>
            </a:r>
            <a:r>
              <a:rPr lang="en-US" altLang="ko-KR" dirty="0"/>
              <a:t>) : </a:t>
            </a:r>
            <a:r>
              <a:rPr lang="ko-KR" altLang="en-US" dirty="0"/>
              <a:t>딥러닝이 이미지 정확성 </a:t>
            </a:r>
            <a:r>
              <a:rPr lang="en-US" altLang="ko-KR" dirty="0"/>
              <a:t>100%, </a:t>
            </a:r>
          </a:p>
          <a:p>
            <a:r>
              <a:rPr lang="en-US" altLang="ko-KR" dirty="0"/>
              <a:t>                                                   </a:t>
            </a:r>
            <a:r>
              <a:rPr lang="ko-KR" altLang="en-US" dirty="0"/>
              <a:t>사람보다 뛰어난 챗</a:t>
            </a:r>
            <a:r>
              <a:rPr lang="en-US" altLang="ko-KR" dirty="0"/>
              <a:t>GPT </a:t>
            </a:r>
            <a:r>
              <a:rPr lang="ko-KR" altLang="en-US" dirty="0"/>
              <a:t>튜링테스트 실패</a:t>
            </a:r>
          </a:p>
          <a:p>
            <a:r>
              <a:rPr lang="ko-KR" altLang="en-US" dirty="0"/>
              <a:t> ▣ </a:t>
            </a:r>
            <a:r>
              <a:rPr lang="en-US" altLang="ko-KR" dirty="0"/>
              <a:t>AI</a:t>
            </a:r>
            <a:r>
              <a:rPr lang="ko-KR" altLang="en-US" dirty="0"/>
              <a:t>의 정의</a:t>
            </a:r>
            <a:r>
              <a:rPr lang="en-US" altLang="ko-KR" dirty="0"/>
              <a:t>, AI</a:t>
            </a:r>
            <a:r>
              <a:rPr lang="ko-KR" altLang="en-US" dirty="0"/>
              <a:t>의 정의</a:t>
            </a:r>
            <a:r>
              <a:rPr lang="en-US" altLang="ko-KR" dirty="0"/>
              <a:t>(</a:t>
            </a:r>
            <a:r>
              <a:rPr lang="ko-KR" altLang="en-US" dirty="0"/>
              <a:t>최근 </a:t>
            </a:r>
            <a:r>
              <a:rPr lang="en-US" altLang="ko-KR" dirty="0"/>
              <a:t>IT</a:t>
            </a:r>
            <a:r>
              <a:rPr lang="ko-KR" altLang="en-US" dirty="0"/>
              <a:t>기업</a:t>
            </a:r>
            <a:r>
              <a:rPr lang="en-US" altLang="ko-KR" dirty="0"/>
              <a:t>)</a:t>
            </a:r>
          </a:p>
          <a:p>
            <a:r>
              <a:rPr lang="en-US" altLang="ko-KR" dirty="0"/>
              <a:t> ▣ AI</a:t>
            </a:r>
            <a:r>
              <a:rPr lang="ko-KR" altLang="en-US" dirty="0"/>
              <a:t>의 유형 </a:t>
            </a:r>
            <a:r>
              <a:rPr lang="en-US" altLang="ko-KR" dirty="0"/>
              <a:t>: </a:t>
            </a:r>
            <a:r>
              <a:rPr lang="ko-KR" altLang="en-US" dirty="0"/>
              <a:t>단순</a:t>
            </a:r>
            <a:r>
              <a:rPr lang="en-US" altLang="ko-KR" dirty="0"/>
              <a:t>AI(</a:t>
            </a:r>
            <a:r>
              <a:rPr lang="ko-KR" altLang="en-US" dirty="0"/>
              <a:t>약</a:t>
            </a:r>
            <a:r>
              <a:rPr lang="en-US" altLang="ko-KR" dirty="0"/>
              <a:t>AI:</a:t>
            </a:r>
            <a:r>
              <a:rPr lang="ko-KR" altLang="en-US" dirty="0"/>
              <a:t>왓슨</a:t>
            </a:r>
            <a:r>
              <a:rPr lang="en-US" altLang="ko-KR" dirty="0"/>
              <a:t>, </a:t>
            </a:r>
            <a:r>
              <a:rPr lang="ko-KR" altLang="en-US" dirty="0"/>
              <a:t>알파고</a:t>
            </a:r>
            <a:r>
              <a:rPr lang="en-US" altLang="ko-KR" dirty="0"/>
              <a:t>), </a:t>
            </a:r>
            <a:r>
              <a:rPr lang="ko-KR" altLang="en-US" dirty="0"/>
              <a:t>일반</a:t>
            </a:r>
            <a:r>
              <a:rPr lang="en-US" altLang="ko-KR" dirty="0"/>
              <a:t>AI(</a:t>
            </a:r>
            <a:r>
              <a:rPr lang="ko-KR" altLang="en-US" dirty="0"/>
              <a:t>강</a:t>
            </a:r>
            <a:r>
              <a:rPr lang="en-US" altLang="ko-KR" dirty="0"/>
              <a:t>AI:AI</a:t>
            </a:r>
            <a:r>
              <a:rPr lang="ko-KR" altLang="en-US" dirty="0"/>
              <a:t>로봇</a:t>
            </a:r>
            <a:r>
              <a:rPr lang="en-US" altLang="ko-KR" dirty="0"/>
              <a:t>), ASI(</a:t>
            </a:r>
            <a:r>
              <a:rPr lang="ko-KR" altLang="en-US" dirty="0"/>
              <a:t>인공슈퍼지능</a:t>
            </a:r>
            <a:r>
              <a:rPr lang="en-US" altLang="ko-KR" dirty="0"/>
              <a:t>)</a:t>
            </a:r>
          </a:p>
          <a:p>
            <a:r>
              <a:rPr lang="en-US" altLang="ko-KR" dirty="0"/>
              <a:t> ▣ AI</a:t>
            </a:r>
            <a:r>
              <a:rPr lang="ko-KR" altLang="en-US" dirty="0"/>
              <a:t>의 활용 분야 </a:t>
            </a:r>
            <a:r>
              <a:rPr lang="en-US" altLang="ko-KR" dirty="0"/>
              <a:t>: 2019 </a:t>
            </a:r>
            <a:r>
              <a:rPr lang="ko-KR" altLang="en-US" dirty="0"/>
              <a:t>보도자료 </a:t>
            </a:r>
            <a:r>
              <a:rPr lang="en-US" altLang="ko-KR" dirty="0"/>
              <a:t>+ </a:t>
            </a:r>
            <a:r>
              <a:rPr lang="ko-KR" altLang="en-US" dirty="0"/>
              <a:t>추가</a:t>
            </a:r>
          </a:p>
          <a:p>
            <a:r>
              <a:rPr lang="ko-KR" altLang="en-US" dirty="0"/>
              <a:t> ▣ </a:t>
            </a:r>
            <a:r>
              <a:rPr lang="en-US" altLang="ko-KR" dirty="0"/>
              <a:t>AI, ML, DL </a:t>
            </a:r>
            <a:r>
              <a:rPr lang="ko-KR" altLang="en-US" dirty="0"/>
              <a:t>개념도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B2C3B7B-F12D-3F1F-B2A4-588ABB051183}"/>
              </a:ext>
            </a:extLst>
          </p:cNvPr>
          <p:cNvSpPr txBox="1"/>
          <p:nvPr/>
        </p:nvSpPr>
        <p:spPr>
          <a:xfrm>
            <a:off x="247081" y="5093751"/>
            <a:ext cx="10974479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 ▣ 트렌트</a:t>
            </a:r>
            <a:r>
              <a:rPr lang="en-US" altLang="ko-KR" dirty="0"/>
              <a:t>(Google Trends) </a:t>
            </a:r>
          </a:p>
          <a:p>
            <a:r>
              <a:rPr lang="en-US" altLang="ko-KR" dirty="0"/>
              <a:t> ▣ ML</a:t>
            </a:r>
            <a:r>
              <a:rPr lang="ko-KR" altLang="en-US" dirty="0"/>
              <a:t>의 정의 </a:t>
            </a:r>
            <a:r>
              <a:rPr lang="en-US" altLang="ko-KR" dirty="0"/>
              <a:t>:  </a:t>
            </a:r>
            <a:r>
              <a:rPr lang="ko-KR" altLang="en-US" dirty="0"/>
              <a:t>명시적으로 프로그래밍하지 않고 많은 양의 데이터를 제공하여 많은 </a:t>
            </a:r>
            <a:r>
              <a:rPr lang="en-US" altLang="ko-KR" dirty="0"/>
              <a:t>'</a:t>
            </a:r>
            <a:r>
              <a:rPr lang="ko-KR" altLang="en-US" dirty="0"/>
              <a:t>경험</a:t>
            </a:r>
            <a:r>
              <a:rPr lang="en-US" altLang="ko-KR" dirty="0"/>
              <a:t>'</a:t>
            </a:r>
            <a:r>
              <a:rPr lang="ko-KR" altLang="en-US" dirty="0"/>
              <a:t>을 쌓으면서 </a:t>
            </a:r>
            <a:endParaRPr lang="en-US" altLang="ko-KR" dirty="0"/>
          </a:p>
          <a:p>
            <a:r>
              <a:rPr lang="en-US" altLang="ko-KR" dirty="0"/>
              <a:t>                      </a:t>
            </a:r>
            <a:r>
              <a:rPr lang="ko-KR" altLang="en-US" dirty="0"/>
              <a:t>시스템이 자율적으로 학습하고 개선할 수 있게 하는 것</a:t>
            </a:r>
            <a:endParaRPr lang="en-US" altLang="ko-KR" dirty="0"/>
          </a:p>
          <a:p>
            <a:r>
              <a:rPr lang="en-US" altLang="ko-KR" dirty="0"/>
              <a:t> ▣ ML</a:t>
            </a:r>
            <a:r>
              <a:rPr lang="ko-KR" altLang="en-US" dirty="0"/>
              <a:t>의 절차 </a:t>
            </a:r>
            <a:r>
              <a:rPr lang="en-US" altLang="ko-KR" dirty="0"/>
              <a:t>: ① </a:t>
            </a:r>
            <a:r>
              <a:rPr lang="ko-KR" altLang="en-US" dirty="0"/>
              <a:t>데이터 입수</a:t>
            </a:r>
            <a:r>
              <a:rPr lang="en-US" altLang="ko-KR" dirty="0"/>
              <a:t>②</a:t>
            </a:r>
            <a:r>
              <a:rPr lang="ko-KR" altLang="en-US" dirty="0"/>
              <a:t>데이터 확인</a:t>
            </a:r>
            <a:r>
              <a:rPr lang="en-US" altLang="ko-KR" dirty="0"/>
              <a:t>(</a:t>
            </a:r>
            <a:r>
              <a:rPr lang="ko-KR" altLang="en-US" dirty="0"/>
              <a:t>시각화</a:t>
            </a:r>
            <a:r>
              <a:rPr lang="en-US" altLang="ko-KR" dirty="0"/>
              <a:t>), ③</a:t>
            </a:r>
            <a:r>
              <a:rPr lang="ko-KR" altLang="en-US" dirty="0"/>
              <a:t>데이터 전처리</a:t>
            </a:r>
            <a:r>
              <a:rPr lang="en-US" altLang="ko-KR" dirty="0"/>
              <a:t>, ④</a:t>
            </a:r>
            <a:r>
              <a:rPr lang="ko-KR" altLang="en-US" dirty="0"/>
              <a:t>데이터 준비 </a:t>
            </a:r>
          </a:p>
          <a:p>
            <a:r>
              <a:rPr lang="ko-KR" altLang="en-US" dirty="0"/>
              <a:t>                     ⑤ </a:t>
            </a:r>
            <a:r>
              <a:rPr lang="en-US" altLang="ko-KR" dirty="0"/>
              <a:t>ML</a:t>
            </a:r>
            <a:r>
              <a:rPr lang="ko-KR" altLang="en-US" dirty="0"/>
              <a:t>알고리즘 학습</a:t>
            </a:r>
            <a:r>
              <a:rPr lang="en-US" altLang="ko-KR" dirty="0"/>
              <a:t>, ⑥</a:t>
            </a:r>
            <a:r>
              <a:rPr lang="ko-KR" altLang="en-US" dirty="0"/>
              <a:t>평가 ⑦개선 ⑧반복</a:t>
            </a:r>
          </a:p>
        </p:txBody>
      </p:sp>
    </p:spTree>
    <p:extLst>
      <p:ext uri="{BB962C8B-B14F-4D97-AF65-F5344CB8AC3E}">
        <p14:creationId xmlns:p14="http://schemas.microsoft.com/office/powerpoint/2010/main" val="17755495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B2644D-339B-C914-72D4-B1854E2206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95E1C1AA-1915-C11D-451D-0C10294A933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22914" y="1203649"/>
            <a:ext cx="4450702" cy="430141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4D2571C-DEB5-B5F3-A192-00E50638052D}"/>
              </a:ext>
            </a:extLst>
          </p:cNvPr>
          <p:cNvSpPr txBox="1"/>
          <p:nvPr/>
        </p:nvSpPr>
        <p:spPr>
          <a:xfrm>
            <a:off x="4085513" y="2669308"/>
            <a:ext cx="3823483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3200" b="1" dirty="0"/>
              <a:t>2</a:t>
            </a:r>
            <a:r>
              <a:rPr lang="ko-KR" altLang="en-US" sz="3200" b="1" dirty="0"/>
              <a:t>강</a:t>
            </a:r>
            <a:r>
              <a:rPr lang="en-US" altLang="ko-KR" sz="3200" b="1" dirty="0"/>
              <a:t>.</a:t>
            </a:r>
          </a:p>
          <a:p>
            <a:pPr algn="ctr"/>
            <a:endParaRPr lang="en-US" altLang="ko-KR" sz="1600" b="1" dirty="0"/>
          </a:p>
          <a:p>
            <a:pPr algn="ctr"/>
            <a:r>
              <a:rPr lang="en-US" altLang="ko-KR" sz="3200" b="1" dirty="0"/>
              <a:t>Data Management</a:t>
            </a:r>
            <a:endParaRPr lang="ko-KR" altLang="en-US" sz="3200" b="1" dirty="0"/>
          </a:p>
        </p:txBody>
      </p:sp>
    </p:spTree>
    <p:extLst>
      <p:ext uri="{BB962C8B-B14F-4D97-AF65-F5344CB8AC3E}">
        <p14:creationId xmlns:p14="http://schemas.microsoft.com/office/powerpoint/2010/main" val="6444753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5264</TotalTime>
  <Words>613</Words>
  <Application>Microsoft Office PowerPoint</Application>
  <PresentationFormat>와이드스크린</PresentationFormat>
  <Paragraphs>84</Paragraphs>
  <Slides>6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</vt:i4>
      </vt:variant>
    </vt:vector>
  </HeadingPairs>
  <TitlesOfParts>
    <vt:vector size="9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양희정</dc:creator>
  <cp:lastModifiedBy>양 희정</cp:lastModifiedBy>
  <cp:revision>212</cp:revision>
  <cp:lastPrinted>2026-03-11T07:44:21Z</cp:lastPrinted>
  <dcterms:created xsi:type="dcterms:W3CDTF">2026-02-24T07:28:13Z</dcterms:created>
  <dcterms:modified xsi:type="dcterms:W3CDTF">2026-03-12T05:25:02Z</dcterms:modified>
</cp:coreProperties>
</file>
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24" r:id="rId2"/>
    <p:sldId id="326" r:id="rId3"/>
    <p:sldId id="344" r:id="rId4"/>
    <p:sldId id="346" r:id="rId5"/>
    <p:sldId id="345" r:id="rId6"/>
    <p:sldId id="347" r:id="rId7"/>
    <p:sldId id="350" r:id="rId8"/>
    <p:sldId id="348" r:id="rId9"/>
    <p:sldId id="349" r:id="rId10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35" autoAdjust="0"/>
    <p:restoredTop sz="86437" autoAdjust="0"/>
  </p:normalViewPr>
  <p:slideViewPr>
    <p:cSldViewPr snapToGrid="0">
      <p:cViewPr varScale="1">
        <p:scale>
          <a:sx n="71" d="100"/>
          <a:sy n="71" d="100"/>
        </p:scale>
        <p:origin x="749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1397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2026-03-29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2780656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7353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머신러닝 기반의 연구방법론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698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https://github.com/yangguibee/ML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rgbClr val="C00000"/>
                </a:solidFill>
              </a:rPr>
              <a:t>제</a:t>
            </a:r>
            <a:r>
              <a:rPr lang="en-US" altLang="ko-KR" sz="3200" b="1">
                <a:solidFill>
                  <a:srgbClr val="C00000"/>
                </a:solidFill>
              </a:rPr>
              <a:t>5</a:t>
            </a:r>
            <a:r>
              <a:rPr lang="ko-KR" altLang="en-US" sz="3200" b="1">
                <a:solidFill>
                  <a:srgbClr val="C00000"/>
                </a:solidFill>
              </a:rPr>
              <a:t>강</a:t>
            </a:r>
            <a:endParaRPr lang="ko-KR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F66D23A-6A05-4983-8D4A-D5942C76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63" y="1190694"/>
            <a:ext cx="11713863" cy="4920655"/>
          </a:xfrm>
          <a:prstGeom prst="rect">
            <a:avLst/>
          </a:prstGeom>
        </p:spPr>
      </p:pic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225962" y="2606788"/>
            <a:ext cx="11713863" cy="31081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개요 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데이터 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연구방법론 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 학습 ④⑤⑥⑦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441453" y="213864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비지도학습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</a:t>
            </a:r>
            <a:endParaRPr lang="en-US" altLang="ko-KR" sz="2400" b="1" dirty="0"/>
          </a:p>
          <a:p>
            <a:r>
              <a:rPr lang="ko-KR" altLang="en-US" sz="2400" b="1" dirty="0"/>
              <a:t>강화학습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2589985" y="3531330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중간고사 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 ⑨⑩⑪⑫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강화학습 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기말고사 </a:t>
            </a:r>
            <a:r>
              <a:rPr lang="en-US" altLang="ko-KR" sz="1600" b="1" dirty="0"/>
              <a:t>(16)</a:t>
            </a:r>
            <a:endParaRPr lang="en-US" altLang="ko-KR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524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 Study ⑭⑮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2165002" y="1516188"/>
            <a:ext cx="424983" cy="85329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2165002" y="2065429"/>
            <a:ext cx="424983" cy="30405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165002" y="2369482"/>
            <a:ext cx="424983" cy="24518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165002" y="2369482"/>
            <a:ext cx="424983" cy="79443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2165002" y="2369482"/>
            <a:ext cx="424983" cy="139268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1857225" y="4439010"/>
            <a:ext cx="1379495" cy="69003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1857225" y="4926051"/>
            <a:ext cx="1379495" cy="20299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857225" y="5129048"/>
            <a:ext cx="1379495" cy="28404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1857225" y="5129048"/>
            <a:ext cx="1379495" cy="77108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B5F04-8CA4-3BA8-586E-EC3CFCB9287F}"/>
              </a:ext>
            </a:extLst>
          </p:cNvPr>
          <p:cNvSpPr txBox="1"/>
          <p:nvPr/>
        </p:nvSpPr>
        <p:spPr>
          <a:xfrm>
            <a:off x="6814760" y="187001"/>
            <a:ext cx="489044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시각화 </a:t>
            </a:r>
            <a:r>
              <a:rPr lang="en-US" altLang="ko-KR" dirty="0"/>
              <a:t>: Matplotlib, Seaborn, Orange3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군집화 </a:t>
            </a:r>
            <a:r>
              <a:rPr lang="en-US" altLang="ko-KR" dirty="0"/>
              <a:t>: Partitioning, Hierarchical, </a:t>
            </a:r>
          </a:p>
          <a:p>
            <a:r>
              <a:rPr lang="en-US" altLang="ko-KR" dirty="0"/>
              <a:t>              Density, Grid, Model,</a:t>
            </a:r>
          </a:p>
          <a:p>
            <a:r>
              <a:rPr lang="en-US" altLang="ko-KR" dirty="0"/>
              <a:t>              Graph -Based Clustering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연관규칙 </a:t>
            </a:r>
            <a:r>
              <a:rPr lang="en-US" altLang="ko-KR" dirty="0"/>
              <a:t>: Apriori, FP-Growth, Eclat,</a:t>
            </a:r>
          </a:p>
          <a:p>
            <a:r>
              <a:rPr lang="en-US" altLang="ko-KR" dirty="0"/>
              <a:t>                 MLAR, MDAR, AIS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차원축소 </a:t>
            </a:r>
            <a:r>
              <a:rPr lang="en-US" altLang="ko-KR" dirty="0"/>
              <a:t>: PCA, t-SNE, UMAP, SVD, ICA, </a:t>
            </a:r>
          </a:p>
          <a:p>
            <a:r>
              <a:rPr lang="en-US" altLang="ko-KR" dirty="0"/>
              <a:t>                 LDA, Isomap, MDS, SOM, NMF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군집</a:t>
            </a:r>
            <a:r>
              <a:rPr lang="en-US" altLang="ko-KR" dirty="0"/>
              <a:t>, </a:t>
            </a:r>
            <a:r>
              <a:rPr lang="ko-KR" altLang="en-US" dirty="0"/>
              <a:t>연관규칙</a:t>
            </a:r>
            <a:r>
              <a:rPr lang="en-US" altLang="ko-KR" dirty="0"/>
              <a:t>, </a:t>
            </a:r>
            <a:r>
              <a:rPr lang="ko-KR" altLang="en-US" dirty="0"/>
              <a:t>차원축소</a:t>
            </a:r>
            <a:endParaRPr lang="en-US" altLang="ko-KR" dirty="0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E43CB37F-61B0-1B45-6B28-FCA0EEC00999}"/>
              </a:ext>
            </a:extLst>
          </p:cNvPr>
          <p:cNvSpPr/>
          <p:nvPr/>
        </p:nvSpPr>
        <p:spPr>
          <a:xfrm>
            <a:off x="6297040" y="370191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BE293F5-BB91-8FB0-9BBC-9680A78EB12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2648" y="1516187"/>
            <a:ext cx="424099" cy="1647725"/>
          </a:xfrm>
          <a:prstGeom prst="curved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552153" y="2888105"/>
            <a:ext cx="2517120" cy="551611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A71B89-2EBE-4B46-A067-96B04F3726B7}"/>
              </a:ext>
            </a:extLst>
          </p:cNvPr>
          <p:cNvSpPr txBox="1"/>
          <p:nvPr/>
        </p:nvSpPr>
        <p:spPr>
          <a:xfrm>
            <a:off x="6554489" y="3146348"/>
            <a:ext cx="57163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회귀 </a:t>
            </a:r>
            <a:r>
              <a:rPr lang="en-US" altLang="ko-KR" dirty="0"/>
              <a:t>: Linear Regression, </a:t>
            </a:r>
          </a:p>
          <a:p>
            <a:r>
              <a:rPr lang="en-US" altLang="ko-KR" dirty="0"/>
              <a:t>           Generalized/Multiple/Polynomial/</a:t>
            </a:r>
          </a:p>
          <a:p>
            <a:r>
              <a:rPr lang="en-US" altLang="ko-KR" dirty="0"/>
              <a:t>           nonlinear/Regularized  Linear Regression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분류 </a:t>
            </a:r>
            <a:r>
              <a:rPr lang="en-US" altLang="ko-KR" dirty="0"/>
              <a:t>: Logistic Regression, Naive Bayes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회귀</a:t>
            </a:r>
            <a:r>
              <a:rPr lang="en-US" altLang="ko-KR" dirty="0"/>
              <a:t>+</a:t>
            </a:r>
            <a:r>
              <a:rPr lang="ko-KR" altLang="en-US" dirty="0"/>
              <a:t>분류 </a:t>
            </a:r>
            <a:r>
              <a:rPr lang="en-US" altLang="ko-KR" dirty="0"/>
              <a:t>: K-NN, SVM, Decision Tree, </a:t>
            </a:r>
          </a:p>
          <a:p>
            <a:r>
              <a:rPr lang="en-US" altLang="ko-KR" dirty="0"/>
              <a:t>                   Random Forest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회귀</a:t>
            </a:r>
            <a:r>
              <a:rPr lang="en-US" altLang="ko-KR" sz="1600" dirty="0"/>
              <a:t>(ME, MAE, MSE, MSLE, RMSE, RMSLE, </a:t>
            </a:r>
          </a:p>
          <a:p>
            <a:r>
              <a:rPr lang="en-US" altLang="ko-KR" sz="1600" dirty="0"/>
              <a:t>                    MPE, MAPE, MASE, R2 score)</a:t>
            </a:r>
          </a:p>
          <a:p>
            <a:r>
              <a:rPr lang="ko-KR" altLang="en-US" dirty="0"/>
              <a:t>           분류</a:t>
            </a:r>
            <a:r>
              <a:rPr lang="en-US" altLang="ko-KR" sz="1600" dirty="0"/>
              <a:t>(Confusion Matrix, Accurancy, Precision, </a:t>
            </a:r>
          </a:p>
          <a:p>
            <a:r>
              <a:rPr lang="en-US" altLang="ko-KR" sz="1600" dirty="0"/>
              <a:t>                    Recall/Sensitivity, F1 score, Error Rate, </a:t>
            </a:r>
          </a:p>
          <a:p>
            <a:r>
              <a:rPr lang="en-US" altLang="ko-KR" sz="1600" dirty="0"/>
              <a:t>                    Specificity, Fall Out, ROC curve, AUC score)</a:t>
            </a:r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22C65FBA-3D7A-4104-ADB5-E70F1D5B08BB}"/>
              </a:ext>
            </a:extLst>
          </p:cNvPr>
          <p:cNvSpPr/>
          <p:nvPr/>
        </p:nvSpPr>
        <p:spPr>
          <a:xfrm>
            <a:off x="6130390" y="3307517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3B921C45-5C0A-4B4E-8EB2-F60574F3BE45}"/>
              </a:ext>
            </a:extLst>
          </p:cNvPr>
          <p:cNvCxnSpPr>
            <a:cxnSpLocks/>
            <a:stCxn id="12" idx="3"/>
            <a:endCxn id="54" idx="1"/>
          </p:cNvCxnSpPr>
          <p:nvPr/>
        </p:nvCxnSpPr>
        <p:spPr>
          <a:xfrm flipV="1">
            <a:off x="5992603" y="4439009"/>
            <a:ext cx="137787" cy="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1CC8-DC4F-8122-DE1B-2270C58D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E696818-B0C9-87B6-B0A6-B1BF64DDA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81" y="0"/>
            <a:ext cx="2806070" cy="2990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DF7CC4-29D3-7B97-FCB3-77B94524FAE3}"/>
              </a:ext>
            </a:extLst>
          </p:cNvPr>
          <p:cNvSpPr txBox="1"/>
          <p:nvPr/>
        </p:nvSpPr>
        <p:spPr>
          <a:xfrm>
            <a:off x="432477" y="930205"/>
            <a:ext cx="24352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4</a:t>
            </a:r>
            <a:r>
              <a:rPr lang="ko-KR" altLang="en-US" sz="2400" b="1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2400" b="1"/>
              <a:t>비지도학습</a:t>
            </a:r>
            <a:r>
              <a:rPr lang="en-US" altLang="ko-KR" sz="2400" b="1"/>
              <a:t>(1/4)</a:t>
            </a:r>
          </a:p>
          <a:p>
            <a:pPr algn="ctr"/>
            <a:endParaRPr lang="en-US" altLang="ko-KR" sz="1000" b="1"/>
          </a:p>
          <a:p>
            <a:pPr algn="ctr"/>
            <a:r>
              <a:rPr lang="ko-KR" altLang="en-US" sz="2400" b="1"/>
              <a:t>시각화</a:t>
            </a:r>
            <a:endParaRPr lang="ko-KR" alt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592F0A-9F19-6D69-0624-9293E8E44771}"/>
              </a:ext>
            </a:extLst>
          </p:cNvPr>
          <p:cNvSpPr txBox="1"/>
          <p:nvPr/>
        </p:nvSpPr>
        <p:spPr>
          <a:xfrm>
            <a:off x="3399416" y="930205"/>
            <a:ext cx="38696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1. </a:t>
            </a:r>
            <a:r>
              <a:rPr lang="ko-KR" altLang="en-US"/>
              <a:t>선 그래프</a:t>
            </a:r>
            <a:r>
              <a:rPr lang="en-US" altLang="ko-KR" sz="1600"/>
              <a:t>(Line Plot)</a:t>
            </a:r>
            <a:endParaRPr lang="en-US" altLang="ko-KR"/>
          </a:p>
          <a:p>
            <a:pPr latinLnBrk="0"/>
            <a:r>
              <a:rPr lang="en-US" altLang="ko-KR"/>
              <a:t>2. </a:t>
            </a:r>
            <a:r>
              <a:rPr lang="ko-KR" altLang="en-US"/>
              <a:t>산점도</a:t>
            </a:r>
            <a:r>
              <a:rPr lang="en-US" altLang="ko-KR" sz="1600"/>
              <a:t>(Scatter Plot)</a:t>
            </a:r>
          </a:p>
          <a:p>
            <a:pPr latinLnBrk="0"/>
            <a:r>
              <a:rPr lang="en-US" altLang="ko-KR"/>
              <a:t>3. </a:t>
            </a:r>
            <a:r>
              <a:rPr lang="ko-KR" altLang="en-US"/>
              <a:t>막대 그래프</a:t>
            </a:r>
            <a:r>
              <a:rPr lang="en-US" altLang="ko-KR" sz="1600"/>
              <a:t>(Bar Plot)</a:t>
            </a:r>
          </a:p>
          <a:p>
            <a:pPr latinLnBrk="0"/>
            <a:r>
              <a:rPr lang="en-US" altLang="ko-KR"/>
              <a:t>4. </a:t>
            </a:r>
            <a:r>
              <a:rPr lang="ko-KR" altLang="en-US"/>
              <a:t>히스토그램</a:t>
            </a:r>
            <a:r>
              <a:rPr lang="en-US" altLang="ko-KR" sz="1600"/>
              <a:t>(Histogram)</a:t>
            </a:r>
          </a:p>
          <a:p>
            <a:pPr latinLnBrk="0"/>
            <a:r>
              <a:rPr lang="en-US" altLang="ko-KR"/>
              <a:t>5. </a:t>
            </a:r>
            <a:r>
              <a:rPr lang="ko-KR" altLang="en-US"/>
              <a:t>박스 플롯</a:t>
            </a:r>
            <a:r>
              <a:rPr lang="en-US" altLang="ko-KR" sz="1600"/>
              <a:t>(Box Plot)</a:t>
            </a:r>
            <a:endParaRPr lang="en-US" altLang="ko-KR"/>
          </a:p>
          <a:p>
            <a:pPr latinLnBrk="0"/>
            <a:r>
              <a:rPr lang="en-US" altLang="ko-KR"/>
              <a:t>6. </a:t>
            </a:r>
            <a:r>
              <a:rPr lang="ko-KR" altLang="en-US"/>
              <a:t>파이 차트</a:t>
            </a:r>
            <a:r>
              <a:rPr lang="en-US" altLang="ko-KR" sz="1600"/>
              <a:t>(Pie Chart)</a:t>
            </a:r>
          </a:p>
          <a:p>
            <a:pPr latinLnBrk="0"/>
            <a:r>
              <a:rPr lang="en-US" altLang="ko-KR"/>
              <a:t>7. </a:t>
            </a:r>
            <a:r>
              <a:rPr lang="ko-KR" altLang="en-US"/>
              <a:t>히트맵</a:t>
            </a:r>
            <a:r>
              <a:rPr lang="en-US" altLang="ko-KR" sz="1600"/>
              <a:t>(Heatmap)</a:t>
            </a:r>
          </a:p>
          <a:p>
            <a:pPr latinLnBrk="0"/>
            <a:r>
              <a:rPr lang="en-US" altLang="ko-KR"/>
              <a:t>8. </a:t>
            </a:r>
            <a:r>
              <a:rPr lang="ko-KR" altLang="en-US"/>
              <a:t>누적 막대 그래프</a:t>
            </a:r>
            <a:r>
              <a:rPr lang="en-US" altLang="ko-KR" sz="1600"/>
              <a:t>(Stacked Bar Plot)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B9254-36E7-ED55-1944-D63A0CE7835B}"/>
              </a:ext>
            </a:extLst>
          </p:cNvPr>
          <p:cNvSpPr txBox="1"/>
          <p:nvPr/>
        </p:nvSpPr>
        <p:spPr>
          <a:xfrm>
            <a:off x="3859935" y="3619472"/>
            <a:ext cx="75107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>
                <a:solidFill>
                  <a:srgbClr val="0000FF"/>
                </a:solidFill>
              </a:rPr>
              <a:t>17. </a:t>
            </a:r>
            <a:r>
              <a:rPr lang="ko-KR" altLang="en-US">
                <a:solidFill>
                  <a:srgbClr val="0000FF"/>
                </a:solidFill>
              </a:rPr>
              <a:t>혼동 행렬 히트맵</a:t>
            </a:r>
            <a:r>
              <a:rPr lang="en-US" altLang="ko-KR" sz="1600">
                <a:solidFill>
                  <a:srgbClr val="0000FF"/>
                </a:solidFill>
              </a:rPr>
              <a:t>(Confusion Matrix Heatmap)</a:t>
            </a:r>
          </a:p>
          <a:p>
            <a:pPr latinLnBrk="0"/>
            <a:r>
              <a:rPr lang="en-US" altLang="ko-KR">
                <a:solidFill>
                  <a:srgbClr val="0000FF"/>
                </a:solidFill>
              </a:rPr>
              <a:t>18. ROC </a:t>
            </a:r>
            <a:r>
              <a:rPr lang="ko-KR" altLang="en-US">
                <a:solidFill>
                  <a:srgbClr val="0000FF"/>
                </a:solidFill>
              </a:rPr>
              <a:t>곡선</a:t>
            </a:r>
            <a:r>
              <a:rPr lang="en-US" altLang="ko-KR">
                <a:solidFill>
                  <a:srgbClr val="0000FF"/>
                </a:solidFill>
              </a:rPr>
              <a:t>/PR </a:t>
            </a:r>
            <a:r>
              <a:rPr lang="ko-KR" altLang="en-US">
                <a:solidFill>
                  <a:srgbClr val="0000FF"/>
                </a:solidFill>
              </a:rPr>
              <a:t>곡선</a:t>
            </a:r>
            <a:r>
              <a:rPr lang="en-US" altLang="ko-KR" sz="1600">
                <a:solidFill>
                  <a:srgbClr val="0000FF"/>
                </a:solidFill>
              </a:rPr>
              <a:t>(ROC Curve / Precision–Recall Curve)	</a:t>
            </a:r>
          </a:p>
          <a:p>
            <a:pPr latinLnBrk="0"/>
            <a:r>
              <a:rPr lang="en-US" altLang="ko-KR">
                <a:solidFill>
                  <a:srgbClr val="0000FF"/>
                </a:solidFill>
              </a:rPr>
              <a:t>19. </a:t>
            </a:r>
            <a:r>
              <a:rPr lang="ko-KR" altLang="en-US">
                <a:solidFill>
                  <a:srgbClr val="0000FF"/>
                </a:solidFill>
              </a:rPr>
              <a:t>보정 곡선</a:t>
            </a:r>
            <a:r>
              <a:rPr lang="en-US" altLang="ko-KR">
                <a:solidFill>
                  <a:srgbClr val="0000FF"/>
                </a:solidFill>
              </a:rPr>
              <a:t>/</a:t>
            </a:r>
            <a:r>
              <a:rPr lang="ko-KR" altLang="en-US">
                <a:solidFill>
                  <a:srgbClr val="0000FF"/>
                </a:solidFill>
              </a:rPr>
              <a:t>신뢰도 도표</a:t>
            </a:r>
            <a:r>
              <a:rPr lang="en-US" altLang="ko-KR" sz="1600">
                <a:solidFill>
                  <a:srgbClr val="0000FF"/>
                </a:solidFill>
              </a:rPr>
              <a:t>(Calibration Curve / Reliability Diagram)</a:t>
            </a:r>
            <a:r>
              <a:rPr lang="en-US" altLang="ko-KR">
                <a:solidFill>
                  <a:srgbClr val="0000FF"/>
                </a:solidFill>
              </a:rPr>
              <a:t>	</a:t>
            </a:r>
          </a:p>
          <a:p>
            <a:pPr latinLnBrk="0"/>
            <a:r>
              <a:rPr lang="en-US" altLang="ko-KR">
                <a:solidFill>
                  <a:srgbClr val="0000FF"/>
                </a:solidFill>
              </a:rPr>
              <a:t>20. </a:t>
            </a:r>
            <a:r>
              <a:rPr lang="ko-KR" altLang="en-US">
                <a:solidFill>
                  <a:srgbClr val="0000FF"/>
                </a:solidFill>
              </a:rPr>
              <a:t>잔차 플롯</a:t>
            </a:r>
            <a:r>
              <a:rPr lang="en-US" altLang="ko-KR">
                <a:solidFill>
                  <a:srgbClr val="0000FF"/>
                </a:solidFill>
              </a:rPr>
              <a:t>/Q-Q </a:t>
            </a:r>
            <a:r>
              <a:rPr lang="ko-KR" altLang="en-US">
                <a:solidFill>
                  <a:srgbClr val="0000FF"/>
                </a:solidFill>
              </a:rPr>
              <a:t>플롯</a:t>
            </a:r>
            <a:r>
              <a:rPr lang="en-US" altLang="ko-KR" sz="1600">
                <a:solidFill>
                  <a:srgbClr val="0000FF"/>
                </a:solidFill>
              </a:rPr>
              <a:t>(Residual Plot / Q-Q Plot)	</a:t>
            </a:r>
          </a:p>
          <a:p>
            <a:pPr latinLnBrk="0"/>
            <a:r>
              <a:rPr lang="en-US" altLang="ko-KR">
                <a:solidFill>
                  <a:srgbClr val="0000FF"/>
                </a:solidFill>
              </a:rPr>
              <a:t>21. </a:t>
            </a:r>
            <a:r>
              <a:rPr lang="ko-KR" altLang="en-US">
                <a:solidFill>
                  <a:srgbClr val="0000FF"/>
                </a:solidFill>
              </a:rPr>
              <a:t>학습 곡선</a:t>
            </a:r>
            <a:r>
              <a:rPr lang="en-US" altLang="ko-KR">
                <a:solidFill>
                  <a:srgbClr val="0000FF"/>
                </a:solidFill>
              </a:rPr>
              <a:t>/</a:t>
            </a:r>
            <a:r>
              <a:rPr lang="ko-KR" altLang="en-US">
                <a:solidFill>
                  <a:srgbClr val="0000FF"/>
                </a:solidFill>
              </a:rPr>
              <a:t>검증 곡선</a:t>
            </a:r>
            <a:r>
              <a:rPr lang="en-US" altLang="ko-KR" sz="1600">
                <a:solidFill>
                  <a:srgbClr val="0000FF"/>
                </a:solidFill>
              </a:rPr>
              <a:t>(Learning Curve / Validation Curve)	</a:t>
            </a:r>
            <a:endParaRPr lang="en-US" altLang="ko-KR">
              <a:solidFill>
                <a:srgbClr val="0000FF"/>
              </a:solidFill>
            </a:endParaRPr>
          </a:p>
          <a:p>
            <a:pPr latinLnBrk="0"/>
            <a:r>
              <a:rPr lang="en-US" altLang="ko-KR">
                <a:solidFill>
                  <a:srgbClr val="0000FF"/>
                </a:solidFill>
              </a:rPr>
              <a:t>22. </a:t>
            </a:r>
            <a:r>
              <a:rPr lang="ko-KR" altLang="en-US">
                <a:solidFill>
                  <a:srgbClr val="0000FF"/>
                </a:solidFill>
              </a:rPr>
              <a:t>특성 중요도 플롯</a:t>
            </a:r>
            <a:r>
              <a:rPr lang="en-US" altLang="ko-KR" sz="1600">
                <a:solidFill>
                  <a:srgbClr val="0000FF"/>
                </a:solidFill>
              </a:rPr>
              <a:t>(Feature Importance)	</a:t>
            </a:r>
          </a:p>
          <a:p>
            <a:pPr latinLnBrk="0"/>
            <a:r>
              <a:rPr lang="en-US" altLang="ko-KR">
                <a:solidFill>
                  <a:srgbClr val="0000FF"/>
                </a:solidFill>
              </a:rPr>
              <a:t>23. SHAP </a:t>
            </a:r>
            <a:r>
              <a:rPr lang="ko-KR" altLang="en-US">
                <a:solidFill>
                  <a:srgbClr val="0000FF"/>
                </a:solidFill>
              </a:rPr>
              <a:t>요약 플롯</a:t>
            </a:r>
            <a:r>
              <a:rPr lang="en-US" altLang="ko-KR">
                <a:solidFill>
                  <a:srgbClr val="0000FF"/>
                </a:solidFill>
              </a:rPr>
              <a:t>/</a:t>
            </a:r>
            <a:r>
              <a:rPr lang="ko-KR" altLang="en-US">
                <a:solidFill>
                  <a:srgbClr val="0000FF"/>
                </a:solidFill>
              </a:rPr>
              <a:t>의존 플롯</a:t>
            </a:r>
            <a:r>
              <a:rPr lang="en-US" altLang="ko-KR" sz="1600">
                <a:solidFill>
                  <a:srgbClr val="0000FF"/>
                </a:solidFill>
              </a:rPr>
              <a:t>(SHAP Summary / Dependence Plot)</a:t>
            </a:r>
            <a:r>
              <a:rPr lang="en-US" altLang="ko-KR">
                <a:solidFill>
                  <a:srgbClr val="0000FF"/>
                </a:solidFill>
              </a:rPr>
              <a:t>	</a:t>
            </a:r>
          </a:p>
          <a:p>
            <a:pPr latinLnBrk="0"/>
            <a:r>
              <a:rPr lang="en-US" altLang="ko-KR">
                <a:solidFill>
                  <a:srgbClr val="0000FF"/>
                </a:solidFill>
              </a:rPr>
              <a:t>24. </a:t>
            </a:r>
            <a:r>
              <a:rPr lang="ko-KR" altLang="en-US">
                <a:solidFill>
                  <a:srgbClr val="0000FF"/>
                </a:solidFill>
              </a:rPr>
              <a:t>부분의존도</a:t>
            </a:r>
            <a:r>
              <a:rPr lang="en-US" altLang="ko-KR">
                <a:solidFill>
                  <a:srgbClr val="0000FF"/>
                </a:solidFill>
              </a:rPr>
              <a:t>/ICE</a:t>
            </a:r>
            <a:r>
              <a:rPr lang="en-US" altLang="ko-KR" sz="1600">
                <a:solidFill>
                  <a:srgbClr val="0000FF"/>
                </a:solidFill>
              </a:rPr>
              <a:t>(Partial Dependence / Individual Conditional Expectation)	</a:t>
            </a:r>
          </a:p>
          <a:p>
            <a:pPr latinLnBrk="0"/>
            <a:r>
              <a:rPr lang="en-US" altLang="ko-KR">
                <a:solidFill>
                  <a:srgbClr val="0000FF"/>
                </a:solidFill>
              </a:rPr>
              <a:t>25. </a:t>
            </a:r>
            <a:r>
              <a:rPr lang="ko-KR" altLang="en-US">
                <a:solidFill>
                  <a:srgbClr val="0000FF"/>
                </a:solidFill>
              </a:rPr>
              <a:t>차원축소 임베딩 산점도</a:t>
            </a:r>
            <a:r>
              <a:rPr lang="en-US" altLang="ko-KR" sz="1600">
                <a:solidFill>
                  <a:srgbClr val="0000FF"/>
                </a:solidFill>
              </a:rPr>
              <a:t>(PCA / t-SNE / UMAP Scatter)</a:t>
            </a:r>
            <a:r>
              <a:rPr lang="en-US" altLang="ko-KR">
                <a:solidFill>
                  <a:srgbClr val="0000FF"/>
                </a:solidFill>
              </a:rPr>
              <a:t>	</a:t>
            </a:r>
          </a:p>
          <a:p>
            <a:pPr latinLnBrk="0"/>
            <a:r>
              <a:rPr lang="en-US" altLang="ko-KR">
                <a:solidFill>
                  <a:srgbClr val="0000FF"/>
                </a:solidFill>
              </a:rPr>
              <a:t>26. </a:t>
            </a:r>
            <a:r>
              <a:rPr lang="ko-KR" altLang="en-US">
                <a:solidFill>
                  <a:srgbClr val="0000FF"/>
                </a:solidFill>
              </a:rPr>
              <a:t>결정경계 시각화</a:t>
            </a:r>
            <a:r>
              <a:rPr lang="en-US" altLang="ko-KR" sz="1600">
                <a:solidFill>
                  <a:srgbClr val="0000FF"/>
                </a:solidFill>
              </a:rPr>
              <a:t>(Decision Boundary Plot)</a:t>
            </a:r>
            <a:endParaRPr lang="en-US" altLang="ko-KR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B128F-4254-7897-D133-20090C9C6B23}"/>
              </a:ext>
            </a:extLst>
          </p:cNvPr>
          <p:cNvSpPr txBox="1"/>
          <p:nvPr/>
        </p:nvSpPr>
        <p:spPr>
          <a:xfrm>
            <a:off x="7615330" y="930205"/>
            <a:ext cx="43907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9. </a:t>
            </a:r>
            <a:r>
              <a:rPr lang="ko-KR" altLang="en-US"/>
              <a:t>면적 그래프</a:t>
            </a:r>
            <a:r>
              <a:rPr lang="en-US" altLang="ko-KR" sz="1600"/>
              <a:t>(Area Plot)</a:t>
            </a:r>
          </a:p>
          <a:p>
            <a:pPr latinLnBrk="0"/>
            <a:r>
              <a:rPr lang="en-US" altLang="ko-KR"/>
              <a:t>10. </a:t>
            </a:r>
            <a:r>
              <a:rPr lang="ko-KR" altLang="en-US"/>
              <a:t>꺾은선 그래프</a:t>
            </a:r>
            <a:r>
              <a:rPr lang="en-US" altLang="ko-KR" sz="1600"/>
              <a:t>(Step Plot)</a:t>
            </a:r>
            <a:endParaRPr lang="en-US" altLang="ko-KR"/>
          </a:p>
          <a:p>
            <a:pPr latinLnBrk="0"/>
            <a:r>
              <a:rPr lang="en-US" altLang="ko-KR"/>
              <a:t>11. </a:t>
            </a:r>
            <a:r>
              <a:rPr lang="ko-KR" altLang="en-US"/>
              <a:t>버블 차트</a:t>
            </a:r>
            <a:r>
              <a:rPr lang="en-US" altLang="ko-KR" sz="1600"/>
              <a:t>(Bubble Plot)</a:t>
            </a:r>
          </a:p>
          <a:p>
            <a:pPr latinLnBrk="0"/>
            <a:r>
              <a:rPr lang="en-US" altLang="ko-KR"/>
              <a:t>12. </a:t>
            </a:r>
            <a:r>
              <a:rPr lang="ko-KR" altLang="en-US"/>
              <a:t>도넛 차트</a:t>
            </a:r>
            <a:r>
              <a:rPr lang="en-US" altLang="ko-KR" sz="1600"/>
              <a:t>(Donut Chart)</a:t>
            </a:r>
          </a:p>
          <a:p>
            <a:pPr latinLnBrk="0"/>
            <a:r>
              <a:rPr lang="en-US" altLang="ko-KR"/>
              <a:t>13. </a:t>
            </a:r>
            <a:r>
              <a:rPr lang="ko-KR" altLang="en-US"/>
              <a:t>바이올린 플롯</a:t>
            </a:r>
            <a:r>
              <a:rPr lang="en-US" altLang="ko-KR" sz="1600"/>
              <a:t>(Violin Plot)</a:t>
            </a:r>
          </a:p>
          <a:p>
            <a:pPr latinLnBrk="0"/>
            <a:r>
              <a:rPr lang="en-US" altLang="ko-KR"/>
              <a:t>14. </a:t>
            </a:r>
            <a:r>
              <a:rPr lang="ko-KR" altLang="en-US"/>
              <a:t>밀도 플롯</a:t>
            </a:r>
            <a:r>
              <a:rPr lang="en-US" altLang="ko-KR" sz="1600"/>
              <a:t>(Kernel Density Estimate, KDE)</a:t>
            </a:r>
          </a:p>
          <a:p>
            <a:pPr latinLnBrk="0"/>
            <a:r>
              <a:rPr lang="en-US" altLang="ko-KR"/>
              <a:t>15. </a:t>
            </a:r>
            <a:r>
              <a:rPr lang="ko-KR" altLang="en-US"/>
              <a:t>시계열 플롯</a:t>
            </a:r>
            <a:r>
              <a:rPr lang="en-US" altLang="ko-KR" sz="1600"/>
              <a:t>(Time Series Plot)</a:t>
            </a:r>
          </a:p>
          <a:p>
            <a:r>
              <a:rPr lang="en-US" altLang="ko-KR"/>
              <a:t>16. 3D </a:t>
            </a:r>
            <a:r>
              <a:rPr lang="ko-KR" altLang="en-US"/>
              <a:t>그래프</a:t>
            </a:r>
            <a:r>
              <a:rPr lang="en-US" altLang="ko-KR" sz="1600"/>
              <a:t>(3D Plot)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7911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404512" y="2669308"/>
            <a:ext cx="3185487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5</a:t>
            </a:r>
            <a:r>
              <a:rPr lang="ko-KR" altLang="en-US" sz="3200" b="1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3200" b="1"/>
              <a:t>비지도학습</a:t>
            </a:r>
            <a:r>
              <a:rPr lang="en-US" altLang="ko-KR" sz="3200" b="1"/>
              <a:t>(2/4)</a:t>
            </a:r>
          </a:p>
          <a:p>
            <a:pPr algn="ctr"/>
            <a:endParaRPr lang="en-US" altLang="ko-KR" sz="1200" b="1"/>
          </a:p>
          <a:p>
            <a:pPr algn="ctr"/>
            <a:r>
              <a:rPr lang="ko-KR" altLang="en-US" sz="3200" b="1"/>
              <a:t>군집화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52DC80-14C7-41F9-B665-5B37526CCD14}"/>
              </a:ext>
            </a:extLst>
          </p:cNvPr>
          <p:cNvSpPr txBox="1"/>
          <p:nvPr/>
        </p:nvSpPr>
        <p:spPr>
          <a:xfrm>
            <a:off x="290456" y="223097"/>
            <a:ext cx="439075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en-US" altLang="ko-KR"/>
              <a:t>1. </a:t>
            </a:r>
            <a:r>
              <a:rPr lang="ko-KR" altLang="en-US"/>
              <a:t>선 그래프</a:t>
            </a:r>
            <a:r>
              <a:rPr lang="en-US" altLang="ko-KR" sz="1600"/>
              <a:t>(Line Plot)</a:t>
            </a:r>
            <a:endParaRPr lang="en-US" altLang="ko-KR"/>
          </a:p>
          <a:p>
            <a:pPr latinLnBrk="0"/>
            <a:r>
              <a:rPr lang="en-US" altLang="ko-KR"/>
              <a:t>2. </a:t>
            </a:r>
            <a:r>
              <a:rPr lang="ko-KR" altLang="en-US"/>
              <a:t>산점도</a:t>
            </a:r>
            <a:r>
              <a:rPr lang="en-US" altLang="ko-KR" sz="1600"/>
              <a:t>(Scatter Plot)</a:t>
            </a:r>
          </a:p>
          <a:p>
            <a:pPr latinLnBrk="0"/>
            <a:r>
              <a:rPr lang="en-US" altLang="ko-KR"/>
              <a:t>3. </a:t>
            </a:r>
            <a:r>
              <a:rPr lang="ko-KR" altLang="en-US"/>
              <a:t>막대 그래프</a:t>
            </a:r>
            <a:r>
              <a:rPr lang="en-US" altLang="ko-KR" sz="1600"/>
              <a:t>(Bar Plot)</a:t>
            </a:r>
          </a:p>
          <a:p>
            <a:pPr latinLnBrk="0"/>
            <a:r>
              <a:rPr lang="en-US" altLang="ko-KR"/>
              <a:t>4. </a:t>
            </a:r>
            <a:r>
              <a:rPr lang="ko-KR" altLang="en-US"/>
              <a:t>히스토그램</a:t>
            </a:r>
            <a:r>
              <a:rPr lang="en-US" altLang="ko-KR" sz="1600"/>
              <a:t>(Histogram)</a:t>
            </a:r>
          </a:p>
          <a:p>
            <a:pPr latinLnBrk="0"/>
            <a:r>
              <a:rPr lang="en-US" altLang="ko-KR"/>
              <a:t>5. </a:t>
            </a:r>
            <a:r>
              <a:rPr lang="ko-KR" altLang="en-US"/>
              <a:t>박스 플롯</a:t>
            </a:r>
            <a:r>
              <a:rPr lang="en-US" altLang="ko-KR" sz="1600"/>
              <a:t>(Box Plot)</a:t>
            </a:r>
            <a:endParaRPr lang="en-US" altLang="ko-KR"/>
          </a:p>
          <a:p>
            <a:pPr latinLnBrk="0"/>
            <a:r>
              <a:rPr lang="en-US" altLang="ko-KR"/>
              <a:t>6. </a:t>
            </a:r>
            <a:r>
              <a:rPr lang="ko-KR" altLang="en-US"/>
              <a:t>파이 차트</a:t>
            </a:r>
            <a:r>
              <a:rPr lang="en-US" altLang="ko-KR" sz="1600"/>
              <a:t>(Pie Chart)</a:t>
            </a:r>
          </a:p>
          <a:p>
            <a:pPr latinLnBrk="0"/>
            <a:r>
              <a:rPr lang="en-US" altLang="ko-KR"/>
              <a:t>7. </a:t>
            </a:r>
            <a:r>
              <a:rPr lang="ko-KR" altLang="en-US"/>
              <a:t>히트맵</a:t>
            </a:r>
            <a:r>
              <a:rPr lang="en-US" altLang="ko-KR" sz="1600"/>
              <a:t>(Heatmap)</a:t>
            </a:r>
          </a:p>
          <a:p>
            <a:pPr latinLnBrk="0"/>
            <a:r>
              <a:rPr lang="en-US" altLang="ko-KR"/>
              <a:t>8. </a:t>
            </a:r>
            <a:r>
              <a:rPr lang="ko-KR" altLang="en-US"/>
              <a:t>누적 막대 그래프</a:t>
            </a:r>
            <a:r>
              <a:rPr lang="en-US" altLang="ko-KR" sz="1600"/>
              <a:t>(Stacked Bar Plot)</a:t>
            </a:r>
          </a:p>
          <a:p>
            <a:pPr latinLnBrk="0"/>
            <a:r>
              <a:rPr lang="en-US" altLang="ko-KR"/>
              <a:t>9. </a:t>
            </a:r>
            <a:r>
              <a:rPr lang="ko-KR" altLang="en-US"/>
              <a:t>면적 그래프</a:t>
            </a:r>
            <a:r>
              <a:rPr lang="en-US" altLang="ko-KR" sz="1600"/>
              <a:t>(Area Plot)</a:t>
            </a:r>
          </a:p>
          <a:p>
            <a:pPr latinLnBrk="0"/>
            <a:r>
              <a:rPr lang="en-US" altLang="ko-KR"/>
              <a:t>10. </a:t>
            </a:r>
            <a:r>
              <a:rPr lang="ko-KR" altLang="en-US"/>
              <a:t>꺾은선 그래프</a:t>
            </a:r>
            <a:r>
              <a:rPr lang="en-US" altLang="ko-KR" sz="1600"/>
              <a:t>(Step Plot)</a:t>
            </a:r>
            <a:endParaRPr lang="en-US" altLang="ko-KR"/>
          </a:p>
          <a:p>
            <a:pPr latinLnBrk="0"/>
            <a:r>
              <a:rPr lang="en-US" altLang="ko-KR"/>
              <a:t>11. </a:t>
            </a:r>
            <a:r>
              <a:rPr lang="ko-KR" altLang="en-US"/>
              <a:t>버블 차트</a:t>
            </a:r>
            <a:r>
              <a:rPr lang="en-US" altLang="ko-KR" sz="1600"/>
              <a:t>(Bubble Plot)</a:t>
            </a:r>
          </a:p>
          <a:p>
            <a:pPr latinLnBrk="0"/>
            <a:r>
              <a:rPr lang="en-US" altLang="ko-KR"/>
              <a:t>12. </a:t>
            </a:r>
            <a:r>
              <a:rPr lang="ko-KR" altLang="en-US"/>
              <a:t>도넛 차트</a:t>
            </a:r>
            <a:r>
              <a:rPr lang="en-US" altLang="ko-KR" sz="1600"/>
              <a:t>(Donut Chart)</a:t>
            </a:r>
          </a:p>
          <a:p>
            <a:pPr latinLnBrk="0"/>
            <a:r>
              <a:rPr lang="en-US" altLang="ko-KR"/>
              <a:t>13. </a:t>
            </a:r>
            <a:r>
              <a:rPr lang="ko-KR" altLang="en-US"/>
              <a:t>바이올린 플롯</a:t>
            </a:r>
            <a:r>
              <a:rPr lang="en-US" altLang="ko-KR" sz="1600"/>
              <a:t>(Violin Plot)</a:t>
            </a:r>
          </a:p>
          <a:p>
            <a:pPr latinLnBrk="0"/>
            <a:r>
              <a:rPr lang="en-US" altLang="ko-KR"/>
              <a:t>14. </a:t>
            </a:r>
            <a:r>
              <a:rPr lang="ko-KR" altLang="en-US"/>
              <a:t>밀도 플롯</a:t>
            </a:r>
            <a:r>
              <a:rPr lang="en-US" altLang="ko-KR" sz="1600"/>
              <a:t>(Kernel Density Estimate, KDE)</a:t>
            </a:r>
          </a:p>
          <a:p>
            <a:pPr latinLnBrk="0"/>
            <a:r>
              <a:rPr lang="en-US" altLang="ko-KR"/>
              <a:t>15. </a:t>
            </a:r>
            <a:r>
              <a:rPr lang="ko-KR" altLang="en-US"/>
              <a:t>시계열 플롯</a:t>
            </a:r>
            <a:r>
              <a:rPr lang="en-US" altLang="ko-KR" sz="1600"/>
              <a:t>(Time Series Plot)</a:t>
            </a:r>
          </a:p>
          <a:p>
            <a:r>
              <a:rPr lang="en-US" altLang="ko-KR"/>
              <a:t>16. 3D </a:t>
            </a:r>
            <a:r>
              <a:rPr lang="ko-KR" altLang="en-US"/>
              <a:t>그래프</a:t>
            </a:r>
            <a:r>
              <a:rPr lang="en-US" altLang="ko-KR" sz="1600"/>
              <a:t>(3D Plot)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5296B-D48E-4791-A212-09E28EF7190F}"/>
              </a:ext>
            </a:extLst>
          </p:cNvPr>
          <p:cNvSpPr txBox="1"/>
          <p:nvPr/>
        </p:nvSpPr>
        <p:spPr>
          <a:xfrm>
            <a:off x="4681210" y="3601491"/>
            <a:ext cx="75107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/>
              <a:t>17. </a:t>
            </a:r>
            <a:r>
              <a:rPr lang="ko-KR" altLang="en-US"/>
              <a:t>혼동 행렬 히트맵</a:t>
            </a:r>
            <a:r>
              <a:rPr lang="en-US" altLang="ko-KR" sz="1600"/>
              <a:t>(Confusion Matrix Heatmap)</a:t>
            </a:r>
          </a:p>
          <a:p>
            <a:pPr latinLnBrk="0"/>
            <a:r>
              <a:rPr lang="en-US" altLang="ko-KR"/>
              <a:t>18. ROC </a:t>
            </a:r>
            <a:r>
              <a:rPr lang="ko-KR" altLang="en-US"/>
              <a:t>곡선</a:t>
            </a:r>
            <a:r>
              <a:rPr lang="en-US" altLang="ko-KR"/>
              <a:t>/PR </a:t>
            </a:r>
            <a:r>
              <a:rPr lang="ko-KR" altLang="en-US"/>
              <a:t>곡선</a:t>
            </a:r>
            <a:r>
              <a:rPr lang="en-US" altLang="ko-KR" sz="1600"/>
              <a:t>(ROC Curve / Precision–Recall Curve)	</a:t>
            </a:r>
          </a:p>
          <a:p>
            <a:pPr latinLnBrk="0"/>
            <a:r>
              <a:rPr lang="en-US" altLang="ko-KR"/>
              <a:t>19. </a:t>
            </a:r>
            <a:r>
              <a:rPr lang="ko-KR" altLang="en-US"/>
              <a:t>보정 곡선</a:t>
            </a:r>
            <a:r>
              <a:rPr lang="en-US" altLang="ko-KR"/>
              <a:t>/</a:t>
            </a:r>
            <a:r>
              <a:rPr lang="ko-KR" altLang="en-US"/>
              <a:t>신뢰도 도표</a:t>
            </a:r>
            <a:r>
              <a:rPr lang="en-US" altLang="ko-KR" sz="1600"/>
              <a:t>(Calibration Curve / Reliability Diagram)</a:t>
            </a:r>
            <a:r>
              <a:rPr lang="en-US" altLang="ko-KR"/>
              <a:t>	</a:t>
            </a:r>
          </a:p>
          <a:p>
            <a:pPr latinLnBrk="0"/>
            <a:r>
              <a:rPr lang="en-US" altLang="ko-KR"/>
              <a:t>20. </a:t>
            </a:r>
            <a:r>
              <a:rPr lang="ko-KR" altLang="en-US"/>
              <a:t>잔차 플롯</a:t>
            </a:r>
            <a:r>
              <a:rPr lang="en-US" altLang="ko-KR"/>
              <a:t>/Q-Q </a:t>
            </a:r>
            <a:r>
              <a:rPr lang="ko-KR" altLang="en-US"/>
              <a:t>플롯</a:t>
            </a:r>
            <a:r>
              <a:rPr lang="en-US" altLang="ko-KR" sz="1600"/>
              <a:t>(Residual Plot / Q-Q Plot)	</a:t>
            </a:r>
          </a:p>
          <a:p>
            <a:pPr latinLnBrk="0"/>
            <a:r>
              <a:rPr lang="en-US" altLang="ko-KR"/>
              <a:t>21. </a:t>
            </a:r>
            <a:r>
              <a:rPr lang="ko-KR" altLang="en-US"/>
              <a:t>학습 곡선</a:t>
            </a:r>
            <a:r>
              <a:rPr lang="en-US" altLang="ko-KR"/>
              <a:t>/</a:t>
            </a:r>
            <a:r>
              <a:rPr lang="ko-KR" altLang="en-US"/>
              <a:t>검증 곡선</a:t>
            </a:r>
            <a:r>
              <a:rPr lang="en-US" altLang="ko-KR" sz="1600"/>
              <a:t>(Learning Curve / Validation Curve)	</a:t>
            </a:r>
            <a:endParaRPr lang="en-US" altLang="ko-KR"/>
          </a:p>
          <a:p>
            <a:pPr latinLnBrk="0"/>
            <a:r>
              <a:rPr lang="en-US" altLang="ko-KR"/>
              <a:t>22. </a:t>
            </a:r>
            <a:r>
              <a:rPr lang="ko-KR" altLang="en-US"/>
              <a:t>특성 중요도 플롯</a:t>
            </a:r>
            <a:r>
              <a:rPr lang="en-US" altLang="ko-KR" sz="1600"/>
              <a:t>(Feature Importance)	</a:t>
            </a:r>
          </a:p>
          <a:p>
            <a:pPr latinLnBrk="0"/>
            <a:r>
              <a:rPr lang="en-US" altLang="ko-KR"/>
              <a:t>23. SHAP </a:t>
            </a:r>
            <a:r>
              <a:rPr lang="ko-KR" altLang="en-US"/>
              <a:t>요약 플롯</a:t>
            </a:r>
            <a:r>
              <a:rPr lang="en-US" altLang="ko-KR"/>
              <a:t>/</a:t>
            </a:r>
            <a:r>
              <a:rPr lang="ko-KR" altLang="en-US"/>
              <a:t>의존 플롯</a:t>
            </a:r>
            <a:r>
              <a:rPr lang="en-US" altLang="ko-KR" sz="1600"/>
              <a:t>(SHAP Summary / Dependence Plot)</a:t>
            </a:r>
            <a:r>
              <a:rPr lang="en-US" altLang="ko-KR"/>
              <a:t>	</a:t>
            </a:r>
          </a:p>
          <a:p>
            <a:pPr latinLnBrk="0"/>
            <a:r>
              <a:rPr lang="en-US" altLang="ko-KR"/>
              <a:t>24. </a:t>
            </a:r>
            <a:r>
              <a:rPr lang="ko-KR" altLang="en-US"/>
              <a:t>부분의존도</a:t>
            </a:r>
            <a:r>
              <a:rPr lang="en-US" altLang="ko-KR"/>
              <a:t>/ICE</a:t>
            </a:r>
            <a:r>
              <a:rPr lang="en-US" altLang="ko-KR" sz="1600"/>
              <a:t>(Partial Dependence / Individual Conditional Expectation)	</a:t>
            </a:r>
          </a:p>
          <a:p>
            <a:pPr latinLnBrk="0"/>
            <a:r>
              <a:rPr lang="en-US" altLang="ko-KR"/>
              <a:t>25. </a:t>
            </a:r>
            <a:r>
              <a:rPr lang="ko-KR" altLang="en-US"/>
              <a:t>차원축소 임베딩 산점도</a:t>
            </a:r>
            <a:r>
              <a:rPr lang="en-US" altLang="ko-KR" sz="1600"/>
              <a:t>(PCA / t-SNE / UMAP Scatter)</a:t>
            </a:r>
            <a:r>
              <a:rPr lang="en-US" altLang="ko-KR"/>
              <a:t>	</a:t>
            </a:r>
          </a:p>
          <a:p>
            <a:pPr latinLnBrk="0"/>
            <a:r>
              <a:rPr lang="en-US" altLang="ko-KR"/>
              <a:t>26. </a:t>
            </a:r>
            <a:r>
              <a:rPr lang="ko-KR" altLang="en-US"/>
              <a:t>결정경계 시각화</a:t>
            </a:r>
            <a:r>
              <a:rPr lang="en-US" altLang="ko-KR" sz="1600"/>
              <a:t>(Decision Boundary Plot)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947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FB7C0-1D8C-E34C-91D3-0D6729F6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3029DE-6B96-3467-F41D-9091E96B19AD}"/>
              </a:ext>
            </a:extLst>
          </p:cNvPr>
          <p:cNvSpPr txBox="1"/>
          <p:nvPr/>
        </p:nvSpPr>
        <p:spPr>
          <a:xfrm>
            <a:off x="3248957" y="646331"/>
            <a:ext cx="7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39E811B-386F-CF9B-E62E-073BF8FB1806}"/>
              </a:ext>
            </a:extLst>
          </p:cNvPr>
          <p:cNvGrpSpPr/>
          <p:nvPr/>
        </p:nvGrpSpPr>
        <p:grpSpPr>
          <a:xfrm>
            <a:off x="7054905" y="111747"/>
            <a:ext cx="4850949" cy="2383939"/>
            <a:chOff x="317349" y="736274"/>
            <a:chExt cx="4850949" cy="238393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65F5A82-5935-73D8-8F26-06BF341E8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349" y="1161426"/>
              <a:ext cx="4850949" cy="195878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F1F292-7CF3-E6F5-039A-EB1260AEDC92}"/>
                </a:ext>
              </a:extLst>
            </p:cNvPr>
            <p:cNvSpPr txBox="1"/>
            <p:nvPr/>
          </p:nvSpPr>
          <p:spPr>
            <a:xfrm>
              <a:off x="1329559" y="736274"/>
              <a:ext cx="7040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solidFill>
                    <a:srgbClr val="0000FF"/>
                  </a:solidFill>
                </a:rPr>
                <a:t>sepal </a:t>
              </a:r>
            </a:p>
            <a:p>
              <a:r>
                <a:rPr lang="en-US" altLang="ko-KR" sz="1400">
                  <a:solidFill>
                    <a:srgbClr val="0000FF"/>
                  </a:solidFill>
                </a:rPr>
                <a:t>length</a:t>
              </a:r>
              <a:endParaRPr lang="ko-KR" altLang="en-US" sz="1400">
                <a:solidFill>
                  <a:srgbClr val="0000FF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A8FEE9-964F-35D0-A854-7DF0C648BF73}"/>
                </a:ext>
              </a:extLst>
            </p:cNvPr>
            <p:cNvSpPr txBox="1"/>
            <p:nvPr/>
          </p:nvSpPr>
          <p:spPr>
            <a:xfrm>
              <a:off x="2329017" y="736274"/>
              <a:ext cx="6646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solidFill>
                    <a:srgbClr val="0000FF"/>
                  </a:solidFill>
                </a:rPr>
                <a:t>sepal </a:t>
              </a:r>
            </a:p>
            <a:p>
              <a:r>
                <a:rPr lang="en-US" altLang="ko-KR" sz="1400">
                  <a:solidFill>
                    <a:srgbClr val="0000FF"/>
                  </a:solidFill>
                </a:rPr>
                <a:t>width</a:t>
              </a:r>
              <a:endParaRPr lang="ko-KR" altLang="en-US" sz="1400">
                <a:solidFill>
                  <a:srgbClr val="0000FF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364E05C-8061-2329-7A9F-4F8496FA99F2}"/>
                </a:ext>
              </a:extLst>
            </p:cNvPr>
            <p:cNvSpPr txBox="1"/>
            <p:nvPr/>
          </p:nvSpPr>
          <p:spPr>
            <a:xfrm>
              <a:off x="3280019" y="736274"/>
              <a:ext cx="7040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solidFill>
                    <a:srgbClr val="0000FF"/>
                  </a:solidFill>
                </a:rPr>
                <a:t>petal </a:t>
              </a:r>
            </a:p>
            <a:p>
              <a:r>
                <a:rPr lang="en-US" altLang="ko-KR" sz="1400">
                  <a:solidFill>
                    <a:srgbClr val="0000FF"/>
                  </a:solidFill>
                </a:rPr>
                <a:t>length</a:t>
              </a:r>
              <a:endParaRPr lang="ko-KR" altLang="en-US" sz="1400">
                <a:solidFill>
                  <a:srgbClr val="0000FF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A7CA05-D8C9-D790-B2B0-4A75E8135CA2}"/>
                </a:ext>
              </a:extLst>
            </p:cNvPr>
            <p:cNvSpPr txBox="1"/>
            <p:nvPr/>
          </p:nvSpPr>
          <p:spPr>
            <a:xfrm>
              <a:off x="4244758" y="736274"/>
              <a:ext cx="6511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solidFill>
                    <a:srgbClr val="0000FF"/>
                  </a:solidFill>
                </a:rPr>
                <a:t>petal </a:t>
              </a:r>
            </a:p>
            <a:p>
              <a:r>
                <a:rPr lang="en-US" altLang="ko-KR" sz="1400">
                  <a:solidFill>
                    <a:srgbClr val="0000FF"/>
                  </a:solidFill>
                </a:rPr>
                <a:t>width</a:t>
              </a:r>
              <a:endParaRPr lang="ko-KR" altLang="en-US" sz="1400">
                <a:solidFill>
                  <a:srgbClr val="0000FF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EE5ECA1-64F4-B686-7CD5-A7F3E1EE6C28}"/>
              </a:ext>
            </a:extLst>
          </p:cNvPr>
          <p:cNvSpPr txBox="1"/>
          <p:nvPr/>
        </p:nvSpPr>
        <p:spPr>
          <a:xfrm>
            <a:off x="1396986" y="251592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highlight>
                  <a:srgbClr val="000080"/>
                </a:highlight>
              </a:rPr>
              <a:t>(1) </a:t>
            </a:r>
            <a:r>
              <a:rPr lang="ko-KR" altLang="en-US" b="1">
                <a:solidFill>
                  <a:schemeClr val="bg1"/>
                </a:solidFill>
                <a:highlight>
                  <a:srgbClr val="000080"/>
                </a:highlight>
              </a:rPr>
              <a:t>표준화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93FDC6C9-77B5-EED0-5A3E-3A1A984BB03F}"/>
              </a:ext>
            </a:extLst>
          </p:cNvPr>
          <p:cNvSpPr/>
          <p:nvPr/>
        </p:nvSpPr>
        <p:spPr>
          <a:xfrm>
            <a:off x="6259043" y="1731364"/>
            <a:ext cx="398033" cy="27969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4982A70C-FD53-D37A-25D6-9CD92E1CB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69" y="857446"/>
            <a:ext cx="3475126" cy="272520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A42EA71-E11D-1BD6-7D58-4B8E777EB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545" y="1768101"/>
            <a:ext cx="2022756" cy="903893"/>
          </a:xfrm>
          <a:prstGeom prst="rect">
            <a:avLst/>
          </a:prstGeom>
        </p:spPr>
      </p:pic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96B4DB18-2B1E-7161-10FB-6F153D9B8817}"/>
              </a:ext>
            </a:extLst>
          </p:cNvPr>
          <p:cNvSpPr/>
          <p:nvPr/>
        </p:nvSpPr>
        <p:spPr>
          <a:xfrm>
            <a:off x="850496" y="4342064"/>
            <a:ext cx="398033" cy="27969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39ECEAA-3287-F63C-0C59-665525A4F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164" y="4364184"/>
            <a:ext cx="1973788" cy="82497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D4AE8B8-1AD9-8704-2592-6AA3463E36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59" y="5189161"/>
            <a:ext cx="5190742" cy="11524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B966F0-2885-4CF9-2426-B2958A3675BD}"/>
              </a:ext>
            </a:extLst>
          </p:cNvPr>
          <p:cNvSpPr txBox="1"/>
          <p:nvPr/>
        </p:nvSpPr>
        <p:spPr>
          <a:xfrm>
            <a:off x="1701024" y="4056674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highlight>
                  <a:srgbClr val="000080"/>
                </a:highlight>
              </a:rPr>
              <a:t>(2) </a:t>
            </a:r>
            <a:r>
              <a:rPr lang="ko-KR" altLang="en-US" b="1">
                <a:solidFill>
                  <a:schemeClr val="bg1"/>
                </a:solidFill>
                <a:highlight>
                  <a:srgbClr val="000080"/>
                </a:highlight>
              </a:rPr>
              <a:t>공분산 행렬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D61B0-FAE3-96CB-0397-AF1B16596E3E}"/>
              </a:ext>
            </a:extLst>
          </p:cNvPr>
          <p:cNvSpPr txBox="1"/>
          <p:nvPr/>
        </p:nvSpPr>
        <p:spPr>
          <a:xfrm>
            <a:off x="7179248" y="3301239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highlight>
                  <a:srgbClr val="000080"/>
                </a:highlight>
              </a:rPr>
              <a:t>(3) </a:t>
            </a:r>
            <a:r>
              <a:rPr lang="ko-KR" altLang="en-US" b="1">
                <a:solidFill>
                  <a:schemeClr val="bg1"/>
                </a:solidFill>
                <a:highlight>
                  <a:srgbClr val="000080"/>
                </a:highlight>
              </a:rPr>
              <a:t>고유값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9264929E-B6AD-9022-3611-200B75D2A887}"/>
              </a:ext>
            </a:extLst>
          </p:cNvPr>
          <p:cNvSpPr/>
          <p:nvPr/>
        </p:nvSpPr>
        <p:spPr>
          <a:xfrm>
            <a:off x="6342069" y="4364184"/>
            <a:ext cx="398033" cy="27969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50D81C8-67B9-8DC2-68CB-CB4D504FB7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8869" y="3740412"/>
            <a:ext cx="4903131" cy="144874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BE4E1ED-0131-EB16-0755-BB3AE4A1B2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4550" y="5345204"/>
            <a:ext cx="4892466" cy="151109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F0F703B-E8EA-8BD1-05E9-47E76AEEB2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1807" y="3306034"/>
            <a:ext cx="1836579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2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4B09581-C729-87C6-AC18-171030012510}"/>
              </a:ext>
            </a:extLst>
          </p:cNvPr>
          <p:cNvSpPr txBox="1"/>
          <p:nvPr/>
        </p:nvSpPr>
        <p:spPr>
          <a:xfrm>
            <a:off x="3248957" y="646331"/>
            <a:ext cx="7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5C0259DB-561F-4DB0-3519-59442D0F4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2" y="1806503"/>
            <a:ext cx="2863714" cy="217200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93E496B-A05A-55A8-06C7-64B965F48D12}"/>
              </a:ext>
            </a:extLst>
          </p:cNvPr>
          <p:cNvSpPr txBox="1"/>
          <p:nvPr/>
        </p:nvSpPr>
        <p:spPr>
          <a:xfrm>
            <a:off x="164340" y="756793"/>
            <a:ext cx="53975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(sepal length,sepal width,petal length,petal width)</a:t>
            </a:r>
          </a:p>
          <a:p>
            <a:endParaRPr lang="en-US" altLang="ko-KR"/>
          </a:p>
          <a:p>
            <a:r>
              <a:rPr lang="en-US" altLang="ko-KR">
                <a:solidFill>
                  <a:srgbClr val="0000FF"/>
                </a:solidFill>
              </a:rPr>
              <a:t>x=(2,3,4,5) </a:t>
            </a:r>
            <a:r>
              <a:rPr lang="en-US" altLang="ko-KR"/>
              <a:t>→   z=(−4.63, −0.14, 0.14, 5.00)</a:t>
            </a:r>
            <a:endParaRPr lang="ko-KR" altLang="en-US"/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87986242-FCCB-75F2-0F27-E53B0E26D4AB}"/>
              </a:ext>
            </a:extLst>
          </p:cNvPr>
          <p:cNvSpPr/>
          <p:nvPr/>
        </p:nvSpPr>
        <p:spPr>
          <a:xfrm>
            <a:off x="5011341" y="2509769"/>
            <a:ext cx="398033" cy="279699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0B5954-D10C-94B7-E7B0-81BA0C98D362}"/>
              </a:ext>
            </a:extLst>
          </p:cNvPr>
          <p:cNvSpPr txBox="1"/>
          <p:nvPr/>
        </p:nvSpPr>
        <p:spPr>
          <a:xfrm>
            <a:off x="5654938" y="1218458"/>
            <a:ext cx="641714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altLang="ko-KR">
                <a:solidFill>
                  <a:srgbClr val="0000FF"/>
                </a:solidFill>
              </a:rPr>
              <a:t>PC1 = (0.521, −0.269, 0.580, 0.565)</a:t>
            </a:r>
          </a:p>
          <a:p>
            <a:r>
              <a:rPr lang="da-DK" altLang="ko-KR">
                <a:solidFill>
                  <a:srgbClr val="0000FF"/>
                </a:solidFill>
              </a:rPr>
              <a:t>PC2 = (0.377,   0.923, 0.024, 0.067)</a:t>
            </a:r>
          </a:p>
          <a:p>
            <a:endParaRPr lang="da-DK" altLang="ko-KR"/>
          </a:p>
          <a:p>
            <a:r>
              <a:rPr lang="ko-KR" altLang="en-US">
                <a:solidFill>
                  <a:srgbClr val="0000FF"/>
                </a:solidFill>
              </a:rPr>
              <a:t>꽃잎</a:t>
            </a:r>
            <a:r>
              <a:rPr lang="en-US" altLang="ko-KR">
                <a:solidFill>
                  <a:srgbClr val="0000FF"/>
                </a:solidFill>
              </a:rPr>
              <a:t>(petal) </a:t>
            </a:r>
            <a:r>
              <a:rPr lang="ko-KR" altLang="en-US">
                <a:solidFill>
                  <a:srgbClr val="0000FF"/>
                </a:solidFill>
              </a:rPr>
              <a:t>방향</a:t>
            </a:r>
            <a:endParaRPr lang="da-DK" altLang="ko-KR">
              <a:solidFill>
                <a:srgbClr val="0000FF"/>
              </a:solidFill>
            </a:endParaRPr>
          </a:p>
          <a:p>
            <a:r>
              <a:rPr lang="da-DK" altLang="ko-KR"/>
              <a:t>PC1​=0.521(−4.63)+(−0.269)(−0.14)+0.580(0.14)+0.565(5.00)</a:t>
            </a:r>
          </a:p>
          <a:p>
            <a:r>
              <a:rPr lang="da-DK" altLang="ko-KR"/>
              <a:t>     ≈ −2.41+0.04+0.08+2.83</a:t>
            </a:r>
          </a:p>
          <a:p>
            <a:r>
              <a:rPr lang="da-DK" altLang="ko-KR"/>
              <a:t>     ≈ </a:t>
            </a:r>
            <a:r>
              <a:rPr lang="da-DK" altLang="ko-KR">
                <a:solidFill>
                  <a:srgbClr val="0000FF"/>
                </a:solidFill>
              </a:rPr>
              <a:t>0.54​</a:t>
            </a:r>
          </a:p>
          <a:p>
            <a:endParaRPr lang="da-DK" altLang="ko-KR"/>
          </a:p>
          <a:p>
            <a:r>
              <a:rPr lang="ko-KR" altLang="en-US">
                <a:solidFill>
                  <a:srgbClr val="0000FF"/>
                </a:solidFill>
              </a:rPr>
              <a:t>꽃받침</a:t>
            </a:r>
            <a:r>
              <a:rPr lang="en-US" altLang="ko-KR">
                <a:solidFill>
                  <a:srgbClr val="0000FF"/>
                </a:solidFill>
              </a:rPr>
              <a:t>(sepal) </a:t>
            </a:r>
            <a:r>
              <a:rPr lang="ko-KR" altLang="en-US">
                <a:solidFill>
                  <a:srgbClr val="0000FF"/>
                </a:solidFill>
              </a:rPr>
              <a:t>방향</a:t>
            </a:r>
            <a:endParaRPr lang="da-DK" altLang="ko-KR">
              <a:solidFill>
                <a:srgbClr val="0000FF"/>
              </a:solidFill>
            </a:endParaRPr>
          </a:p>
          <a:p>
            <a:r>
              <a:rPr lang="da-DK" altLang="ko-KR"/>
              <a:t>PC2​=0.377(−4.63)+0.923(−0.14)+0.024(0.14)+0.067(5.00)</a:t>
            </a:r>
          </a:p>
          <a:p>
            <a:r>
              <a:rPr lang="da-DK" altLang="ko-KR"/>
              <a:t>     ≈ −1.74−0.13+0.00+0.34</a:t>
            </a:r>
          </a:p>
          <a:p>
            <a:r>
              <a:rPr lang="da-DK" altLang="ko-KR"/>
              <a:t>     ≈ </a:t>
            </a:r>
            <a:r>
              <a:rPr lang="da-DK" altLang="ko-KR">
                <a:solidFill>
                  <a:srgbClr val="0000FF"/>
                </a:solidFill>
              </a:rPr>
              <a:t>−1.53​</a:t>
            </a:r>
          </a:p>
        </p:txBody>
      </p:sp>
    </p:spTree>
    <p:extLst>
      <p:ext uri="{BB962C8B-B14F-4D97-AF65-F5344CB8AC3E}">
        <p14:creationId xmlns:p14="http://schemas.microsoft.com/office/powerpoint/2010/main" val="79712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CF544-BF9E-2E46-4695-DE5109F0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57198F-13A4-AACB-0B79-13CB340A4841}"/>
              </a:ext>
            </a:extLst>
          </p:cNvPr>
          <p:cNvSpPr txBox="1"/>
          <p:nvPr/>
        </p:nvSpPr>
        <p:spPr>
          <a:xfrm>
            <a:off x="0" y="45382"/>
            <a:ext cx="3807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[1] Partitioning-Based Clustering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4AD58-DC17-90B8-9CFB-00A01028BC13}"/>
              </a:ext>
            </a:extLst>
          </p:cNvPr>
          <p:cNvSpPr txBox="1"/>
          <p:nvPr/>
        </p:nvSpPr>
        <p:spPr>
          <a:xfrm>
            <a:off x="0" y="363337"/>
            <a:ext cx="233589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[1-1] K-means</a:t>
            </a:r>
          </a:p>
          <a:p>
            <a:r>
              <a:rPr lang="en-US" altLang="ko-KR" sz="1400"/>
              <a:t>[1-2] K-medoids</a:t>
            </a:r>
          </a:p>
          <a:p>
            <a:r>
              <a:rPr lang="en-US" altLang="ko-KR" sz="1400"/>
              <a:t>[1-3] K-modes</a:t>
            </a:r>
          </a:p>
          <a:p>
            <a:r>
              <a:rPr lang="en-US" altLang="ko-KR" sz="1400"/>
              <a:t>[1-4] K-prototypes</a:t>
            </a:r>
          </a:p>
          <a:p>
            <a:r>
              <a:rPr lang="en-US" altLang="ko-KR" sz="1400"/>
              <a:t>[1-5] Mini-Batch K-means</a:t>
            </a:r>
          </a:p>
          <a:p>
            <a:r>
              <a:rPr lang="en-US" altLang="ko-KR" sz="1400"/>
              <a:t>[1-6] FCM(Fuzzy C-means)</a:t>
            </a:r>
            <a:endParaRPr lang="ko-KR" alt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9CDC9E-F942-9585-0084-BEC1C2DE12BA}"/>
              </a:ext>
            </a:extLst>
          </p:cNvPr>
          <p:cNvSpPr txBox="1"/>
          <p:nvPr/>
        </p:nvSpPr>
        <p:spPr>
          <a:xfrm>
            <a:off x="4615619" y="368104"/>
            <a:ext cx="749705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[2-1] Agglomerative/Divisive Clustering</a:t>
            </a:r>
          </a:p>
          <a:p>
            <a:r>
              <a:rPr lang="en-US" altLang="ko-KR" sz="1400"/>
              <a:t>[2-2] BIRCH(Balanced Iterative Reducing and Clustering using Hierarchies)</a:t>
            </a:r>
          </a:p>
          <a:p>
            <a:r>
              <a:rPr lang="en-US" altLang="ko-KR" sz="1400"/>
              <a:t>[2-3] CURE(Clustering Using Representatives)</a:t>
            </a:r>
          </a:p>
          <a:p>
            <a:r>
              <a:rPr lang="en-US" altLang="ko-KR" sz="1400"/>
              <a:t>[2-4] ROCK(Robust Clustering using Links)</a:t>
            </a:r>
          </a:p>
          <a:p>
            <a:r>
              <a:rPr lang="en-US" altLang="ko-KR" sz="1400"/>
              <a:t>[2-5] Chameleon</a:t>
            </a:r>
          </a:p>
          <a:p>
            <a:r>
              <a:rPr lang="en-US" altLang="ko-KR" sz="1400"/>
              <a:t>[2-6] HDBSCAN (Hierarchical Density-Based Spatial Clustering of Applications with Noise)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D3FD8-1047-67F7-E2CE-4D5CBC291210}"/>
              </a:ext>
            </a:extLst>
          </p:cNvPr>
          <p:cNvSpPr txBox="1"/>
          <p:nvPr/>
        </p:nvSpPr>
        <p:spPr>
          <a:xfrm>
            <a:off x="10755" y="2404112"/>
            <a:ext cx="629576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[3-1] DBSCAN(Density-Based Spatial Clustering of Applications with Noise)</a:t>
            </a:r>
          </a:p>
          <a:p>
            <a:r>
              <a:rPr lang="en-US" altLang="ko-KR" sz="1400"/>
              <a:t>[3-2] OPTICS(Ordering Points To Identify the Clustering Structure)</a:t>
            </a:r>
          </a:p>
          <a:p>
            <a:r>
              <a:rPr lang="en-US" altLang="ko-KR" sz="1400"/>
              <a:t>[3-3] DENCLUE(DENsity-based CLUstEring)</a:t>
            </a:r>
          </a:p>
          <a:p>
            <a:r>
              <a:rPr lang="en-US" altLang="ko-KR" sz="1400"/>
              <a:t>[3-4] Mean-Shift Clustering</a:t>
            </a:r>
          </a:p>
          <a:p>
            <a:r>
              <a:rPr lang="en-US" altLang="ko-KR" sz="1400"/>
              <a:t>[3-5] DPC(Density Peaks Clustering)</a:t>
            </a:r>
            <a:endParaRPr lang="ko-KR" altLang="en-US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533DE-10C8-E00A-3578-156EC3EB246C}"/>
              </a:ext>
            </a:extLst>
          </p:cNvPr>
          <p:cNvSpPr txBox="1"/>
          <p:nvPr/>
        </p:nvSpPr>
        <p:spPr>
          <a:xfrm>
            <a:off x="7020108" y="2393047"/>
            <a:ext cx="467839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[4-1] Wave-Cluster</a:t>
            </a:r>
          </a:p>
          <a:p>
            <a:r>
              <a:rPr lang="en-US" altLang="ko-KR" sz="1400"/>
              <a:t>[4-2] STING(Statistical Information Grid-based method)</a:t>
            </a:r>
          </a:p>
          <a:p>
            <a:r>
              <a:rPr lang="en-US" altLang="ko-KR" sz="1400"/>
              <a:t>[4-3] CLIQUE(CLustering In QUEst)</a:t>
            </a:r>
          </a:p>
          <a:p>
            <a:r>
              <a:rPr lang="en-US" altLang="ko-KR" sz="1400"/>
              <a:t>[4-4] OptiGrid</a:t>
            </a:r>
          </a:p>
          <a:p>
            <a:r>
              <a:rPr lang="en-US" altLang="ko-KR" sz="1400"/>
              <a:t>[4-5] MAFIA(Merging of Adaptive Finite Intervals)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C0F59-0C38-E2E5-1EB8-B855DA616AF5}"/>
              </a:ext>
            </a:extLst>
          </p:cNvPr>
          <p:cNvSpPr txBox="1"/>
          <p:nvPr/>
        </p:nvSpPr>
        <p:spPr>
          <a:xfrm>
            <a:off x="10755" y="4088414"/>
            <a:ext cx="48718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[5-1] GMM(Gaussian Mixture Model)</a:t>
            </a:r>
          </a:p>
          <a:p>
            <a:r>
              <a:rPr lang="en-US" altLang="ko-KR" sz="1400"/>
              <a:t>[5-2] COBWEB</a:t>
            </a:r>
          </a:p>
          <a:p>
            <a:r>
              <a:rPr lang="en-US" altLang="ko-KR" sz="1400"/>
              <a:t>[5-3] CLASSIT(Classification Incremental Learning System)</a:t>
            </a:r>
          </a:p>
          <a:p>
            <a:r>
              <a:rPr lang="en-US" altLang="ko-KR" sz="1400"/>
              <a:t>[5-4] LDA(Latent Dirichlet Allocation)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E2E082-4D81-05DF-D88D-9A31D33BAC5B}"/>
              </a:ext>
            </a:extLst>
          </p:cNvPr>
          <p:cNvSpPr txBox="1"/>
          <p:nvPr/>
        </p:nvSpPr>
        <p:spPr>
          <a:xfrm>
            <a:off x="7009350" y="4101098"/>
            <a:ext cx="27347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[6-1] Spectral Clustering</a:t>
            </a:r>
          </a:p>
          <a:p>
            <a:r>
              <a:rPr lang="en-US" altLang="ko-KR" sz="1400"/>
              <a:t>[6-2] Affinity Propagation</a:t>
            </a:r>
          </a:p>
          <a:p>
            <a:r>
              <a:rPr lang="en-US" altLang="ko-KR" sz="1400"/>
              <a:t>[6-3] MCL(Markov Clustering)</a:t>
            </a:r>
          </a:p>
          <a:p>
            <a:r>
              <a:rPr lang="en-US" altLang="ko-KR" sz="1400"/>
              <a:t>[6-4] Louvain/Leiden 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4B285E-7128-561D-C98B-338FB0FEBBF9}"/>
              </a:ext>
            </a:extLst>
          </p:cNvPr>
          <p:cNvSpPr txBox="1"/>
          <p:nvPr/>
        </p:nvSpPr>
        <p:spPr>
          <a:xfrm>
            <a:off x="16877" y="5608448"/>
            <a:ext cx="394967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[7-1] PROCLUS(PROjected CLUStering)</a:t>
            </a:r>
          </a:p>
          <a:p>
            <a:r>
              <a:rPr lang="en-US" altLang="ko-KR" sz="1400"/>
              <a:t>[7-2] ORCLUS(ORiented projected CLUStering)</a:t>
            </a:r>
          </a:p>
          <a:p>
            <a:r>
              <a:rPr lang="en-US" altLang="ko-KR" sz="1400"/>
              <a:t>[7-3] SUBCLU(SUBspace CLUstering)</a:t>
            </a:r>
          </a:p>
          <a:p>
            <a:r>
              <a:rPr lang="en-US" altLang="ko-KR" sz="1400"/>
              <a:t>[7-4] SOMs(Self-Organizing Maps)</a:t>
            </a:r>
          </a:p>
          <a:p>
            <a:r>
              <a:rPr lang="en-US" altLang="ko-KR" sz="1400"/>
              <a:t>[7-5] DEC(Deep Embedded Clustering)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3D77D4-3313-C952-CC1B-B9FB4718389E}"/>
              </a:ext>
            </a:extLst>
          </p:cNvPr>
          <p:cNvSpPr txBox="1"/>
          <p:nvPr/>
        </p:nvSpPr>
        <p:spPr>
          <a:xfrm>
            <a:off x="7009350" y="2077812"/>
            <a:ext cx="2977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[4] Grid-Based Clustering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D343A2-48E4-AC2D-F88C-6F96F63991AD}"/>
              </a:ext>
            </a:extLst>
          </p:cNvPr>
          <p:cNvSpPr txBox="1"/>
          <p:nvPr/>
        </p:nvSpPr>
        <p:spPr>
          <a:xfrm>
            <a:off x="4615619" y="45382"/>
            <a:ext cx="3802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[2] Hierarchical-Based Clustering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BF5E53-529D-703B-9F7D-CACC0880BDCD}"/>
              </a:ext>
            </a:extLst>
          </p:cNvPr>
          <p:cNvSpPr txBox="1"/>
          <p:nvPr/>
        </p:nvSpPr>
        <p:spPr>
          <a:xfrm>
            <a:off x="0" y="2077812"/>
            <a:ext cx="3332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[3] Density-Based Clustering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CB32AE-84F4-E4E5-18D6-969ABBA9A90A}"/>
              </a:ext>
            </a:extLst>
          </p:cNvPr>
          <p:cNvSpPr txBox="1"/>
          <p:nvPr/>
        </p:nvSpPr>
        <p:spPr>
          <a:xfrm>
            <a:off x="-3635" y="3758522"/>
            <a:ext cx="3210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[5] Model-Based Clustering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E811F7-5CB5-5DC0-A104-F21478C2941F}"/>
              </a:ext>
            </a:extLst>
          </p:cNvPr>
          <p:cNvSpPr txBox="1"/>
          <p:nvPr/>
        </p:nvSpPr>
        <p:spPr>
          <a:xfrm>
            <a:off x="10755" y="5282789"/>
            <a:ext cx="5459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[7] Subspace / Representation-Based Clustering</a:t>
            </a:r>
            <a:endParaRPr lang="ko-KR" altLang="en-US" b="1">
              <a:solidFill>
                <a:srgbClr val="0000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4BD7E2-E0BC-FEE4-7177-0BEBB20296A9}"/>
              </a:ext>
            </a:extLst>
          </p:cNvPr>
          <p:cNvSpPr txBox="1"/>
          <p:nvPr/>
        </p:nvSpPr>
        <p:spPr>
          <a:xfrm>
            <a:off x="7009350" y="3758522"/>
            <a:ext cx="3177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0000FF"/>
                </a:solidFill>
              </a:rPr>
              <a:t>[6] Graph-Based Clustering</a:t>
            </a:r>
            <a:endParaRPr lang="ko-KR" altLang="en-US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515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6990</TotalTime>
  <Words>1243</Words>
  <Application>Microsoft Office PowerPoint</Application>
  <PresentationFormat>와이드스크린</PresentationFormat>
  <Paragraphs>172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양희정</cp:lastModifiedBy>
  <cp:revision>228</cp:revision>
  <cp:lastPrinted>2026-03-11T07:44:21Z</cp:lastPrinted>
  <dcterms:created xsi:type="dcterms:W3CDTF">2026-02-24T07:28:13Z</dcterms:created>
  <dcterms:modified xsi:type="dcterms:W3CDTF">2026-03-29T13:29:09Z</dcterms:modified>
</cp:coreProperties>
</file>
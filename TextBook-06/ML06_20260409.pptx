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324" r:id="rId2"/>
    <p:sldId id="326" r:id="rId3"/>
    <p:sldId id="344" r:id="rId4"/>
    <p:sldId id="351" r:id="rId5"/>
    <p:sldId id="345" r:id="rId6"/>
    <p:sldId id="353" r:id="rId7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935" autoAdjust="0"/>
    <p:restoredTop sz="86437" autoAdjust="0"/>
  </p:normalViewPr>
  <p:slideViewPr>
    <p:cSldViewPr snapToGrid="0">
      <p:cViewPr varScale="1">
        <p:scale>
          <a:sx n="64" d="100"/>
          <a:sy n="64" d="100"/>
        </p:scale>
        <p:origin x="1056" y="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8" d="100"/>
          <a:sy n="78" d="100"/>
        </p:scale>
        <p:origin x="3404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4DA0A7-FD9F-4435-B1D5-7267E1A37088}" type="datetimeFigureOut">
              <a:rPr lang="ko-KR" altLang="en-US" smtClean="0"/>
              <a:t>2026-04-09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7F62DE-34EC-4057-822D-799CF81ECAA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82214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C6DF6-5903-1B32-C480-C7B110314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1B99DB5-477B-8C50-F816-DC1009D174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58FDB07-54BD-E367-8BC3-E5AED1A92E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73100A-F721-BBB7-0527-7C07836330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7F62DE-34EC-4057-822D-799CF81ECAA5}" type="slidenum">
              <a:rPr lang="ko-KR" altLang="en-US" smtClean="0"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662197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533FF-3AF8-B66D-330D-561E63217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2B046E-D63D-F293-134B-7ED2A38165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7388645-A723-C3A6-BB9D-1AF8B9765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502CF2-D7AB-5423-80D7-DE9A94435A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7F62DE-34EC-4057-822D-799CF81ECAA5}" type="slidenum">
              <a:rPr lang="ko-KR" altLang="en-US" smtClean="0"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155681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A8E23B-F0E9-4B10-94D7-7B62E5D5AD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93AE85C-2281-4817-BE9E-E6379D56EF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44FFC9-8220-4157-8FB9-B25881CE3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2026-04-09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AEC6EB-1CAC-407E-A433-9F1281F33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8A763EE-8B06-49EF-BA75-35242781B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83365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25E23A-E0A9-405C-BF0A-72BB9BC2D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5C189B-AC77-4437-A885-00263F09D7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A1F04B-0F89-4984-9B60-50DD8A1DB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2026-04-09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0816CC-AD95-4546-836F-99AE91EB7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98C12F-B0EA-454A-9466-FB5385C49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27920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CB79D1-AC4B-4787-927B-7EF46AEC5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7FE35A6-ADA7-460C-AD7C-E673C1AB67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5B3825-AED0-4BEC-8D29-A59AAF0A9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2026-04-09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25B07A-C113-4D8C-AAD6-1F78E6203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2BFBAE-DB5F-4B83-8E75-53207E967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32697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7C1C0A-A78B-45D5-9F40-6304D25CF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8295CC-148A-49C5-BA79-715ED4E992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5B625EC-A024-4315-8018-96A5CB50E5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D00DF5A-7454-4574-9FCF-BBC4B35AE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2026-04-09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F57DC97-CB44-47BC-8498-13D5714AD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EBA68A6-A6A4-4AA7-9B5F-AD1C2BE99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40999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4293F2-83B6-4772-815A-482DFE6D6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2216F97-1748-4816-93E4-789F4F1DA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47BC754-21C2-4480-B8F5-2140DB2F84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2553287-7BF8-49FB-BBC0-3047D7B462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B52FC25-6EEE-4A5C-9987-C04EE2E3A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DBDE308-CFCC-483A-9595-29641FDE2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2026-04-09</a:t>
            </a:fld>
            <a:endParaRPr lang="ko-KR" altLang="en-US" dirty="0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E4ADEA9-B683-4228-9FF6-75C7425C7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B9DCC2C-3148-46EA-B7FA-F74F95D23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48141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846B0E-E1A6-4B9C-BA80-B584DABCE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603AF5E-E832-4276-AE70-9E3E7AB0E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2026-04-09</a:t>
            </a:fld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23FCB58-064A-4A54-BC72-316F290E5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C13771E-66FF-4CA8-834B-1D35A3F8D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54242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F35B767-EE4D-42B6-BBC9-74C9E2F1C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2026-04-09</a:t>
            </a:fld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473DE23-3160-4BA4-BDC1-ACAD5B7A6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AEC72F6-E106-4BD4-A7F1-BC1902A60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69362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26D8B5-8345-435E-AFEB-C09E0979A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9E06DC-C929-478D-AAF2-410E633B06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21758E4-78E1-499E-8896-E37973A78D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EFCE34F-58CF-45FD-9F50-7B9FDC910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2026-04-09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265251D-ABF8-4225-9230-1693511BF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E1C334E-FAAE-47A5-B5C9-161A817A0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0626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202F8B-0C86-4553-A00F-6F778D101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A742D9B-53A2-45A2-A5C8-A11B564B74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B0507A6-9901-4336-A6F6-09232163D0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D2DAA8-0379-4F60-8838-3E74EF8D1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2026-04-09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7E97A47-FDF3-42CD-B879-95FD6CC58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162C005-1AAF-47C9-BE8B-09888906E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69190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538819-EE1A-40B9-B541-4A40C2F8A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E2FB293-A2FD-462C-9283-CE0131E4DE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C85D8E-73F1-4886-87EF-0DBE95FF7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2026-04-09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38E4AA-6BDD-4A8E-952E-88E4A2290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0DD0FCA-0A1B-471D-8171-8B29E57E6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57352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79D0B9C-E5E5-4E95-A480-EFEF19BDF3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A66BA4C-4BE6-4FC2-8155-FC9E164D09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CBCAB0-916F-41EE-8276-8909FF589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2026-04-09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4E6C37-A87A-49FE-B81E-BF7C19008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D10F43-0418-4CDD-8426-7D12DC366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27677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A9B92D0-C80B-40BB-8085-14F763244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F08BACE-8542-441D-BA7E-B549B97A96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CADE8F-D911-4205-BE5B-EC32974BED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8043F6-4F4D-4CB6-B54F-64438BCF3E22}" type="datetimeFigureOut">
              <a:rPr lang="ko-KR" altLang="en-US" smtClean="0"/>
              <a:t>2026-04-09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36DF68-EC07-408B-851E-4B231E4889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AB029D-F13F-4D80-83D8-1332C63615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84249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yangguibee/AIG" TargetMode="External"/><Relationship Id="rId5" Type="http://schemas.openxmlformats.org/officeDocument/2006/relationships/hyperlink" Target="mailto:heejung.yang@bok.or.kr" TargetMode="External"/><Relationship Id="rId4" Type="http://schemas.openxmlformats.org/officeDocument/2006/relationships/hyperlink" Target="mailto:guibee@konkuk.ac.kr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5AF8E-A806-1C68-09C1-6F93D2D86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048F682-6301-4D68-A1E2-FD20DE47E7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720" y="2721452"/>
            <a:ext cx="2780656" cy="92367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4F3E0DE-7586-70A7-661C-B8451F1B477E}"/>
              </a:ext>
            </a:extLst>
          </p:cNvPr>
          <p:cNvSpPr txBox="1"/>
          <p:nvPr/>
        </p:nvSpPr>
        <p:spPr>
          <a:xfrm>
            <a:off x="1268935" y="131389"/>
            <a:ext cx="37032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>
                <a:solidFill>
                  <a:schemeClr val="accent6">
                    <a:lumMod val="50000"/>
                  </a:schemeClr>
                </a:solidFill>
              </a:rPr>
              <a:t>건국대학교 공학대학원 </a:t>
            </a:r>
            <a:r>
              <a:rPr lang="en-US" altLang="ko-KR" sz="2000" b="1" dirty="0">
                <a:solidFill>
                  <a:schemeClr val="accent6">
                    <a:lumMod val="50000"/>
                  </a:schemeClr>
                </a:solidFill>
              </a:rPr>
              <a:t>AI</a:t>
            </a:r>
            <a:r>
              <a:rPr lang="ko-KR" altLang="en-US" sz="2000" b="1" dirty="0">
                <a:solidFill>
                  <a:schemeClr val="accent6">
                    <a:lumMod val="50000"/>
                  </a:schemeClr>
                </a:solidFill>
              </a:rPr>
              <a:t>전공</a:t>
            </a:r>
            <a:endParaRPr lang="en-US" altLang="ko-KR" sz="20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5" name="그림 4" descr="텍스트, 폰트, 디자인, 타이포그래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F0CAF15-BF6C-89C1-7946-F972B78DA3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215" y="131389"/>
            <a:ext cx="1150720" cy="3810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EC39D6-0EF0-B229-5081-12D7CBCE4A69}"/>
              </a:ext>
            </a:extLst>
          </p:cNvPr>
          <p:cNvSpPr txBox="1"/>
          <p:nvPr/>
        </p:nvSpPr>
        <p:spPr>
          <a:xfrm>
            <a:off x="1684789" y="2753771"/>
            <a:ext cx="73532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b="1" dirty="0"/>
              <a:t>머신러닝 기반의 연구방법론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060427-D4E6-EABB-B166-EA68CCD6E4B4}"/>
              </a:ext>
            </a:extLst>
          </p:cNvPr>
          <p:cNvSpPr txBox="1"/>
          <p:nvPr/>
        </p:nvSpPr>
        <p:spPr>
          <a:xfrm>
            <a:off x="7122243" y="5283819"/>
            <a:ext cx="31390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2026</a:t>
            </a:r>
            <a:r>
              <a:rPr lang="ko-KR" altLang="en-US" sz="2400" b="1" dirty="0"/>
              <a:t>년 </a:t>
            </a:r>
            <a:r>
              <a:rPr lang="en-US" altLang="ko-KR" sz="2400" b="1" dirty="0"/>
              <a:t>1</a:t>
            </a:r>
            <a:r>
              <a:rPr lang="ko-KR" altLang="en-US" sz="2400" b="1" dirty="0"/>
              <a:t>학기 양희정</a:t>
            </a:r>
            <a:endParaRPr lang="en-US" altLang="ko-KR" sz="2400" b="1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77396F36-C076-0E42-DE70-544C319D2214}"/>
              </a:ext>
            </a:extLst>
          </p:cNvPr>
          <p:cNvCxnSpPr>
            <a:cxnSpLocks/>
          </p:cNvCxnSpPr>
          <p:nvPr/>
        </p:nvCxnSpPr>
        <p:spPr>
          <a:xfrm>
            <a:off x="1768651" y="3523212"/>
            <a:ext cx="8396757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19582E5-F7B8-A99B-63B2-DDFA65998CB5}"/>
              </a:ext>
            </a:extLst>
          </p:cNvPr>
          <p:cNvSpPr txBox="1"/>
          <p:nvPr/>
        </p:nvSpPr>
        <p:spPr>
          <a:xfrm>
            <a:off x="8105205" y="5653151"/>
            <a:ext cx="21560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400" dirty="0">
                <a:hlinkClick r:id="rId4"/>
              </a:rPr>
              <a:t>guibee@konkuk.ac.kr</a:t>
            </a:r>
            <a:endParaRPr lang="en-US" altLang="ko-KR" sz="1400" dirty="0"/>
          </a:p>
          <a:p>
            <a:pPr algn="r"/>
            <a:r>
              <a:rPr lang="en-US" altLang="ko-KR" sz="1400" dirty="0">
                <a:hlinkClick r:id="rId5"/>
              </a:rPr>
              <a:t>heejung.yang@bok.or.kr</a:t>
            </a:r>
            <a:endParaRPr lang="ko-KR" altLang="en-US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EAD115-078E-E2E8-1F41-902AD1D1CA4F}"/>
              </a:ext>
            </a:extLst>
          </p:cNvPr>
          <p:cNvSpPr txBox="1"/>
          <p:nvPr/>
        </p:nvSpPr>
        <p:spPr>
          <a:xfrm>
            <a:off x="5673129" y="3523212"/>
            <a:ext cx="469801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hlinkClick r:id="rId6"/>
              </a:rPr>
              <a:t>https://github.com/yangguibee/ML</a:t>
            </a:r>
            <a:endParaRPr lang="en-US" altLang="ko-KR" sz="2000" b="1" dirty="0"/>
          </a:p>
          <a:p>
            <a:endParaRPr lang="en-US" altLang="ko-KR" sz="2000" b="1" dirty="0"/>
          </a:p>
          <a:p>
            <a:endParaRPr lang="ko-KR" altLang="en-US" sz="20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19B286-40D1-466A-8738-FC70802ED0E7}"/>
              </a:ext>
            </a:extLst>
          </p:cNvPr>
          <p:cNvSpPr txBox="1"/>
          <p:nvPr/>
        </p:nvSpPr>
        <p:spPr>
          <a:xfrm>
            <a:off x="10424869" y="2846103"/>
            <a:ext cx="12426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>
                <a:solidFill>
                  <a:srgbClr val="C00000"/>
                </a:solidFill>
              </a:rPr>
              <a:t>제</a:t>
            </a:r>
            <a:r>
              <a:rPr lang="en-US" altLang="ko-KR" sz="3200" b="1">
                <a:solidFill>
                  <a:srgbClr val="C00000"/>
                </a:solidFill>
              </a:rPr>
              <a:t>6</a:t>
            </a:r>
            <a:r>
              <a:rPr lang="ko-KR" altLang="en-US" sz="3200" b="1">
                <a:solidFill>
                  <a:srgbClr val="C00000"/>
                </a:solidFill>
              </a:rPr>
              <a:t>강</a:t>
            </a:r>
            <a:endParaRPr lang="ko-KR" altLang="en-US" sz="32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0075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6F453-B458-CA3C-258E-CC1732ECE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2F66D23A-6A05-4983-8D4A-D5942C763A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175" y="1255240"/>
            <a:ext cx="11713863" cy="4920655"/>
          </a:xfrm>
          <a:prstGeom prst="rect">
            <a:avLst/>
          </a:prstGeom>
        </p:spPr>
      </p:pic>
      <p:pic>
        <p:nvPicPr>
          <p:cNvPr id="11" name="그림 10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79F8CE8-020B-44F0-B6A5-83F5C7558C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066"/>
            <a:ext cx="2990973" cy="92367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B83E127-B4EB-1785-F44E-CAC209D0C03F}"/>
              </a:ext>
            </a:extLst>
          </p:cNvPr>
          <p:cNvSpPr txBox="1"/>
          <p:nvPr/>
        </p:nvSpPr>
        <p:spPr>
          <a:xfrm>
            <a:off x="600930" y="194519"/>
            <a:ext cx="19704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/>
              <a:t>강의 계획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9B1CE6A-827F-C148-5646-CBDB1EFA23BD}"/>
              </a:ext>
            </a:extLst>
          </p:cNvPr>
          <p:cNvSpPr/>
          <p:nvPr/>
        </p:nvSpPr>
        <p:spPr>
          <a:xfrm>
            <a:off x="1463040" y="2897243"/>
            <a:ext cx="10476785" cy="297777"/>
          </a:xfrm>
          <a:prstGeom prst="rect">
            <a:avLst/>
          </a:prstGeom>
          <a:noFill/>
          <a:ln w="635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83346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D493D-3350-8DDE-9921-7DC7DEBA5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그림 36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F3B05EE-8576-BC2F-94A2-F8804A365D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066"/>
            <a:ext cx="2990973" cy="92367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EB56943-0E4D-9022-D1CC-22CF01198F39}"/>
              </a:ext>
            </a:extLst>
          </p:cNvPr>
          <p:cNvSpPr txBox="1"/>
          <p:nvPr/>
        </p:nvSpPr>
        <p:spPr>
          <a:xfrm>
            <a:off x="2589985" y="1285355"/>
            <a:ext cx="12170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개요 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E14B07-F78D-0253-5252-0DFBA57F37BC}"/>
              </a:ext>
            </a:extLst>
          </p:cNvPr>
          <p:cNvSpPr txBox="1"/>
          <p:nvPr/>
        </p:nvSpPr>
        <p:spPr>
          <a:xfrm>
            <a:off x="2589985" y="1834596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데이터 ②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6E2030-66AE-D504-0C65-BBC0BE35E5EF}"/>
              </a:ext>
            </a:extLst>
          </p:cNvPr>
          <p:cNvSpPr txBox="1"/>
          <p:nvPr/>
        </p:nvSpPr>
        <p:spPr>
          <a:xfrm>
            <a:off x="2589985" y="2383837"/>
            <a:ext cx="21403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연구방법론 ③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012DCF-DFDE-0291-3FB5-C8CA55401C3B}"/>
              </a:ext>
            </a:extLst>
          </p:cNvPr>
          <p:cNvSpPr txBox="1"/>
          <p:nvPr/>
        </p:nvSpPr>
        <p:spPr>
          <a:xfrm>
            <a:off x="2589985" y="2933079"/>
            <a:ext cx="31726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비지도 학습 ④⑤⑥⑦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AEC03C-0090-F7A6-E089-5960FD9FB209}"/>
              </a:ext>
            </a:extLst>
          </p:cNvPr>
          <p:cNvSpPr txBox="1"/>
          <p:nvPr/>
        </p:nvSpPr>
        <p:spPr>
          <a:xfrm>
            <a:off x="441453" y="2138649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비지도학습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67046E-560F-CFFA-113F-1D9A9FF25D8E}"/>
              </a:ext>
            </a:extLst>
          </p:cNvPr>
          <p:cNvSpPr txBox="1"/>
          <p:nvPr/>
        </p:nvSpPr>
        <p:spPr>
          <a:xfrm>
            <a:off x="441453" y="4713549"/>
            <a:ext cx="14157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지도학습</a:t>
            </a:r>
            <a:endParaRPr lang="en-US" altLang="ko-KR" sz="2400" b="1" dirty="0"/>
          </a:p>
          <a:p>
            <a:r>
              <a:rPr lang="ko-KR" altLang="en-US" sz="2400" b="1" dirty="0"/>
              <a:t>강화학습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AFDC6D-EA54-113D-3A24-038A0C0C1BA8}"/>
              </a:ext>
            </a:extLst>
          </p:cNvPr>
          <p:cNvSpPr txBox="1"/>
          <p:nvPr/>
        </p:nvSpPr>
        <p:spPr>
          <a:xfrm>
            <a:off x="2589985" y="3531330"/>
            <a:ext cx="18325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중간고사 ⑧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24E79F-F8F3-0DB1-E253-014B979025FD}"/>
              </a:ext>
            </a:extLst>
          </p:cNvPr>
          <p:cNvSpPr txBox="1"/>
          <p:nvPr/>
        </p:nvSpPr>
        <p:spPr>
          <a:xfrm>
            <a:off x="3236720" y="4208177"/>
            <a:ext cx="27558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지도학습 ⑨⑩⑪⑫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C5A458-BC48-C20A-4C93-4EE293F7C525}"/>
              </a:ext>
            </a:extLst>
          </p:cNvPr>
          <p:cNvSpPr txBox="1"/>
          <p:nvPr/>
        </p:nvSpPr>
        <p:spPr>
          <a:xfrm>
            <a:off x="3236720" y="4695218"/>
            <a:ext cx="18325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강화학습 ⑬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96A502-651B-15E7-1EB5-47B5BCCB6DE6}"/>
              </a:ext>
            </a:extLst>
          </p:cNvPr>
          <p:cNvSpPr txBox="1"/>
          <p:nvPr/>
        </p:nvSpPr>
        <p:spPr>
          <a:xfrm>
            <a:off x="3236720" y="5669300"/>
            <a:ext cx="19094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기말고사 </a:t>
            </a:r>
            <a:r>
              <a:rPr lang="en-US" altLang="ko-KR" sz="1600" b="1" dirty="0"/>
              <a:t>(16)</a:t>
            </a:r>
            <a:endParaRPr lang="en-US" altLang="ko-KR" sz="2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B455BD-4EB9-0CCE-AC73-84333274AF50}"/>
              </a:ext>
            </a:extLst>
          </p:cNvPr>
          <p:cNvSpPr txBox="1"/>
          <p:nvPr/>
        </p:nvSpPr>
        <p:spPr>
          <a:xfrm>
            <a:off x="3236720" y="5182259"/>
            <a:ext cx="25244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Case Study ⑭⑮</a:t>
            </a:r>
          </a:p>
        </p:txBody>
      </p:sp>
      <p:cxnSp>
        <p:nvCxnSpPr>
          <p:cNvPr id="17" name="연결선: 구부러짐 16">
            <a:extLst>
              <a:ext uri="{FF2B5EF4-FFF2-40B4-BE49-F238E27FC236}">
                <a16:creationId xmlns:a16="http://schemas.microsoft.com/office/drawing/2014/main" id="{DF42A3C2-6FBF-D99C-96EC-443655ED5F14}"/>
              </a:ext>
            </a:extLst>
          </p:cNvPr>
          <p:cNvCxnSpPr>
            <a:stCxn id="8" idx="3"/>
            <a:endCxn id="4" idx="1"/>
          </p:cNvCxnSpPr>
          <p:nvPr/>
        </p:nvCxnSpPr>
        <p:spPr>
          <a:xfrm flipV="1">
            <a:off x="2165002" y="1516188"/>
            <a:ext cx="424983" cy="853294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연결선: 구부러짐 17">
            <a:extLst>
              <a:ext uri="{FF2B5EF4-FFF2-40B4-BE49-F238E27FC236}">
                <a16:creationId xmlns:a16="http://schemas.microsoft.com/office/drawing/2014/main" id="{0F2827C1-CAE3-03FF-0782-5B66445A34CB}"/>
              </a:ext>
            </a:extLst>
          </p:cNvPr>
          <p:cNvCxnSpPr>
            <a:cxnSpLocks/>
            <a:stCxn id="8" idx="3"/>
            <a:endCxn id="5" idx="1"/>
          </p:cNvCxnSpPr>
          <p:nvPr/>
        </p:nvCxnSpPr>
        <p:spPr>
          <a:xfrm flipV="1">
            <a:off x="2165002" y="2065429"/>
            <a:ext cx="424983" cy="304053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연결선: 구부러짐 20">
            <a:extLst>
              <a:ext uri="{FF2B5EF4-FFF2-40B4-BE49-F238E27FC236}">
                <a16:creationId xmlns:a16="http://schemas.microsoft.com/office/drawing/2014/main" id="{2F819FC1-7DBC-FE37-E7E6-1EF96C9D912D}"/>
              </a:ext>
            </a:extLst>
          </p:cNvPr>
          <p:cNvCxnSpPr>
            <a:cxnSpLocks/>
            <a:stCxn id="8" idx="3"/>
            <a:endCxn id="6" idx="1"/>
          </p:cNvCxnSpPr>
          <p:nvPr/>
        </p:nvCxnSpPr>
        <p:spPr>
          <a:xfrm>
            <a:off x="2165002" y="2369482"/>
            <a:ext cx="424983" cy="245188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연결선: 구부러짐 23">
            <a:extLst>
              <a:ext uri="{FF2B5EF4-FFF2-40B4-BE49-F238E27FC236}">
                <a16:creationId xmlns:a16="http://schemas.microsoft.com/office/drawing/2014/main" id="{AF1AFCF4-06C3-695A-0E0E-CDAA3109938F}"/>
              </a:ext>
            </a:extLst>
          </p:cNvPr>
          <p:cNvCxnSpPr>
            <a:cxnSpLocks/>
            <a:stCxn id="8" idx="3"/>
            <a:endCxn id="7" idx="1"/>
          </p:cNvCxnSpPr>
          <p:nvPr/>
        </p:nvCxnSpPr>
        <p:spPr>
          <a:xfrm>
            <a:off x="2165002" y="2369482"/>
            <a:ext cx="424983" cy="794430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연결선: 구부러짐 26">
            <a:extLst>
              <a:ext uri="{FF2B5EF4-FFF2-40B4-BE49-F238E27FC236}">
                <a16:creationId xmlns:a16="http://schemas.microsoft.com/office/drawing/2014/main" id="{9061310C-BE42-E67C-4051-2A1D77C843D1}"/>
              </a:ext>
            </a:extLst>
          </p:cNvPr>
          <p:cNvCxnSpPr>
            <a:cxnSpLocks/>
            <a:stCxn id="8" idx="3"/>
            <a:endCxn id="11" idx="1"/>
          </p:cNvCxnSpPr>
          <p:nvPr/>
        </p:nvCxnSpPr>
        <p:spPr>
          <a:xfrm>
            <a:off x="2165002" y="2369482"/>
            <a:ext cx="424983" cy="1392681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연결선: 구부러짐 29">
            <a:extLst>
              <a:ext uri="{FF2B5EF4-FFF2-40B4-BE49-F238E27FC236}">
                <a16:creationId xmlns:a16="http://schemas.microsoft.com/office/drawing/2014/main" id="{2FD31F0C-2CFD-E2A3-C798-8DC417C4A8A7}"/>
              </a:ext>
            </a:extLst>
          </p:cNvPr>
          <p:cNvCxnSpPr>
            <a:cxnSpLocks/>
            <a:stCxn id="9" idx="3"/>
            <a:endCxn id="12" idx="1"/>
          </p:cNvCxnSpPr>
          <p:nvPr/>
        </p:nvCxnSpPr>
        <p:spPr>
          <a:xfrm flipV="1">
            <a:off x="1857225" y="4439010"/>
            <a:ext cx="1379495" cy="690038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연결선: 구부러짐 32">
            <a:extLst>
              <a:ext uri="{FF2B5EF4-FFF2-40B4-BE49-F238E27FC236}">
                <a16:creationId xmlns:a16="http://schemas.microsoft.com/office/drawing/2014/main" id="{CD2B2603-D6FA-0E20-7730-3CE7F2CED473}"/>
              </a:ext>
            </a:extLst>
          </p:cNvPr>
          <p:cNvCxnSpPr>
            <a:cxnSpLocks/>
            <a:stCxn id="9" idx="3"/>
            <a:endCxn id="13" idx="1"/>
          </p:cNvCxnSpPr>
          <p:nvPr/>
        </p:nvCxnSpPr>
        <p:spPr>
          <a:xfrm flipV="1">
            <a:off x="1857225" y="4926051"/>
            <a:ext cx="1379495" cy="202997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연결선: 구부러짐 35">
            <a:extLst>
              <a:ext uri="{FF2B5EF4-FFF2-40B4-BE49-F238E27FC236}">
                <a16:creationId xmlns:a16="http://schemas.microsoft.com/office/drawing/2014/main" id="{FEC31CBA-191D-02B0-1EB4-C53DE70165EE}"/>
              </a:ext>
            </a:extLst>
          </p:cNvPr>
          <p:cNvCxnSpPr>
            <a:cxnSpLocks/>
            <a:stCxn id="9" idx="3"/>
            <a:endCxn id="15" idx="1"/>
          </p:cNvCxnSpPr>
          <p:nvPr/>
        </p:nvCxnSpPr>
        <p:spPr>
          <a:xfrm>
            <a:off x="1857225" y="5129048"/>
            <a:ext cx="1379495" cy="284044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연결선: 구부러짐 38">
            <a:extLst>
              <a:ext uri="{FF2B5EF4-FFF2-40B4-BE49-F238E27FC236}">
                <a16:creationId xmlns:a16="http://schemas.microsoft.com/office/drawing/2014/main" id="{FD9CB859-D481-16B9-B1DA-433B4C19442E}"/>
              </a:ext>
            </a:extLst>
          </p:cNvPr>
          <p:cNvCxnSpPr>
            <a:cxnSpLocks/>
            <a:stCxn id="9" idx="3"/>
            <a:endCxn id="14" idx="1"/>
          </p:cNvCxnSpPr>
          <p:nvPr/>
        </p:nvCxnSpPr>
        <p:spPr>
          <a:xfrm>
            <a:off x="1857225" y="5129048"/>
            <a:ext cx="1379495" cy="771085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6E08F9BE-2115-1C74-49A8-FFCA1B201611}"/>
              </a:ext>
            </a:extLst>
          </p:cNvPr>
          <p:cNvSpPr txBox="1"/>
          <p:nvPr/>
        </p:nvSpPr>
        <p:spPr>
          <a:xfrm>
            <a:off x="486799" y="187001"/>
            <a:ext cx="19704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/>
              <a:t>강의 구성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7B5F04-8CA4-3BA8-586E-EC3CFCB9287F}"/>
              </a:ext>
            </a:extLst>
          </p:cNvPr>
          <p:cNvSpPr txBox="1"/>
          <p:nvPr/>
        </p:nvSpPr>
        <p:spPr>
          <a:xfrm>
            <a:off x="6814760" y="187001"/>
            <a:ext cx="4890441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시각화 </a:t>
            </a:r>
            <a:r>
              <a:rPr lang="en-US" altLang="ko-KR" dirty="0"/>
              <a:t>: Matplotlib, Seaborn, Orange3</a:t>
            </a:r>
          </a:p>
          <a:p>
            <a:r>
              <a:rPr lang="en-US" altLang="ko-KR" dirty="0"/>
              <a:t>2. </a:t>
            </a:r>
            <a:r>
              <a:rPr lang="ko-KR" altLang="en-US" dirty="0"/>
              <a:t>군집화 </a:t>
            </a:r>
            <a:r>
              <a:rPr lang="en-US" altLang="ko-KR" dirty="0"/>
              <a:t>: Partitioning, Hierarchical, </a:t>
            </a:r>
          </a:p>
          <a:p>
            <a:r>
              <a:rPr lang="en-US" altLang="ko-KR" dirty="0"/>
              <a:t>              Density, Grid, Model,</a:t>
            </a:r>
          </a:p>
          <a:p>
            <a:r>
              <a:rPr lang="en-US" altLang="ko-KR" dirty="0"/>
              <a:t>              Graph -Based Clustering</a:t>
            </a:r>
          </a:p>
          <a:p>
            <a:r>
              <a:rPr lang="en-US" altLang="ko-KR" dirty="0"/>
              <a:t>3. </a:t>
            </a:r>
            <a:r>
              <a:rPr lang="ko-KR" altLang="en-US" dirty="0"/>
              <a:t>연관규칙 </a:t>
            </a:r>
            <a:r>
              <a:rPr lang="en-US" altLang="ko-KR" dirty="0"/>
              <a:t>: Apriori, FP-Growth, Eclat,</a:t>
            </a:r>
          </a:p>
          <a:p>
            <a:r>
              <a:rPr lang="en-US" altLang="ko-KR" dirty="0"/>
              <a:t>                 MLAR, MDAR, AIS</a:t>
            </a:r>
          </a:p>
          <a:p>
            <a:r>
              <a:rPr lang="en-US" altLang="ko-KR" dirty="0"/>
              <a:t>   </a:t>
            </a:r>
            <a:r>
              <a:rPr lang="ko-KR" altLang="en-US" dirty="0"/>
              <a:t>차원축소 </a:t>
            </a:r>
            <a:r>
              <a:rPr lang="en-US" altLang="ko-KR" dirty="0"/>
              <a:t>: PCA, t-SNE, UMAP, SVD, ICA, </a:t>
            </a:r>
          </a:p>
          <a:p>
            <a:r>
              <a:rPr lang="en-US" altLang="ko-KR" dirty="0"/>
              <a:t>                 LDA, Isomap, MDS, SOM, NMF</a:t>
            </a:r>
          </a:p>
          <a:p>
            <a:r>
              <a:rPr lang="en-US" altLang="ko-KR" dirty="0"/>
              <a:t>4. </a:t>
            </a:r>
            <a:r>
              <a:rPr lang="ko-KR" altLang="en-US" dirty="0"/>
              <a:t>평가 </a:t>
            </a:r>
            <a:r>
              <a:rPr lang="en-US" altLang="ko-KR" dirty="0"/>
              <a:t>: </a:t>
            </a:r>
            <a:r>
              <a:rPr lang="ko-KR" altLang="en-US" dirty="0"/>
              <a:t>군집</a:t>
            </a:r>
            <a:r>
              <a:rPr lang="en-US" altLang="ko-KR" dirty="0"/>
              <a:t>, </a:t>
            </a:r>
            <a:r>
              <a:rPr lang="ko-KR" altLang="en-US" dirty="0"/>
              <a:t>연관규칙</a:t>
            </a:r>
            <a:r>
              <a:rPr lang="en-US" altLang="ko-KR" dirty="0"/>
              <a:t>, </a:t>
            </a:r>
            <a:r>
              <a:rPr lang="ko-KR" altLang="en-US" dirty="0"/>
              <a:t>차원축소</a:t>
            </a:r>
            <a:endParaRPr lang="en-US" altLang="ko-KR" dirty="0"/>
          </a:p>
        </p:txBody>
      </p:sp>
      <p:sp>
        <p:nvSpPr>
          <p:cNvPr id="19" name="왼쪽 중괄호 18">
            <a:extLst>
              <a:ext uri="{FF2B5EF4-FFF2-40B4-BE49-F238E27FC236}">
                <a16:creationId xmlns:a16="http://schemas.microsoft.com/office/drawing/2014/main" id="{E43CB37F-61B0-1B45-6B28-FCA0EEC00999}"/>
              </a:ext>
            </a:extLst>
          </p:cNvPr>
          <p:cNvSpPr/>
          <p:nvPr/>
        </p:nvSpPr>
        <p:spPr>
          <a:xfrm>
            <a:off x="6297040" y="370191"/>
            <a:ext cx="517720" cy="2262984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20" name="연결선: 구부러짐 19">
            <a:extLst>
              <a:ext uri="{FF2B5EF4-FFF2-40B4-BE49-F238E27FC236}">
                <a16:creationId xmlns:a16="http://schemas.microsoft.com/office/drawing/2014/main" id="{9BE293F5-BB91-8FB0-9BBC-9680A78EB124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5762648" y="1516187"/>
            <a:ext cx="424099" cy="1647725"/>
          </a:xfrm>
          <a:prstGeom prst="curvedConnector2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4106597-5500-FEA9-7554-53512EECAC2A}"/>
              </a:ext>
            </a:extLst>
          </p:cNvPr>
          <p:cNvSpPr/>
          <p:nvPr/>
        </p:nvSpPr>
        <p:spPr>
          <a:xfrm>
            <a:off x="2552152" y="2888105"/>
            <a:ext cx="2755883" cy="551611"/>
          </a:xfrm>
          <a:prstGeom prst="rect">
            <a:avLst/>
          </a:prstGeom>
          <a:noFill/>
          <a:ln w="635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4A71B89-2EBE-4B46-A067-96B04F3726B7}"/>
              </a:ext>
            </a:extLst>
          </p:cNvPr>
          <p:cNvSpPr txBox="1"/>
          <p:nvPr/>
        </p:nvSpPr>
        <p:spPr>
          <a:xfrm>
            <a:off x="6554489" y="3146348"/>
            <a:ext cx="5716308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회귀 </a:t>
            </a:r>
            <a:r>
              <a:rPr lang="en-US" altLang="ko-KR" dirty="0"/>
              <a:t>: Linear Regression, </a:t>
            </a:r>
          </a:p>
          <a:p>
            <a:r>
              <a:rPr lang="en-US" altLang="ko-KR" dirty="0"/>
              <a:t>           Generalized/Multiple/Polynomial/</a:t>
            </a:r>
          </a:p>
          <a:p>
            <a:r>
              <a:rPr lang="en-US" altLang="ko-KR" dirty="0"/>
              <a:t>           nonlinear/Regularized  Linear Regression</a:t>
            </a:r>
          </a:p>
          <a:p>
            <a:r>
              <a:rPr lang="en-US" altLang="ko-KR" dirty="0"/>
              <a:t>2. </a:t>
            </a:r>
            <a:r>
              <a:rPr lang="ko-KR" altLang="en-US" dirty="0"/>
              <a:t>분류 </a:t>
            </a:r>
            <a:r>
              <a:rPr lang="en-US" altLang="ko-KR" dirty="0"/>
              <a:t>: Logistic Regression, Naive Bayes</a:t>
            </a:r>
          </a:p>
          <a:p>
            <a:r>
              <a:rPr lang="en-US" altLang="ko-KR" dirty="0"/>
              <a:t>3. </a:t>
            </a:r>
            <a:r>
              <a:rPr lang="ko-KR" altLang="en-US" dirty="0"/>
              <a:t>회귀</a:t>
            </a:r>
            <a:r>
              <a:rPr lang="en-US" altLang="ko-KR" dirty="0"/>
              <a:t>+</a:t>
            </a:r>
            <a:r>
              <a:rPr lang="ko-KR" altLang="en-US" dirty="0"/>
              <a:t>분류 </a:t>
            </a:r>
            <a:r>
              <a:rPr lang="en-US" altLang="ko-KR" dirty="0"/>
              <a:t>: K-NN, SVM, Decision Tree, </a:t>
            </a:r>
          </a:p>
          <a:p>
            <a:r>
              <a:rPr lang="en-US" altLang="ko-KR" dirty="0"/>
              <a:t>                   Random Forest</a:t>
            </a:r>
          </a:p>
          <a:p>
            <a:r>
              <a:rPr lang="en-US" altLang="ko-KR" dirty="0"/>
              <a:t>4. </a:t>
            </a:r>
            <a:r>
              <a:rPr lang="ko-KR" altLang="en-US" dirty="0"/>
              <a:t>평가 </a:t>
            </a:r>
            <a:r>
              <a:rPr lang="en-US" altLang="ko-KR" dirty="0"/>
              <a:t>: </a:t>
            </a:r>
            <a:r>
              <a:rPr lang="ko-KR" altLang="en-US" dirty="0"/>
              <a:t>회귀</a:t>
            </a:r>
            <a:r>
              <a:rPr lang="en-US" altLang="ko-KR" sz="1600" dirty="0"/>
              <a:t>(ME, MAE, MSE, MSLE, RMSE, RMSLE, </a:t>
            </a:r>
          </a:p>
          <a:p>
            <a:r>
              <a:rPr lang="en-US" altLang="ko-KR" sz="1600" dirty="0"/>
              <a:t>                    MPE, MAPE, MASE, R2 score)</a:t>
            </a:r>
          </a:p>
          <a:p>
            <a:r>
              <a:rPr lang="ko-KR" altLang="en-US" dirty="0"/>
              <a:t>           분류</a:t>
            </a:r>
            <a:r>
              <a:rPr lang="en-US" altLang="ko-KR" sz="1600" dirty="0"/>
              <a:t>(Confusion Matrix, Accurancy, Precision, </a:t>
            </a:r>
          </a:p>
          <a:p>
            <a:r>
              <a:rPr lang="en-US" altLang="ko-KR" sz="1600" dirty="0"/>
              <a:t>                    Recall/Sensitivity, F1 score, Error Rate, </a:t>
            </a:r>
          </a:p>
          <a:p>
            <a:r>
              <a:rPr lang="en-US" altLang="ko-KR" sz="1600" dirty="0"/>
              <a:t>                    Specificity, Fall Out, ROC curve, AUC score)</a:t>
            </a:r>
          </a:p>
        </p:txBody>
      </p:sp>
      <p:sp>
        <p:nvSpPr>
          <p:cNvPr id="54" name="왼쪽 중괄호 53">
            <a:extLst>
              <a:ext uri="{FF2B5EF4-FFF2-40B4-BE49-F238E27FC236}">
                <a16:creationId xmlns:a16="http://schemas.microsoft.com/office/drawing/2014/main" id="{22C65FBA-3D7A-4104-ADB5-E70F1D5B08BB}"/>
              </a:ext>
            </a:extLst>
          </p:cNvPr>
          <p:cNvSpPr/>
          <p:nvPr/>
        </p:nvSpPr>
        <p:spPr>
          <a:xfrm>
            <a:off x="6130390" y="3307517"/>
            <a:ext cx="517720" cy="2262984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55" name="연결선: 구부러짐 54">
            <a:extLst>
              <a:ext uri="{FF2B5EF4-FFF2-40B4-BE49-F238E27FC236}">
                <a16:creationId xmlns:a16="http://schemas.microsoft.com/office/drawing/2014/main" id="{3B921C45-5C0A-4B4E-8EB2-F60574F3BE45}"/>
              </a:ext>
            </a:extLst>
          </p:cNvPr>
          <p:cNvCxnSpPr>
            <a:cxnSpLocks/>
            <a:stCxn id="12" idx="3"/>
            <a:endCxn id="54" idx="1"/>
          </p:cNvCxnSpPr>
          <p:nvPr/>
        </p:nvCxnSpPr>
        <p:spPr>
          <a:xfrm flipV="1">
            <a:off x="5992603" y="4439009"/>
            <a:ext cx="137787" cy="1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8431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5FA16-E94B-45B5-9EC6-289E743CA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14FC5A-B48D-5621-DF35-D7EB1ED5F20E}"/>
              </a:ext>
            </a:extLst>
          </p:cNvPr>
          <p:cNvSpPr txBox="1"/>
          <p:nvPr/>
        </p:nvSpPr>
        <p:spPr>
          <a:xfrm>
            <a:off x="4262471" y="100528"/>
            <a:ext cx="26107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>
                <a:solidFill>
                  <a:srgbClr val="0000FF"/>
                </a:solidFill>
              </a:rPr>
              <a:t>[1] Partitioning-Based</a:t>
            </a:r>
            <a:endParaRPr lang="ko-KR" altLang="en-US" b="1">
              <a:solidFill>
                <a:srgbClr val="0000F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B40205-5F85-F6D6-07A7-B5326FA3CD98}"/>
              </a:ext>
            </a:extLst>
          </p:cNvPr>
          <p:cNvSpPr txBox="1"/>
          <p:nvPr/>
        </p:nvSpPr>
        <p:spPr>
          <a:xfrm>
            <a:off x="4262471" y="418483"/>
            <a:ext cx="4037003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/>
              <a:t>[1-1] K-means</a:t>
            </a:r>
          </a:p>
          <a:p>
            <a:r>
              <a:rPr lang="en-US" altLang="ko-KR" sz="1400"/>
              <a:t>[1-2] K-medoids </a:t>
            </a:r>
            <a:r>
              <a:rPr lang="en-US" altLang="ko-KR" sz="1400" b="1"/>
              <a:t>( PAM / CLARANS / CLARA )</a:t>
            </a:r>
          </a:p>
          <a:p>
            <a:r>
              <a:rPr lang="en-US" altLang="ko-KR" sz="1400"/>
              <a:t>[1-3] K-modes</a:t>
            </a:r>
          </a:p>
          <a:p>
            <a:r>
              <a:rPr lang="en-US" altLang="ko-KR" sz="1400"/>
              <a:t>[1-4] K-prototypes</a:t>
            </a:r>
          </a:p>
          <a:p>
            <a:r>
              <a:rPr lang="en-US" altLang="ko-KR" sz="1400"/>
              <a:t>[1-5] Mini-Batch K-means</a:t>
            </a:r>
          </a:p>
          <a:p>
            <a:r>
              <a:rPr lang="en-US" altLang="ko-KR" sz="1400"/>
              <a:t>[1-6] FCM(Fuzzy C-means)</a:t>
            </a:r>
            <a:endParaRPr lang="ko-KR" altLang="en-US" sz="1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54ABD7-84BD-4700-5B92-3BAA4B901B82}"/>
              </a:ext>
            </a:extLst>
          </p:cNvPr>
          <p:cNvSpPr txBox="1"/>
          <p:nvPr/>
        </p:nvSpPr>
        <p:spPr>
          <a:xfrm>
            <a:off x="4262471" y="2156368"/>
            <a:ext cx="7497052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[2-1] Agglomerative/Divisive Clustering</a:t>
            </a:r>
          </a:p>
          <a:p>
            <a:r>
              <a:rPr lang="en-US" altLang="ko-KR" sz="1400" dirty="0"/>
              <a:t>[2-2] BIRCH(Balanced Iterative Reducing and Clustering using Hierarchies)</a:t>
            </a:r>
          </a:p>
          <a:p>
            <a:r>
              <a:rPr lang="en-US" altLang="ko-KR" sz="1400" dirty="0"/>
              <a:t>[2-3] CURE(Clustering Using Representatives)</a:t>
            </a:r>
          </a:p>
          <a:p>
            <a:r>
              <a:rPr lang="en-US" altLang="ko-KR" sz="1400" dirty="0"/>
              <a:t>[2-4] ROCK(Robust Clustering using Links)</a:t>
            </a:r>
          </a:p>
          <a:p>
            <a:r>
              <a:rPr lang="en-US" altLang="ko-KR" sz="1400" dirty="0"/>
              <a:t>[2-5] Chameleon</a:t>
            </a:r>
          </a:p>
          <a:p>
            <a:r>
              <a:rPr lang="en-US" altLang="ko-KR" sz="1400" dirty="0"/>
              <a:t>[2-6] HDBSCAN (Hierarchical Density-Based Spatial Clustering of Applications with Noise)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D58D04-A4AA-9F00-FDED-77B69F67AB1C}"/>
              </a:ext>
            </a:extLst>
          </p:cNvPr>
          <p:cNvSpPr txBox="1"/>
          <p:nvPr/>
        </p:nvSpPr>
        <p:spPr>
          <a:xfrm>
            <a:off x="-3635" y="3904503"/>
            <a:ext cx="6295762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/>
              <a:t>[3-1] DBSCAN(Density-Based Spatial Clustering of Applications with Noise)</a:t>
            </a:r>
          </a:p>
          <a:p>
            <a:r>
              <a:rPr lang="en-US" altLang="ko-KR" sz="1400"/>
              <a:t>[3-2] OPTICS(Ordering Points To Identify the Clustering Structure)</a:t>
            </a:r>
          </a:p>
          <a:p>
            <a:r>
              <a:rPr lang="en-US" altLang="ko-KR" sz="1400"/>
              <a:t>[3-3] DENCLUE(DENsity-based CLUstEring)</a:t>
            </a:r>
          </a:p>
          <a:p>
            <a:r>
              <a:rPr lang="en-US" altLang="ko-KR" sz="1400"/>
              <a:t>[3-4] Mean-Shift Clustering</a:t>
            </a:r>
          </a:p>
          <a:p>
            <a:r>
              <a:rPr lang="en-US" altLang="ko-KR" sz="1400"/>
              <a:t>[3-5] DPC(Density Peaks Clustering)</a:t>
            </a:r>
            <a:endParaRPr lang="ko-KR" altLang="en-US" sz="14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CCE066-E167-6EB6-378D-ACC7E966B263}"/>
              </a:ext>
            </a:extLst>
          </p:cNvPr>
          <p:cNvSpPr txBox="1"/>
          <p:nvPr/>
        </p:nvSpPr>
        <p:spPr>
          <a:xfrm>
            <a:off x="7275550" y="3932343"/>
            <a:ext cx="4678397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/>
              <a:t>[4-1] Wave-Cluster</a:t>
            </a:r>
          </a:p>
          <a:p>
            <a:r>
              <a:rPr lang="en-US" altLang="ko-KR" sz="1400"/>
              <a:t>[4-2] STING(Statistical Information Grid-based method)</a:t>
            </a:r>
          </a:p>
          <a:p>
            <a:r>
              <a:rPr lang="en-US" altLang="ko-KR" sz="1400"/>
              <a:t>[4-3] CLIQUE(CLustering In QUEst)</a:t>
            </a:r>
          </a:p>
          <a:p>
            <a:r>
              <a:rPr lang="en-US" altLang="ko-KR" sz="1400"/>
              <a:t>[4-4] OptiGrid</a:t>
            </a:r>
          </a:p>
          <a:p>
            <a:r>
              <a:rPr lang="en-US" altLang="ko-KR" sz="1400"/>
              <a:t>[4-5] MAFIA(Merging of Adaptive Finite Intervals)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10EFFF-0A96-81CF-400D-2F9B701518F3}"/>
              </a:ext>
            </a:extLst>
          </p:cNvPr>
          <p:cNvSpPr txBox="1"/>
          <p:nvPr/>
        </p:nvSpPr>
        <p:spPr>
          <a:xfrm>
            <a:off x="0" y="5637621"/>
            <a:ext cx="487184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/>
              <a:t>[5-1] GMM(Gaussian Mixture Model) </a:t>
            </a:r>
            <a:r>
              <a:rPr lang="en-US" altLang="ko-KR" sz="1400" b="1"/>
              <a:t>(EM)</a:t>
            </a:r>
          </a:p>
          <a:p>
            <a:r>
              <a:rPr lang="en-US" altLang="ko-KR" sz="1400"/>
              <a:t>[5-2] COBWEB</a:t>
            </a:r>
          </a:p>
          <a:p>
            <a:r>
              <a:rPr lang="en-US" altLang="ko-KR" sz="1400"/>
              <a:t>[5-3] CLASSIT(Classification Incremental Learning System)</a:t>
            </a:r>
          </a:p>
          <a:p>
            <a:r>
              <a:rPr lang="en-US" altLang="ko-KR" sz="1400"/>
              <a:t>[5-4] LDA(Latent Dirichlet Allocation)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BC4C5A-5039-A945-D2B6-5F16882363AD}"/>
              </a:ext>
            </a:extLst>
          </p:cNvPr>
          <p:cNvSpPr txBox="1"/>
          <p:nvPr/>
        </p:nvSpPr>
        <p:spPr>
          <a:xfrm>
            <a:off x="3782739" y="4922659"/>
            <a:ext cx="273472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[6-1] Spectral Clustering</a:t>
            </a:r>
          </a:p>
          <a:p>
            <a:r>
              <a:rPr lang="en-US" altLang="ko-KR" sz="1400" dirty="0"/>
              <a:t>[6-2] Affinity Propagation</a:t>
            </a:r>
          </a:p>
          <a:p>
            <a:r>
              <a:rPr lang="en-US" altLang="ko-KR" sz="1400" dirty="0"/>
              <a:t>[6-3] MCL(Markov Clustering)</a:t>
            </a:r>
          </a:p>
          <a:p>
            <a:r>
              <a:rPr lang="en-US" altLang="ko-KR" sz="1400" dirty="0"/>
              <a:t>[6-4] Louvain/Leiden Algorithm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3C25A9-991E-FAF9-D80D-3BCE47A81E9B}"/>
              </a:ext>
            </a:extLst>
          </p:cNvPr>
          <p:cNvSpPr txBox="1"/>
          <p:nvPr/>
        </p:nvSpPr>
        <p:spPr>
          <a:xfrm>
            <a:off x="6517462" y="5558660"/>
            <a:ext cx="3949671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[7-1] PROCLUS(</a:t>
            </a:r>
            <a:r>
              <a:rPr lang="en-US" altLang="ko-KR" sz="1400" dirty="0" err="1"/>
              <a:t>PROjected</a:t>
            </a:r>
            <a:r>
              <a:rPr lang="en-US" altLang="ko-KR" sz="1400" dirty="0"/>
              <a:t> </a:t>
            </a:r>
            <a:r>
              <a:rPr lang="en-US" altLang="ko-KR" sz="1400" dirty="0" err="1"/>
              <a:t>CLUStering</a:t>
            </a:r>
            <a:r>
              <a:rPr lang="en-US" altLang="ko-KR" sz="1400" dirty="0"/>
              <a:t>)</a:t>
            </a:r>
          </a:p>
          <a:p>
            <a:r>
              <a:rPr lang="en-US" altLang="ko-KR" sz="1400" dirty="0"/>
              <a:t>[7-2] ORCLUS(</a:t>
            </a:r>
            <a:r>
              <a:rPr lang="en-US" altLang="ko-KR" sz="1400" dirty="0" err="1"/>
              <a:t>ORiented</a:t>
            </a:r>
            <a:r>
              <a:rPr lang="en-US" altLang="ko-KR" sz="1400" dirty="0"/>
              <a:t> projected </a:t>
            </a:r>
            <a:r>
              <a:rPr lang="en-US" altLang="ko-KR" sz="1400" dirty="0" err="1"/>
              <a:t>CLUStering</a:t>
            </a:r>
            <a:r>
              <a:rPr lang="en-US" altLang="ko-KR" sz="1400" dirty="0"/>
              <a:t>)</a:t>
            </a:r>
          </a:p>
          <a:p>
            <a:r>
              <a:rPr lang="en-US" altLang="ko-KR" sz="1400" dirty="0"/>
              <a:t>[7-3] SUBCLU(</a:t>
            </a:r>
            <a:r>
              <a:rPr lang="en-US" altLang="ko-KR" sz="1400" dirty="0" err="1"/>
              <a:t>SUBspace</a:t>
            </a:r>
            <a:r>
              <a:rPr lang="en-US" altLang="ko-KR" sz="1400" dirty="0"/>
              <a:t> </a:t>
            </a:r>
            <a:r>
              <a:rPr lang="en-US" altLang="ko-KR" sz="1400" dirty="0" err="1"/>
              <a:t>CLUstering</a:t>
            </a:r>
            <a:r>
              <a:rPr lang="en-US" altLang="ko-KR" sz="1400" dirty="0"/>
              <a:t>)</a:t>
            </a:r>
          </a:p>
          <a:p>
            <a:r>
              <a:rPr lang="en-US" altLang="ko-KR" sz="1400" strike="sngStrike" dirty="0">
                <a:solidFill>
                  <a:srgbClr val="FF0000"/>
                </a:solidFill>
              </a:rPr>
              <a:t>[7-4] SOMs(Self-Organizing Maps)</a:t>
            </a:r>
          </a:p>
          <a:p>
            <a:r>
              <a:rPr lang="en-US" altLang="ko-KR" sz="1400" strike="sngStrike" dirty="0">
                <a:solidFill>
                  <a:srgbClr val="FF0000"/>
                </a:solidFill>
              </a:rPr>
              <a:t>[7-5] DEC(Deep Embedded Clustering)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FB6E8F-CE07-79E4-EF74-185E0756489C}"/>
              </a:ext>
            </a:extLst>
          </p:cNvPr>
          <p:cNvSpPr txBox="1"/>
          <p:nvPr/>
        </p:nvSpPr>
        <p:spPr>
          <a:xfrm>
            <a:off x="7264792" y="3571675"/>
            <a:ext cx="1780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>
                <a:solidFill>
                  <a:srgbClr val="0000FF"/>
                </a:solidFill>
              </a:rPr>
              <a:t>[4] Grid-Based</a:t>
            </a:r>
            <a:endParaRPr lang="ko-KR" altLang="en-US" b="1">
              <a:solidFill>
                <a:srgbClr val="0000FF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88C72B4-1B70-B8BD-0ACD-E96B83C2FBF8}"/>
              </a:ext>
            </a:extLst>
          </p:cNvPr>
          <p:cNvSpPr txBox="1"/>
          <p:nvPr/>
        </p:nvSpPr>
        <p:spPr>
          <a:xfrm>
            <a:off x="4262471" y="1833646"/>
            <a:ext cx="2605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>
                <a:solidFill>
                  <a:srgbClr val="0000FF"/>
                </a:solidFill>
              </a:rPr>
              <a:t>[2] Hierarchical-Based</a:t>
            </a:r>
            <a:endParaRPr lang="ko-KR" altLang="en-US" b="1">
              <a:solidFill>
                <a:srgbClr val="0000FF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0639AC9-7875-6B28-3816-FF65BEDB733A}"/>
              </a:ext>
            </a:extLst>
          </p:cNvPr>
          <p:cNvSpPr txBox="1"/>
          <p:nvPr/>
        </p:nvSpPr>
        <p:spPr>
          <a:xfrm>
            <a:off x="-14390" y="3578203"/>
            <a:ext cx="21355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>
                <a:solidFill>
                  <a:srgbClr val="0000FF"/>
                </a:solidFill>
              </a:rPr>
              <a:t>[3] Density-Based</a:t>
            </a:r>
            <a:endParaRPr lang="ko-KR" altLang="en-US" b="1">
              <a:solidFill>
                <a:srgbClr val="0000FF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920EFC3-2AF6-C680-4A15-0C367F3A5FAB}"/>
              </a:ext>
            </a:extLst>
          </p:cNvPr>
          <p:cNvSpPr txBox="1"/>
          <p:nvPr/>
        </p:nvSpPr>
        <p:spPr>
          <a:xfrm>
            <a:off x="-14390" y="5311962"/>
            <a:ext cx="20136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>
                <a:solidFill>
                  <a:srgbClr val="0000FF"/>
                </a:solidFill>
              </a:rPr>
              <a:t>[5] Model-Based</a:t>
            </a:r>
            <a:endParaRPr lang="ko-KR" altLang="en-US" b="1">
              <a:solidFill>
                <a:srgbClr val="0000FF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E69B596-9728-8EE3-3138-01B1C43A3D32}"/>
              </a:ext>
            </a:extLst>
          </p:cNvPr>
          <p:cNvSpPr txBox="1"/>
          <p:nvPr/>
        </p:nvSpPr>
        <p:spPr>
          <a:xfrm>
            <a:off x="6511340" y="5233001"/>
            <a:ext cx="4406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>
                <a:solidFill>
                  <a:srgbClr val="0000FF"/>
                </a:solidFill>
              </a:rPr>
              <a:t>[7] Subspace / Representation-Based</a:t>
            </a:r>
            <a:endParaRPr lang="ko-KR" altLang="en-US" b="1">
              <a:solidFill>
                <a:srgbClr val="0000FF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4572334-BD6A-029E-57B3-D6DAD8D92E6A}"/>
              </a:ext>
            </a:extLst>
          </p:cNvPr>
          <p:cNvSpPr txBox="1"/>
          <p:nvPr/>
        </p:nvSpPr>
        <p:spPr>
          <a:xfrm>
            <a:off x="3782739" y="4597000"/>
            <a:ext cx="1980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00FF"/>
                </a:solidFill>
              </a:rPr>
              <a:t>[6] Graph-Based</a:t>
            </a:r>
            <a:endParaRPr lang="ko-KR" altLang="en-US" b="1" dirty="0">
              <a:solidFill>
                <a:srgbClr val="0000FF"/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D252CC48-EA80-F1E2-0415-FF95119F29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081" y="0"/>
            <a:ext cx="2806070" cy="299085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D2B500E-F23D-4346-1690-2C4E45E1993F}"/>
              </a:ext>
            </a:extLst>
          </p:cNvPr>
          <p:cNvSpPr txBox="1"/>
          <p:nvPr/>
        </p:nvSpPr>
        <p:spPr>
          <a:xfrm>
            <a:off x="432477" y="930205"/>
            <a:ext cx="2435282" cy="15388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b="1" dirty="0"/>
              <a:t>5</a:t>
            </a:r>
            <a:r>
              <a:rPr lang="ko-KR" altLang="en-US" sz="2400" b="1" dirty="0"/>
              <a:t>강</a:t>
            </a:r>
            <a:r>
              <a:rPr lang="en-US" altLang="ko-KR" sz="2400" b="1" dirty="0"/>
              <a:t>.</a:t>
            </a:r>
          </a:p>
          <a:p>
            <a:pPr algn="ctr"/>
            <a:endParaRPr lang="en-US" altLang="ko-KR" sz="1200" b="1" dirty="0"/>
          </a:p>
          <a:p>
            <a:pPr algn="ctr"/>
            <a:r>
              <a:rPr lang="ko-KR" altLang="en-US" sz="2400" b="1" dirty="0"/>
              <a:t>비지도학습</a:t>
            </a:r>
            <a:r>
              <a:rPr lang="en-US" altLang="ko-KR" sz="2400" b="1" dirty="0"/>
              <a:t>(2/4)</a:t>
            </a:r>
          </a:p>
          <a:p>
            <a:pPr algn="ctr"/>
            <a:endParaRPr lang="en-US" altLang="ko-KR" sz="1000" b="1" dirty="0"/>
          </a:p>
          <a:p>
            <a:pPr algn="ctr"/>
            <a:r>
              <a:rPr lang="en-US" altLang="ko-KR" sz="2400" b="1" dirty="0">
                <a:solidFill>
                  <a:srgbClr val="0000FF"/>
                </a:solidFill>
              </a:rPr>
              <a:t>1. Clustering</a:t>
            </a:r>
            <a:endParaRPr lang="ko-KR" altLang="en-US" sz="2400" b="1" dirty="0">
              <a:solidFill>
                <a:srgbClr val="0000FF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BC3DBA-13EC-4BB2-8C8D-82A45B1D3C66}"/>
              </a:ext>
            </a:extLst>
          </p:cNvPr>
          <p:cNvSpPr txBox="1"/>
          <p:nvPr/>
        </p:nvSpPr>
        <p:spPr>
          <a:xfrm>
            <a:off x="9813173" y="6191618"/>
            <a:ext cx="22092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rgbClr val="C00000"/>
                </a:solidFill>
              </a:rPr>
              <a:t>→ 6. </a:t>
            </a:r>
            <a:r>
              <a:rPr lang="ko-KR" altLang="en-US" sz="2000" b="1" dirty="0">
                <a:solidFill>
                  <a:srgbClr val="C00000"/>
                </a:solidFill>
              </a:rPr>
              <a:t>신경망 기반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17290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2644D-339B-C914-72D4-B1854E220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95E1C1AA-1915-C11D-451D-0C10294A93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2914" y="1203649"/>
            <a:ext cx="4450702" cy="43014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D2571C-DEB5-B5F3-A192-00E50638052D}"/>
              </a:ext>
            </a:extLst>
          </p:cNvPr>
          <p:cNvSpPr txBox="1"/>
          <p:nvPr/>
        </p:nvSpPr>
        <p:spPr>
          <a:xfrm>
            <a:off x="4383833" y="2331378"/>
            <a:ext cx="3424334" cy="2492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200" b="1" dirty="0"/>
              <a:t>6</a:t>
            </a:r>
            <a:r>
              <a:rPr lang="ko-KR" altLang="en-US" sz="3200" b="1" dirty="0"/>
              <a:t>강</a:t>
            </a:r>
            <a:r>
              <a:rPr lang="en-US" altLang="ko-KR" sz="3200" b="1" dirty="0"/>
              <a:t>.</a:t>
            </a:r>
          </a:p>
          <a:p>
            <a:pPr algn="ctr"/>
            <a:endParaRPr lang="en-US" altLang="ko-KR" sz="1600" b="1" dirty="0"/>
          </a:p>
          <a:p>
            <a:pPr algn="ctr"/>
            <a:r>
              <a:rPr lang="ko-KR" altLang="en-US" sz="3200" b="1" dirty="0"/>
              <a:t>비지도학습</a:t>
            </a:r>
            <a:r>
              <a:rPr lang="en-US" altLang="ko-KR" sz="3200" b="1" dirty="0"/>
              <a:t>(3/4)</a:t>
            </a:r>
          </a:p>
          <a:p>
            <a:pPr algn="ctr"/>
            <a:endParaRPr lang="en-US" altLang="ko-KR" sz="1200" b="1" dirty="0"/>
          </a:p>
          <a:p>
            <a:pPr algn="ctr"/>
            <a:r>
              <a:rPr lang="en-US" altLang="ko-KR" sz="3200" b="1" dirty="0">
                <a:solidFill>
                  <a:srgbClr val="0000FF"/>
                </a:solidFill>
              </a:rPr>
              <a:t>2. </a:t>
            </a:r>
            <a:r>
              <a:rPr lang="ko-KR" altLang="en-US" sz="3200" b="1" dirty="0">
                <a:solidFill>
                  <a:srgbClr val="0000FF"/>
                </a:solidFill>
              </a:rPr>
              <a:t>연관 규칙 학습</a:t>
            </a:r>
            <a:endParaRPr lang="en-US" altLang="ko-KR" sz="3200" b="1" dirty="0">
              <a:solidFill>
                <a:srgbClr val="0000FF"/>
              </a:solidFill>
            </a:endParaRPr>
          </a:p>
          <a:p>
            <a:pPr algn="ctr"/>
            <a:r>
              <a:rPr lang="en-US" altLang="ko-KR" sz="3200" b="1" dirty="0">
                <a:solidFill>
                  <a:srgbClr val="0000FF"/>
                </a:solidFill>
              </a:rPr>
              <a:t>3. </a:t>
            </a:r>
            <a:r>
              <a:rPr lang="ko-KR" altLang="en-US" sz="3200" b="1" dirty="0">
                <a:solidFill>
                  <a:srgbClr val="0000FF"/>
                </a:solidFill>
              </a:rPr>
              <a:t>차원 축소</a:t>
            </a:r>
          </a:p>
        </p:txBody>
      </p:sp>
    </p:spTree>
    <p:extLst>
      <p:ext uri="{BB962C8B-B14F-4D97-AF65-F5344CB8AC3E}">
        <p14:creationId xmlns:p14="http://schemas.microsoft.com/office/powerpoint/2010/main" val="644475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761AC-A0EC-30BA-B923-EA1F4524B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2E6538A-C6D2-8ADA-5A44-B461EC2F3793}"/>
              </a:ext>
            </a:extLst>
          </p:cNvPr>
          <p:cNvSpPr txBox="1"/>
          <p:nvPr/>
        </p:nvSpPr>
        <p:spPr>
          <a:xfrm>
            <a:off x="41930" y="989170"/>
            <a:ext cx="3670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00FF"/>
                </a:solidFill>
              </a:rPr>
              <a:t>1.</a:t>
            </a:r>
            <a:r>
              <a:rPr lang="ko-KR" altLang="en-US" b="1" dirty="0">
                <a:solidFill>
                  <a:srgbClr val="0000FF"/>
                </a:solidFill>
              </a:rPr>
              <a:t>클러스터링 </a:t>
            </a:r>
            <a:r>
              <a:rPr lang="en-US" altLang="ko-KR" b="1" dirty="0">
                <a:solidFill>
                  <a:srgbClr val="0000FF"/>
                </a:solidFill>
              </a:rPr>
              <a:t>(Clustering) </a:t>
            </a:r>
            <a:r>
              <a:rPr lang="en-US" altLang="ko-KR" sz="1200" i="0" dirty="0">
                <a:solidFill>
                  <a:srgbClr val="0000FF"/>
                </a:solidFill>
                <a:effectLst/>
                <a:latin typeface="+mn-ea"/>
              </a:rPr>
              <a:t>33 → 65</a:t>
            </a:r>
            <a:endParaRPr lang="en-US" altLang="ko-KR" b="1" dirty="0">
              <a:solidFill>
                <a:srgbClr val="0000F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E7D838-8BCD-2B3C-19EF-5D19F131BB1A}"/>
              </a:ext>
            </a:extLst>
          </p:cNvPr>
          <p:cNvSpPr txBox="1"/>
          <p:nvPr/>
        </p:nvSpPr>
        <p:spPr>
          <a:xfrm>
            <a:off x="35653" y="1409151"/>
            <a:ext cx="5845767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200" i="0" dirty="0">
                <a:solidFill>
                  <a:srgbClr val="0000FF"/>
                </a:solidFill>
                <a:effectLst/>
                <a:latin typeface="+mn-ea"/>
              </a:rPr>
              <a:t>1.1 Partitioning-Based Clustering (</a:t>
            </a:r>
            <a:r>
              <a:rPr lang="ko-KR" altLang="en-US" sz="1200" i="0" dirty="0">
                <a:solidFill>
                  <a:srgbClr val="0000FF"/>
                </a:solidFill>
                <a:effectLst/>
                <a:latin typeface="+mn-ea"/>
              </a:rPr>
              <a:t>분할 기반 클러스터링</a:t>
            </a:r>
            <a:r>
              <a:rPr lang="en-US" altLang="ko-KR" sz="1200" i="0" dirty="0">
                <a:solidFill>
                  <a:srgbClr val="0000FF"/>
                </a:solidFill>
                <a:effectLst/>
                <a:latin typeface="+mn-ea"/>
              </a:rPr>
              <a:t>) 6 → 10</a:t>
            </a:r>
          </a:p>
          <a:p>
            <a:pPr algn="l"/>
            <a:r>
              <a:rPr lang="en-US" altLang="ko-KR" sz="1200" i="0" dirty="0">
                <a:solidFill>
                  <a:srgbClr val="0000FF"/>
                </a:solidFill>
                <a:effectLst/>
                <a:latin typeface="+mn-ea"/>
              </a:rPr>
              <a:t>1.2 Hierarchical Clustering (</a:t>
            </a:r>
            <a:r>
              <a:rPr lang="ko-KR" altLang="en-US" sz="1200" i="0" dirty="0">
                <a:solidFill>
                  <a:srgbClr val="0000FF"/>
                </a:solidFill>
                <a:effectLst/>
                <a:latin typeface="+mn-ea"/>
              </a:rPr>
              <a:t>계층적 클러스터링</a:t>
            </a:r>
            <a:r>
              <a:rPr lang="en-US" altLang="ko-KR" sz="1200" i="0" dirty="0">
                <a:solidFill>
                  <a:srgbClr val="0000FF"/>
                </a:solidFill>
                <a:effectLst/>
                <a:latin typeface="+mn-ea"/>
              </a:rPr>
              <a:t>) 6 → 8</a:t>
            </a:r>
            <a:br>
              <a:rPr lang="en-US" altLang="ko-KR" sz="1200" i="0" dirty="0">
                <a:solidFill>
                  <a:srgbClr val="0000FF"/>
                </a:solidFill>
                <a:effectLst/>
                <a:latin typeface="+mn-ea"/>
              </a:rPr>
            </a:br>
            <a:r>
              <a:rPr lang="en-US" altLang="ko-KR" sz="1200" i="0" dirty="0">
                <a:solidFill>
                  <a:srgbClr val="0000FF"/>
                </a:solidFill>
                <a:effectLst/>
                <a:latin typeface="+mn-ea"/>
              </a:rPr>
              <a:t>1.3 Density-Based Clustering (</a:t>
            </a:r>
            <a:r>
              <a:rPr lang="ko-KR" altLang="en-US" sz="1200" i="0" dirty="0">
                <a:solidFill>
                  <a:srgbClr val="0000FF"/>
                </a:solidFill>
                <a:effectLst/>
                <a:latin typeface="+mn-ea"/>
              </a:rPr>
              <a:t>밀도 기반 클러스터링</a:t>
            </a:r>
            <a:r>
              <a:rPr lang="en-US" altLang="ko-KR" sz="1200" i="0" dirty="0">
                <a:solidFill>
                  <a:srgbClr val="0000FF"/>
                </a:solidFill>
                <a:effectLst/>
                <a:latin typeface="+mn-ea"/>
              </a:rPr>
              <a:t>) 5 → 8</a:t>
            </a:r>
            <a:br>
              <a:rPr lang="en-US" altLang="ko-KR" sz="1200" i="0" dirty="0">
                <a:solidFill>
                  <a:srgbClr val="0000FF"/>
                </a:solidFill>
                <a:effectLst/>
                <a:latin typeface="+mn-ea"/>
              </a:rPr>
            </a:br>
            <a:r>
              <a:rPr lang="en-US" altLang="ko-KR" sz="1200" i="0" dirty="0">
                <a:solidFill>
                  <a:srgbClr val="0000FF"/>
                </a:solidFill>
                <a:effectLst/>
                <a:latin typeface="+mn-ea"/>
              </a:rPr>
              <a:t>1.4 Grid-Based Clustering (</a:t>
            </a:r>
            <a:r>
              <a:rPr lang="ko-KR" altLang="en-US" sz="1200" i="0" dirty="0">
                <a:solidFill>
                  <a:srgbClr val="0000FF"/>
                </a:solidFill>
                <a:effectLst/>
                <a:latin typeface="+mn-ea"/>
              </a:rPr>
              <a:t>격자 기반 클러스터링</a:t>
            </a:r>
            <a:r>
              <a:rPr lang="en-US" altLang="ko-KR" sz="1200" i="0" dirty="0">
                <a:solidFill>
                  <a:srgbClr val="0000FF"/>
                </a:solidFill>
                <a:effectLst/>
                <a:latin typeface="+mn-ea"/>
              </a:rPr>
              <a:t>) 5 → 6</a:t>
            </a:r>
            <a:br>
              <a:rPr lang="en-US" altLang="ko-KR" sz="1200" i="0" dirty="0">
                <a:solidFill>
                  <a:srgbClr val="0000FF"/>
                </a:solidFill>
                <a:effectLst/>
                <a:latin typeface="+mn-ea"/>
              </a:rPr>
            </a:br>
            <a:r>
              <a:rPr lang="en-US" altLang="ko-KR" sz="1200" i="0" dirty="0">
                <a:solidFill>
                  <a:srgbClr val="0000FF"/>
                </a:solidFill>
                <a:effectLst/>
                <a:latin typeface="+mn-ea"/>
              </a:rPr>
              <a:t>1.5 Model-Based Clustering (</a:t>
            </a:r>
            <a:r>
              <a:rPr lang="ko-KR" altLang="en-US" sz="1200" i="0" dirty="0">
                <a:solidFill>
                  <a:srgbClr val="0000FF"/>
                </a:solidFill>
                <a:effectLst/>
                <a:latin typeface="+mn-ea"/>
              </a:rPr>
              <a:t>모델 기반 클러스터링</a:t>
            </a:r>
            <a:r>
              <a:rPr lang="en-US" altLang="ko-KR" sz="1200" i="0" dirty="0">
                <a:solidFill>
                  <a:srgbClr val="0000FF"/>
                </a:solidFill>
                <a:effectLst/>
                <a:latin typeface="+mn-ea"/>
              </a:rPr>
              <a:t>) 4 → 7</a:t>
            </a:r>
            <a:br>
              <a:rPr lang="en-US" altLang="ko-KR" sz="1200" i="0" dirty="0">
                <a:solidFill>
                  <a:srgbClr val="0000FF"/>
                </a:solidFill>
                <a:effectLst/>
                <a:latin typeface="+mn-ea"/>
              </a:rPr>
            </a:br>
            <a:r>
              <a:rPr lang="en-US" altLang="ko-KR" sz="1200" i="0" dirty="0">
                <a:solidFill>
                  <a:srgbClr val="0000FF"/>
                </a:solidFill>
                <a:effectLst/>
                <a:latin typeface="+mn-ea"/>
              </a:rPr>
              <a:t>1.6 Graph/Spectral Clustering (</a:t>
            </a:r>
            <a:r>
              <a:rPr lang="ko-KR" altLang="en-US" sz="1200" i="0" dirty="0">
                <a:solidFill>
                  <a:srgbClr val="0000FF"/>
                </a:solidFill>
                <a:effectLst/>
                <a:latin typeface="+mn-ea"/>
              </a:rPr>
              <a:t>그래프</a:t>
            </a:r>
            <a:r>
              <a:rPr lang="en-US" altLang="ko-KR" sz="1200" i="0" dirty="0">
                <a:solidFill>
                  <a:srgbClr val="0000FF"/>
                </a:solidFill>
                <a:effectLst/>
                <a:latin typeface="+mn-ea"/>
              </a:rPr>
              <a:t>/</a:t>
            </a:r>
            <a:r>
              <a:rPr lang="ko-KR" altLang="en-US" sz="1200" i="0" dirty="0" err="1">
                <a:solidFill>
                  <a:srgbClr val="0000FF"/>
                </a:solidFill>
                <a:effectLst/>
                <a:latin typeface="+mn-ea"/>
              </a:rPr>
              <a:t>스펙트럴</a:t>
            </a:r>
            <a:r>
              <a:rPr lang="ko-KR" altLang="en-US" sz="1200" i="0" dirty="0">
                <a:solidFill>
                  <a:srgbClr val="0000FF"/>
                </a:solidFill>
                <a:effectLst/>
                <a:latin typeface="+mn-ea"/>
              </a:rPr>
              <a:t> 클러스터링</a:t>
            </a:r>
            <a:r>
              <a:rPr lang="en-US" altLang="ko-KR" sz="1200" i="0" dirty="0">
                <a:solidFill>
                  <a:srgbClr val="0000FF"/>
                </a:solidFill>
                <a:effectLst/>
                <a:latin typeface="+mn-ea"/>
              </a:rPr>
              <a:t>) 4 → 9</a:t>
            </a:r>
            <a:br>
              <a:rPr lang="en-US" altLang="ko-KR" sz="1200" i="0" dirty="0">
                <a:solidFill>
                  <a:srgbClr val="0000FF"/>
                </a:solidFill>
                <a:effectLst/>
                <a:latin typeface="+mn-ea"/>
              </a:rPr>
            </a:br>
            <a:r>
              <a:rPr lang="en-US" altLang="ko-KR" sz="1200" i="0" dirty="0">
                <a:solidFill>
                  <a:srgbClr val="0000FF"/>
                </a:solidFill>
                <a:effectLst/>
                <a:latin typeface="+mn-ea"/>
              </a:rPr>
              <a:t>1.7 Subspace/Representation Clustering (</a:t>
            </a:r>
            <a:r>
              <a:rPr lang="ko-KR" altLang="en-US" sz="1200" i="0" dirty="0">
                <a:solidFill>
                  <a:srgbClr val="0000FF"/>
                </a:solidFill>
                <a:effectLst/>
                <a:latin typeface="+mn-ea"/>
              </a:rPr>
              <a:t>부분공간</a:t>
            </a:r>
            <a:r>
              <a:rPr lang="en-US" altLang="ko-KR" sz="1200" i="0" dirty="0">
                <a:solidFill>
                  <a:srgbClr val="0000FF"/>
                </a:solidFill>
                <a:effectLst/>
                <a:latin typeface="+mn-ea"/>
              </a:rPr>
              <a:t>/</a:t>
            </a:r>
            <a:r>
              <a:rPr lang="ko-KR" altLang="en-US" sz="1200" i="0" dirty="0">
                <a:solidFill>
                  <a:srgbClr val="0000FF"/>
                </a:solidFill>
                <a:effectLst/>
                <a:latin typeface="+mn-ea"/>
              </a:rPr>
              <a:t>표현 기반 클러스터링</a:t>
            </a:r>
            <a:r>
              <a:rPr lang="en-US" altLang="ko-KR" sz="1200" i="0" dirty="0">
                <a:solidFill>
                  <a:srgbClr val="0000FF"/>
                </a:solidFill>
                <a:effectLst/>
                <a:latin typeface="+mn-ea"/>
              </a:rPr>
              <a:t>) 3 → 17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F69F74-D13A-7311-24AD-CE6C49C1A045}"/>
              </a:ext>
            </a:extLst>
          </p:cNvPr>
          <p:cNvSpPr txBox="1"/>
          <p:nvPr/>
        </p:nvSpPr>
        <p:spPr>
          <a:xfrm>
            <a:off x="5918600" y="915372"/>
            <a:ext cx="530036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2.1 Frequent Pattern Mining Algorithms (</a:t>
            </a:r>
            <a:r>
              <a:rPr lang="ko-KR" altLang="en-US" sz="1200" dirty="0"/>
              <a:t>빈발 패턴 탐색 알고리즘</a:t>
            </a:r>
            <a:r>
              <a:rPr lang="en-US" altLang="ko-KR" sz="1200" dirty="0"/>
              <a:t>) 3 </a:t>
            </a:r>
            <a:r>
              <a:rPr lang="en-US" altLang="ko-KR" sz="1200" i="0" dirty="0">
                <a:solidFill>
                  <a:srgbClr val="0000FF"/>
                </a:solidFill>
                <a:effectLst/>
                <a:latin typeface="+mn-ea"/>
              </a:rPr>
              <a:t>→ 8</a:t>
            </a:r>
            <a:endParaRPr lang="en-US" altLang="ko-KR" sz="1200" dirty="0"/>
          </a:p>
          <a:p>
            <a:r>
              <a:rPr lang="en-US" altLang="ko-KR" sz="1200" dirty="0"/>
              <a:t>2.2 Advanced Pattern Mining (</a:t>
            </a:r>
            <a:r>
              <a:rPr lang="ko-KR" altLang="en-US" sz="1200" dirty="0"/>
              <a:t>고급 패턴 탐색</a:t>
            </a:r>
            <a:r>
              <a:rPr lang="en-US" altLang="ko-KR" sz="1200" dirty="0"/>
              <a:t>) 4 </a:t>
            </a:r>
            <a:r>
              <a:rPr lang="en-US" altLang="ko-KR" sz="1200" i="0" dirty="0">
                <a:solidFill>
                  <a:srgbClr val="0000FF"/>
                </a:solidFill>
                <a:effectLst/>
                <a:latin typeface="+mn-ea"/>
              </a:rPr>
              <a:t>→ 19</a:t>
            </a:r>
            <a:endParaRPr lang="en-US" altLang="ko-KR" sz="1200" dirty="0"/>
          </a:p>
          <a:p>
            <a:r>
              <a:rPr lang="en-US" altLang="ko-KR" sz="1200" dirty="0"/>
              <a:t>2.3 Sequential Pattern Mining (</a:t>
            </a:r>
            <a:r>
              <a:rPr lang="ko-KR" altLang="en-US" sz="1200" dirty="0"/>
              <a:t>시퀀스 패턴 마이닝</a:t>
            </a:r>
            <a:r>
              <a:rPr lang="en-US" altLang="ko-KR" sz="1200" dirty="0"/>
              <a:t>) 0 </a:t>
            </a:r>
            <a:r>
              <a:rPr lang="en-US" altLang="ko-KR" sz="1200" i="0" dirty="0">
                <a:solidFill>
                  <a:srgbClr val="0000FF"/>
                </a:solidFill>
                <a:effectLst/>
                <a:latin typeface="+mn-ea"/>
              </a:rPr>
              <a:t>→ 5</a:t>
            </a:r>
            <a:endParaRPr lang="en-US" altLang="ko-KR" sz="1200" dirty="0"/>
          </a:p>
          <a:p>
            <a:r>
              <a:rPr lang="en-US" altLang="ko-KR" sz="1200" dirty="0"/>
              <a:t>2.4 Specialized Pattern Mining (</a:t>
            </a:r>
            <a:r>
              <a:rPr lang="ko-KR" altLang="en-US" sz="1200" dirty="0"/>
              <a:t>특수 패턴 마이닝</a:t>
            </a:r>
            <a:r>
              <a:rPr lang="en-US" altLang="ko-KR" sz="1200" dirty="0"/>
              <a:t>) 1 </a:t>
            </a:r>
            <a:r>
              <a:rPr lang="en-US" altLang="ko-KR" sz="1200" i="0" dirty="0">
                <a:solidFill>
                  <a:srgbClr val="0000FF"/>
                </a:solidFill>
                <a:effectLst/>
                <a:latin typeface="+mn-ea"/>
              </a:rPr>
              <a:t>→ 11</a:t>
            </a:r>
            <a:endParaRPr lang="en-US" altLang="ko-KR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1C96C7-1EF2-07AF-49E0-16C0A346BC6B}"/>
              </a:ext>
            </a:extLst>
          </p:cNvPr>
          <p:cNvSpPr txBox="1"/>
          <p:nvPr/>
        </p:nvSpPr>
        <p:spPr>
          <a:xfrm>
            <a:off x="5888783" y="2482241"/>
            <a:ext cx="64515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3.1 Linear Dimensionality Reduction/Matrix Factorization (</a:t>
            </a:r>
            <a:r>
              <a:rPr lang="ko-KR" altLang="en-US" sz="1200" dirty="0"/>
              <a:t>선형차원축소</a:t>
            </a:r>
            <a:r>
              <a:rPr lang="en-US" altLang="ko-KR" sz="1200" dirty="0"/>
              <a:t>/</a:t>
            </a:r>
            <a:r>
              <a:rPr lang="ko-KR" altLang="en-US" sz="1200" dirty="0"/>
              <a:t>행렬분해</a:t>
            </a:r>
            <a:r>
              <a:rPr lang="en-US" altLang="ko-KR" sz="1200" dirty="0"/>
              <a:t>) 4 </a:t>
            </a:r>
            <a:r>
              <a:rPr lang="en-US" altLang="ko-KR" sz="1200" i="0" dirty="0">
                <a:solidFill>
                  <a:srgbClr val="0000FF"/>
                </a:solidFill>
                <a:effectLst/>
                <a:latin typeface="+mn-ea"/>
              </a:rPr>
              <a:t>→ 22</a:t>
            </a:r>
            <a:endParaRPr lang="en-US" altLang="ko-KR" sz="1200" dirty="0"/>
          </a:p>
          <a:p>
            <a:r>
              <a:rPr lang="en-US" altLang="ko-KR" sz="1200" dirty="0"/>
              <a:t>3.2 Nonlinear Manifold Learning (</a:t>
            </a:r>
            <a:r>
              <a:rPr lang="ko-KR" altLang="en-US" sz="1200" dirty="0"/>
              <a:t>비선형 </a:t>
            </a:r>
            <a:r>
              <a:rPr lang="ko-KR" altLang="en-US" sz="1200" dirty="0" err="1"/>
              <a:t>매니폴드</a:t>
            </a:r>
            <a:r>
              <a:rPr lang="ko-KR" altLang="en-US" sz="1200" dirty="0"/>
              <a:t> 학습</a:t>
            </a:r>
            <a:r>
              <a:rPr lang="en-US" altLang="ko-KR" sz="1200" dirty="0"/>
              <a:t>) 4 </a:t>
            </a:r>
            <a:r>
              <a:rPr lang="en-US" altLang="ko-KR" sz="1200" i="0" dirty="0">
                <a:solidFill>
                  <a:srgbClr val="0000FF"/>
                </a:solidFill>
                <a:effectLst/>
                <a:latin typeface="+mn-ea"/>
              </a:rPr>
              <a:t>→ 19</a:t>
            </a:r>
            <a:endParaRPr lang="en-US" altLang="ko-KR" sz="1200" dirty="0"/>
          </a:p>
          <a:p>
            <a:r>
              <a:rPr lang="en-US" altLang="ko-KR" sz="1200" dirty="0"/>
              <a:t>3.3 Special Purpose Dimensionality Reduction (</a:t>
            </a:r>
            <a:r>
              <a:rPr lang="ko-KR" altLang="en-US" sz="1200" dirty="0"/>
              <a:t>특수 목적 차원 축소</a:t>
            </a:r>
            <a:r>
              <a:rPr lang="en-US" altLang="ko-KR" sz="1200" dirty="0"/>
              <a:t>) 0 </a:t>
            </a:r>
            <a:r>
              <a:rPr lang="en-US" altLang="ko-KR" sz="1200" i="0" dirty="0">
                <a:solidFill>
                  <a:srgbClr val="0000FF"/>
                </a:solidFill>
                <a:effectLst/>
                <a:latin typeface="+mn-ea"/>
              </a:rPr>
              <a:t>→ 5</a:t>
            </a:r>
            <a:endParaRPr lang="en-US" altLang="ko-KR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5A7D11-51A7-C0F2-7F2B-F9680682C770}"/>
              </a:ext>
            </a:extLst>
          </p:cNvPr>
          <p:cNvSpPr txBox="1"/>
          <p:nvPr/>
        </p:nvSpPr>
        <p:spPr>
          <a:xfrm>
            <a:off x="198521" y="3788905"/>
            <a:ext cx="519116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4.1 Statistical Methods (</a:t>
            </a:r>
            <a:r>
              <a:rPr lang="ko-KR" altLang="en-US" sz="1200" dirty="0"/>
              <a:t>통계 기반 방법</a:t>
            </a:r>
            <a:r>
              <a:rPr lang="en-US" altLang="ko-KR" sz="1200" dirty="0"/>
              <a:t>)   8</a:t>
            </a:r>
          </a:p>
          <a:p>
            <a:r>
              <a:rPr lang="en-US" altLang="ko-KR" sz="1200" dirty="0"/>
              <a:t>4.2 Distance-based Methods (</a:t>
            </a:r>
            <a:r>
              <a:rPr lang="ko-KR" altLang="en-US" sz="1200" dirty="0"/>
              <a:t>거리 기반 방법</a:t>
            </a:r>
            <a:r>
              <a:rPr lang="en-US" altLang="ko-KR" sz="1200" dirty="0"/>
              <a:t>)   9</a:t>
            </a:r>
          </a:p>
          <a:p>
            <a:r>
              <a:rPr lang="en-US" altLang="ko-KR" sz="1200" dirty="0"/>
              <a:t>4.3 Density-based Methods (</a:t>
            </a:r>
            <a:r>
              <a:rPr lang="ko-KR" altLang="en-US" sz="1200" dirty="0"/>
              <a:t>밀도 기반 방법</a:t>
            </a:r>
            <a:r>
              <a:rPr lang="en-US" altLang="ko-KR" sz="1200" dirty="0"/>
              <a:t>)   7</a:t>
            </a:r>
          </a:p>
          <a:p>
            <a:r>
              <a:rPr lang="en-US" altLang="ko-KR" sz="1200" dirty="0"/>
              <a:t>4.4 Model-based Methods (</a:t>
            </a:r>
            <a:r>
              <a:rPr lang="ko-KR" altLang="en-US" sz="1200" dirty="0"/>
              <a:t>모델 기반 방법</a:t>
            </a:r>
            <a:r>
              <a:rPr lang="en-US" altLang="ko-KR" sz="1200" dirty="0"/>
              <a:t>)   9</a:t>
            </a:r>
          </a:p>
          <a:p>
            <a:r>
              <a:rPr lang="en-US" altLang="ko-KR" sz="1200" dirty="0"/>
              <a:t>4.5 Ensemble Methods (</a:t>
            </a:r>
            <a:r>
              <a:rPr lang="ko-KR" altLang="en-US" sz="1200" dirty="0"/>
              <a:t>앙상블 방법</a:t>
            </a:r>
            <a:r>
              <a:rPr lang="en-US" altLang="ko-KR" sz="1200" dirty="0"/>
              <a:t>)   7</a:t>
            </a:r>
          </a:p>
          <a:p>
            <a:r>
              <a:rPr lang="en-US" altLang="ko-KR" sz="1200" dirty="0"/>
              <a:t>4.7 Time-series Anomaly Detection (</a:t>
            </a:r>
            <a:r>
              <a:rPr lang="ko-KR" altLang="en-US" sz="1200" dirty="0"/>
              <a:t>시계열 이상치 탐지</a:t>
            </a:r>
            <a:r>
              <a:rPr lang="en-US" altLang="ko-KR" sz="1200" dirty="0"/>
              <a:t>)   7</a:t>
            </a:r>
          </a:p>
          <a:p>
            <a:r>
              <a:rPr lang="en-US" altLang="ko-KR" sz="1200" dirty="0"/>
              <a:t>4.8 High-dimensional Outlier Detection (</a:t>
            </a:r>
            <a:r>
              <a:rPr lang="ko-KR" altLang="en-US" sz="1200" dirty="0"/>
              <a:t>고차원 데이터 이상치 탐지</a:t>
            </a:r>
            <a:r>
              <a:rPr lang="en-US" altLang="ko-KR" sz="1200" dirty="0"/>
              <a:t>)   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E40D05-1543-398C-5F12-CBBE5C152494}"/>
              </a:ext>
            </a:extLst>
          </p:cNvPr>
          <p:cNvSpPr txBox="1"/>
          <p:nvPr/>
        </p:nvSpPr>
        <p:spPr>
          <a:xfrm>
            <a:off x="5918600" y="3996418"/>
            <a:ext cx="5101268" cy="2492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(</a:t>
            </a:r>
            <a:r>
              <a:rPr lang="ko-KR" altLang="en-US" sz="1200" dirty="0"/>
              <a:t>밀도 추정</a:t>
            </a:r>
            <a:r>
              <a:rPr lang="en-US" altLang="ko-KR" sz="1200" dirty="0"/>
              <a:t>)</a:t>
            </a:r>
          </a:p>
          <a:p>
            <a:r>
              <a:rPr lang="en-US" altLang="ko-KR" sz="1200" dirty="0"/>
              <a:t>6.1 Histogram-based Methods (</a:t>
            </a:r>
            <a:r>
              <a:rPr lang="ko-KR" altLang="en-US" sz="1200" dirty="0"/>
              <a:t>히스토그램 기반 방법</a:t>
            </a:r>
            <a:r>
              <a:rPr lang="en-US" altLang="ko-KR" sz="1200" dirty="0"/>
              <a:t>)   5</a:t>
            </a:r>
          </a:p>
          <a:p>
            <a:r>
              <a:rPr lang="en-US" altLang="ko-KR" sz="1200" dirty="0"/>
              <a:t>6.2 Kernel Density Estimation (</a:t>
            </a:r>
            <a:r>
              <a:rPr lang="ko-KR" altLang="en-US" sz="1200" dirty="0"/>
              <a:t>커널 밀도 추정</a:t>
            </a:r>
            <a:r>
              <a:rPr lang="en-US" altLang="ko-KR" sz="1200" dirty="0"/>
              <a:t>)   14</a:t>
            </a:r>
          </a:p>
          <a:p>
            <a:r>
              <a:rPr lang="en-US" altLang="ko-KR" sz="1200" dirty="0"/>
              <a:t>6.3 Parametric Methods (</a:t>
            </a:r>
            <a:r>
              <a:rPr lang="ko-KR" altLang="en-US" sz="1200" dirty="0" err="1"/>
              <a:t>파라메트릭</a:t>
            </a:r>
            <a:r>
              <a:rPr lang="ko-KR" altLang="en-US" sz="1200" dirty="0"/>
              <a:t> 방법</a:t>
            </a:r>
            <a:r>
              <a:rPr lang="en-US" altLang="ko-KR" sz="1200" dirty="0"/>
              <a:t>)   4</a:t>
            </a:r>
          </a:p>
          <a:p>
            <a:r>
              <a:rPr lang="en-US" altLang="ko-KR" sz="1200" dirty="0"/>
              <a:t>6.4 Non-parametric Methods (</a:t>
            </a:r>
            <a:r>
              <a:rPr lang="ko-KR" altLang="en-US" sz="1200" dirty="0" err="1"/>
              <a:t>비파라메트릭</a:t>
            </a:r>
            <a:r>
              <a:rPr lang="ko-KR" altLang="en-US" sz="1200" dirty="0"/>
              <a:t> 방법</a:t>
            </a:r>
            <a:r>
              <a:rPr lang="en-US" altLang="ko-KR" sz="1200" dirty="0"/>
              <a:t>)   3</a:t>
            </a:r>
          </a:p>
          <a:p>
            <a:r>
              <a:rPr lang="en-US" altLang="ko-KR" sz="1200" dirty="0"/>
              <a:t>6.5 Advanced Density Estimation (</a:t>
            </a:r>
            <a:r>
              <a:rPr lang="ko-KR" altLang="en-US" sz="1200" dirty="0"/>
              <a:t>고급 밀도 추정</a:t>
            </a:r>
            <a:r>
              <a:rPr lang="en-US" altLang="ko-KR" sz="1200" dirty="0"/>
              <a:t>)   6</a:t>
            </a:r>
          </a:p>
          <a:p>
            <a:r>
              <a:rPr lang="en-US" altLang="ko-KR" sz="1200" dirty="0"/>
              <a:t>(</a:t>
            </a:r>
            <a:r>
              <a:rPr lang="ko-KR" altLang="en-US" sz="1200" dirty="0"/>
              <a:t>공분산 추정</a:t>
            </a:r>
            <a:r>
              <a:rPr lang="en-US" altLang="ko-KR" sz="1200" dirty="0"/>
              <a:t>)</a:t>
            </a:r>
          </a:p>
          <a:p>
            <a:r>
              <a:rPr lang="en-US" altLang="ko-KR" sz="1200" dirty="0"/>
              <a:t>6.6 Basic Covariance Estimation (</a:t>
            </a:r>
            <a:r>
              <a:rPr lang="ko-KR" altLang="en-US" sz="1200" dirty="0"/>
              <a:t>기본 공분산 추정</a:t>
            </a:r>
            <a:r>
              <a:rPr lang="en-US" altLang="ko-KR" sz="1200" dirty="0"/>
              <a:t>)   3</a:t>
            </a:r>
          </a:p>
          <a:p>
            <a:r>
              <a:rPr lang="en-US" altLang="ko-KR" sz="1200" dirty="0"/>
              <a:t>6.7 Shrinkage Methods (</a:t>
            </a:r>
            <a:r>
              <a:rPr lang="ko-KR" altLang="en-US" sz="1200" dirty="0"/>
              <a:t>축소 방법</a:t>
            </a:r>
            <a:r>
              <a:rPr lang="en-US" altLang="ko-KR" sz="1200" dirty="0"/>
              <a:t>)   5</a:t>
            </a:r>
          </a:p>
          <a:p>
            <a:r>
              <a:rPr lang="en-US" altLang="ko-KR" sz="1200" dirty="0"/>
              <a:t>6.8 Sparse Covariance Estimation (</a:t>
            </a:r>
            <a:r>
              <a:rPr lang="ko-KR" altLang="en-US" sz="1200" dirty="0"/>
              <a:t>희소 공분산 추정</a:t>
            </a:r>
            <a:r>
              <a:rPr lang="en-US" altLang="ko-KR" sz="1200" dirty="0"/>
              <a:t>)   5 </a:t>
            </a:r>
          </a:p>
          <a:p>
            <a:r>
              <a:rPr lang="en-US" altLang="ko-KR" sz="1200" dirty="0"/>
              <a:t>6.9 Robust Covariance Estimation (</a:t>
            </a:r>
            <a:r>
              <a:rPr lang="ko-KR" altLang="en-US" sz="1200" dirty="0"/>
              <a:t>강건 공분산 추정</a:t>
            </a:r>
            <a:r>
              <a:rPr lang="en-US" altLang="ko-KR" sz="1200" dirty="0"/>
              <a:t>)   4</a:t>
            </a:r>
          </a:p>
          <a:p>
            <a:r>
              <a:rPr lang="en-US" altLang="ko-KR" sz="1200" dirty="0"/>
              <a:t>6.10 Structured Covariance Estimation (</a:t>
            </a:r>
            <a:r>
              <a:rPr lang="ko-KR" altLang="en-US" sz="1200" dirty="0"/>
              <a:t>구조화된 공분산 추정</a:t>
            </a:r>
            <a:r>
              <a:rPr lang="en-US" altLang="ko-KR" sz="1200" dirty="0"/>
              <a:t>)   5</a:t>
            </a:r>
          </a:p>
          <a:p>
            <a:r>
              <a:rPr lang="en-US" altLang="ko-KR" sz="1200" dirty="0"/>
              <a:t>6.11 High-dimensional Covariance Estimation (</a:t>
            </a:r>
            <a:r>
              <a:rPr lang="ko-KR" altLang="en-US" sz="1200" dirty="0"/>
              <a:t>고차원 공분산 추정</a:t>
            </a:r>
            <a:r>
              <a:rPr lang="en-US" altLang="ko-KR" sz="1200" dirty="0"/>
              <a:t>)   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99274E-0562-87BF-50A8-FC50520C646D}"/>
              </a:ext>
            </a:extLst>
          </p:cNvPr>
          <p:cNvSpPr txBox="1"/>
          <p:nvPr/>
        </p:nvSpPr>
        <p:spPr>
          <a:xfrm>
            <a:off x="220832" y="5543232"/>
            <a:ext cx="5730287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5.1 Generative Models (</a:t>
            </a:r>
            <a:r>
              <a:rPr lang="ko-KR" altLang="en-US" sz="1200" dirty="0"/>
              <a:t>생성 모델</a:t>
            </a:r>
            <a:r>
              <a:rPr lang="en-US" altLang="ko-KR" sz="1200" dirty="0"/>
              <a:t>)   14</a:t>
            </a:r>
          </a:p>
          <a:p>
            <a:r>
              <a:rPr lang="en-US" altLang="ko-KR" sz="1200" dirty="0"/>
              <a:t>5.2 Representation Learning (</a:t>
            </a:r>
            <a:r>
              <a:rPr lang="ko-KR" altLang="en-US" sz="1200" dirty="0"/>
              <a:t>표현 학습</a:t>
            </a:r>
            <a:r>
              <a:rPr lang="en-US" altLang="ko-KR" sz="1200" dirty="0"/>
              <a:t>)   16</a:t>
            </a:r>
          </a:p>
          <a:p>
            <a:r>
              <a:rPr lang="en-US" altLang="ko-KR" sz="1200" dirty="0"/>
              <a:t>5.3 Deep Learning-based Clustering (</a:t>
            </a:r>
            <a:r>
              <a:rPr lang="ko-KR" altLang="en-US" sz="1200" dirty="0"/>
              <a:t>딥러닝 기반 클러스터링</a:t>
            </a:r>
            <a:r>
              <a:rPr lang="en-US" altLang="ko-KR" sz="1200" dirty="0"/>
              <a:t>)   11</a:t>
            </a:r>
          </a:p>
          <a:p>
            <a:r>
              <a:rPr lang="en-US" altLang="ko-KR" sz="1200" dirty="0"/>
              <a:t>5.4 Deep Learning-based Dimensionality Reduction (</a:t>
            </a:r>
            <a:r>
              <a:rPr lang="ko-KR" altLang="en-US" sz="1200" dirty="0"/>
              <a:t>딥러닝 기반 차원축소</a:t>
            </a:r>
            <a:r>
              <a:rPr lang="en-US" altLang="ko-KR" sz="1200" dirty="0"/>
              <a:t>)   13</a:t>
            </a:r>
          </a:p>
          <a:p>
            <a:r>
              <a:rPr lang="en-US" altLang="ko-KR" sz="1200" dirty="0"/>
              <a:t>5.5 Energy-Based Models (</a:t>
            </a:r>
            <a:r>
              <a:rPr lang="ko-KR" altLang="en-US" sz="1200" dirty="0"/>
              <a:t>에너지 기반 모델</a:t>
            </a:r>
            <a:r>
              <a:rPr lang="en-US" altLang="ko-KR" sz="1200" dirty="0"/>
              <a:t>)   4</a:t>
            </a:r>
          </a:p>
          <a:p>
            <a:r>
              <a:rPr lang="en-US" altLang="ko-KR" sz="1200" dirty="0"/>
              <a:t>5.6 Deep Learning-based Methods (</a:t>
            </a:r>
            <a:r>
              <a:rPr lang="ko-KR" altLang="en-US" sz="1200" dirty="0"/>
              <a:t>딥러닝 기반 이상치</a:t>
            </a:r>
            <a:r>
              <a:rPr lang="en-US" altLang="ko-KR" sz="1200" dirty="0"/>
              <a:t> </a:t>
            </a:r>
            <a:r>
              <a:rPr lang="ko-KR" altLang="en-US" sz="1200" dirty="0"/>
              <a:t>탐색</a:t>
            </a:r>
            <a:r>
              <a:rPr lang="en-US" altLang="ko-KR" sz="1200" dirty="0"/>
              <a:t>)   10</a:t>
            </a:r>
          </a:p>
          <a:p>
            <a:endParaRPr lang="en-US" altLang="ko-KR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B9C4A32-B6AB-7604-B502-EE658108165D}"/>
              </a:ext>
            </a:extLst>
          </p:cNvPr>
          <p:cNvSpPr txBox="1"/>
          <p:nvPr/>
        </p:nvSpPr>
        <p:spPr>
          <a:xfrm>
            <a:off x="193885" y="3517688"/>
            <a:ext cx="46262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00FF"/>
                </a:solidFill>
              </a:rPr>
              <a:t>4.</a:t>
            </a:r>
            <a:r>
              <a:rPr lang="ko-KR" altLang="en-US" dirty="0">
                <a:solidFill>
                  <a:srgbClr val="0000FF"/>
                </a:solidFill>
              </a:rPr>
              <a:t>이상치 탐지 </a:t>
            </a:r>
            <a:r>
              <a:rPr lang="en-US" altLang="ko-KR" dirty="0">
                <a:solidFill>
                  <a:srgbClr val="0000FF"/>
                </a:solidFill>
              </a:rPr>
              <a:t>(Anomaly/Outlier Detection)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C1168A-3509-07BB-BA01-A8F0A5C98809}"/>
              </a:ext>
            </a:extLst>
          </p:cNvPr>
          <p:cNvSpPr txBox="1"/>
          <p:nvPr/>
        </p:nvSpPr>
        <p:spPr>
          <a:xfrm>
            <a:off x="5905444" y="589869"/>
            <a:ext cx="55569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rgbClr val="0000FF"/>
                </a:solidFill>
              </a:rPr>
              <a:t>2.</a:t>
            </a:r>
            <a:r>
              <a:rPr lang="ko-KR" altLang="en-US" sz="2000" b="1" dirty="0">
                <a:solidFill>
                  <a:srgbClr val="0000FF"/>
                </a:solidFill>
              </a:rPr>
              <a:t>연관 규칙 학습 </a:t>
            </a:r>
            <a:r>
              <a:rPr lang="en-US" altLang="ko-KR" sz="2000" b="1" dirty="0">
                <a:solidFill>
                  <a:srgbClr val="0000FF"/>
                </a:solidFill>
              </a:rPr>
              <a:t>(Association Rule Learning)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B41064-2A91-2950-6B3F-244E699A42F1}"/>
              </a:ext>
            </a:extLst>
          </p:cNvPr>
          <p:cNvSpPr txBox="1"/>
          <p:nvPr/>
        </p:nvSpPr>
        <p:spPr>
          <a:xfrm>
            <a:off x="5913967" y="2155941"/>
            <a:ext cx="49193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rgbClr val="0000FF"/>
                </a:solidFill>
              </a:rPr>
              <a:t>3.</a:t>
            </a:r>
            <a:r>
              <a:rPr lang="ko-KR" altLang="en-US" sz="2000" b="1" dirty="0">
                <a:solidFill>
                  <a:srgbClr val="0000FF"/>
                </a:solidFill>
              </a:rPr>
              <a:t>차원 축소 </a:t>
            </a:r>
            <a:r>
              <a:rPr lang="en-US" altLang="ko-KR" sz="2000" b="1" dirty="0">
                <a:solidFill>
                  <a:srgbClr val="0000FF"/>
                </a:solidFill>
              </a:rPr>
              <a:t>(Dimensionality Reduction)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2DED9F8-1D63-FC89-A7FA-283E147D20BC}"/>
              </a:ext>
            </a:extLst>
          </p:cNvPr>
          <p:cNvSpPr txBox="1"/>
          <p:nvPr/>
        </p:nvSpPr>
        <p:spPr>
          <a:xfrm>
            <a:off x="5696242" y="3576437"/>
            <a:ext cx="62972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00FF"/>
                </a:solidFill>
              </a:rPr>
              <a:t>6. </a:t>
            </a:r>
            <a:r>
              <a:rPr lang="ko-KR" altLang="en-US" dirty="0">
                <a:solidFill>
                  <a:srgbClr val="0000FF"/>
                </a:solidFill>
              </a:rPr>
              <a:t>통계 </a:t>
            </a:r>
            <a:r>
              <a:rPr lang="en-US" altLang="ko-KR" dirty="0">
                <a:solidFill>
                  <a:srgbClr val="0000FF"/>
                </a:solidFill>
              </a:rPr>
              <a:t>: </a:t>
            </a:r>
            <a:r>
              <a:rPr lang="ko-KR" altLang="en-US" dirty="0">
                <a:solidFill>
                  <a:srgbClr val="0000FF"/>
                </a:solidFill>
              </a:rPr>
              <a:t>밀도</a:t>
            </a:r>
            <a:r>
              <a:rPr lang="en-US" altLang="ko-KR" dirty="0">
                <a:solidFill>
                  <a:srgbClr val="0000FF"/>
                </a:solidFill>
              </a:rPr>
              <a:t>/</a:t>
            </a:r>
            <a:r>
              <a:rPr lang="ko-KR" altLang="en-US" dirty="0">
                <a:solidFill>
                  <a:srgbClr val="0000FF"/>
                </a:solidFill>
              </a:rPr>
              <a:t>공분산 추정 </a:t>
            </a:r>
            <a:r>
              <a:rPr lang="en-US" altLang="ko-KR" dirty="0">
                <a:solidFill>
                  <a:srgbClr val="0000FF"/>
                </a:solidFill>
              </a:rPr>
              <a:t>(Density/Covariance Estimation)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A353735-0BDC-84A4-B428-B95A414609BF}"/>
              </a:ext>
            </a:extLst>
          </p:cNvPr>
          <p:cNvSpPr txBox="1"/>
          <p:nvPr/>
        </p:nvSpPr>
        <p:spPr>
          <a:xfrm>
            <a:off x="220832" y="5263351"/>
            <a:ext cx="4174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00FF"/>
                </a:solidFill>
              </a:rPr>
              <a:t>5.</a:t>
            </a:r>
            <a:r>
              <a:rPr lang="ko-KR" altLang="en-US" dirty="0">
                <a:solidFill>
                  <a:srgbClr val="0000FF"/>
                </a:solidFill>
              </a:rPr>
              <a:t>신경망 기반 </a:t>
            </a:r>
            <a:r>
              <a:rPr lang="en-US" altLang="ko-KR" dirty="0">
                <a:solidFill>
                  <a:srgbClr val="0000FF"/>
                </a:solidFill>
              </a:rPr>
              <a:t>(Neural Network-based)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199F67-A4D2-C918-E974-7CA48D43F59E}"/>
              </a:ext>
            </a:extLst>
          </p:cNvPr>
          <p:cNvSpPr txBox="1"/>
          <p:nvPr/>
        </p:nvSpPr>
        <p:spPr>
          <a:xfrm>
            <a:off x="7436" y="8850"/>
            <a:ext cx="5426037" cy="46166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2400" b="1">
                <a:solidFill>
                  <a:schemeClr val="bg1"/>
                </a:solidFill>
              </a:rPr>
              <a:t>비지도 학습</a:t>
            </a:r>
            <a:r>
              <a:rPr lang="en-US" altLang="ko-KR" sz="2400" b="1">
                <a:solidFill>
                  <a:schemeClr val="bg1"/>
                </a:solidFill>
              </a:rPr>
              <a:t>(Unsupervised Learning)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6316C93B-D1D5-4F8B-9155-1093E7C562C8}"/>
              </a:ext>
            </a:extLst>
          </p:cNvPr>
          <p:cNvCxnSpPr>
            <a:cxnSpLocks/>
          </p:cNvCxnSpPr>
          <p:nvPr/>
        </p:nvCxnSpPr>
        <p:spPr>
          <a:xfrm flipV="1">
            <a:off x="7436" y="3472588"/>
            <a:ext cx="12192000" cy="1977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7981E1E-A17E-475A-B5AD-BB21754A2D1C}"/>
              </a:ext>
            </a:extLst>
          </p:cNvPr>
          <p:cNvSpPr txBox="1"/>
          <p:nvPr/>
        </p:nvSpPr>
        <p:spPr>
          <a:xfrm>
            <a:off x="7970714" y="34145"/>
            <a:ext cx="42287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rgbClr val="7030A0"/>
                </a:solidFill>
              </a:rPr>
              <a:t>Machine Learning</a:t>
            </a:r>
            <a:r>
              <a:rPr lang="ko-KR" altLang="en-US" sz="1400" dirty="0">
                <a:solidFill>
                  <a:srgbClr val="7030A0"/>
                </a:solidFill>
              </a:rPr>
              <a:t> 기반의 연구방법론 </a:t>
            </a:r>
            <a:r>
              <a:rPr lang="en-US" altLang="ko-KR" sz="1400" dirty="0">
                <a:solidFill>
                  <a:srgbClr val="7030A0"/>
                </a:solidFill>
              </a:rPr>
              <a:t>2026.4.9(</a:t>
            </a:r>
            <a:r>
              <a:rPr lang="ko-KR" altLang="en-US" sz="1400" dirty="0">
                <a:solidFill>
                  <a:srgbClr val="7030A0"/>
                </a:solidFill>
              </a:rPr>
              <a:t>목</a:t>
            </a:r>
            <a:r>
              <a:rPr lang="en-US" altLang="ko-KR" sz="1400" dirty="0">
                <a:solidFill>
                  <a:srgbClr val="7030A0"/>
                </a:solidFill>
              </a:rPr>
              <a:t>)</a:t>
            </a:r>
            <a:endParaRPr lang="ko-KR" altLang="en-US" sz="14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08957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8230</TotalTime>
  <Words>1081</Words>
  <Application>Microsoft Office PowerPoint</Application>
  <PresentationFormat>와이드스크린</PresentationFormat>
  <Paragraphs>140</Paragraphs>
  <Slides>6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양희정</dc:creator>
  <cp:lastModifiedBy>양 희정</cp:lastModifiedBy>
  <cp:revision>252</cp:revision>
  <cp:lastPrinted>2026-04-09T04:28:10Z</cp:lastPrinted>
  <dcterms:created xsi:type="dcterms:W3CDTF">2026-02-24T07:28:13Z</dcterms:created>
  <dcterms:modified xsi:type="dcterms:W3CDTF">2026-04-09T04:30:18Z</dcterms:modified>
</cp:coreProperties>
</file>
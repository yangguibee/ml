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4" r:id="rId2"/>
    <p:sldId id="326" r:id="rId3"/>
    <p:sldId id="344" r:id="rId4"/>
    <p:sldId id="346" r:id="rId5"/>
    <p:sldId id="345" r:id="rId6"/>
    <p:sldId id="347" r:id="rId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35" autoAdjust="0"/>
    <p:restoredTop sz="86437" autoAdjust="0"/>
  </p:normalViewPr>
  <p:slideViewPr>
    <p:cSldViewPr snapToGrid="0">
      <p:cViewPr varScale="1">
        <p:scale>
          <a:sx n="54" d="100"/>
          <a:sy n="54" d="100"/>
        </p:scale>
        <p:origin x="67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rgbClr val="C00000"/>
                </a:solidFill>
              </a:rPr>
              <a:t>제</a:t>
            </a:r>
            <a:r>
              <a:rPr lang="en-US" altLang="ko-KR" sz="3200" b="1">
                <a:solidFill>
                  <a:srgbClr val="C00000"/>
                </a:solidFill>
              </a:rPr>
              <a:t>4</a:t>
            </a:r>
            <a:r>
              <a:rPr lang="ko-KR" altLang="en-US" sz="3200" b="1">
                <a:solidFill>
                  <a:srgbClr val="C00000"/>
                </a:solidFill>
              </a:rPr>
              <a:t>강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63" y="1190694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225962" y="2305574"/>
            <a:ext cx="11713863" cy="3108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52153" y="2888105"/>
            <a:ext cx="2140330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1CC8-DC4F-8122-DE1B-2270C58D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696818-B0C9-87B6-B0A6-B1BF64DDA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1" y="0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F7CC4-29D3-7B97-FCB3-77B94524FAE3}"/>
              </a:ext>
            </a:extLst>
          </p:cNvPr>
          <p:cNvSpPr txBox="1"/>
          <p:nvPr/>
        </p:nvSpPr>
        <p:spPr>
          <a:xfrm>
            <a:off x="788343" y="930205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3</a:t>
            </a:r>
            <a:r>
              <a:rPr lang="ko-KR" altLang="en-US" sz="2400" b="1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/>
              <a:t>연구방법론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C4886-FEB2-8105-5922-E9A320F5910B}"/>
              </a:ext>
            </a:extLst>
          </p:cNvPr>
          <p:cNvSpPr txBox="1"/>
          <p:nvPr/>
        </p:nvSpPr>
        <p:spPr>
          <a:xfrm>
            <a:off x="4174262" y="707828"/>
            <a:ext cx="757130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▣ 실습 준비 </a:t>
            </a:r>
            <a:r>
              <a:rPr lang="en-US" altLang="ko-KR"/>
              <a:t>: </a:t>
            </a:r>
            <a:r>
              <a:rPr lang="ko-KR" altLang="en-US"/>
              <a:t>구글코랩</a:t>
            </a:r>
            <a:r>
              <a:rPr lang="en-US" altLang="ko-KR"/>
              <a:t>, </a:t>
            </a:r>
            <a:r>
              <a:rPr lang="ko-KR" altLang="en-US"/>
              <a:t>아나콘다</a:t>
            </a:r>
            <a:endParaRPr lang="en-US" altLang="ko-KR"/>
          </a:p>
          <a:p>
            <a:endParaRPr lang="ko-KR" altLang="en-US"/>
          </a:p>
          <a:p>
            <a:r>
              <a:rPr lang="ko-KR" altLang="en-US"/>
              <a:t>▣ 데이터 수집 </a:t>
            </a:r>
            <a:r>
              <a:rPr lang="en-US" altLang="ko-KR"/>
              <a:t> (1) </a:t>
            </a:r>
            <a:r>
              <a:rPr lang="ko-KR" altLang="en-US"/>
              <a:t>원시 데이터 수집</a:t>
            </a:r>
            <a:r>
              <a:rPr lang="en-US" altLang="ko-KR"/>
              <a:t> </a:t>
            </a:r>
          </a:p>
          <a:p>
            <a:r>
              <a:rPr lang="en-US" altLang="ko-KR"/>
              <a:t>                     (2) </a:t>
            </a:r>
            <a:r>
              <a:rPr lang="ko-KR" altLang="en-US"/>
              <a:t>데이터 마트 생성</a:t>
            </a:r>
            <a:r>
              <a:rPr lang="en-US" altLang="ko-KR"/>
              <a:t> </a:t>
            </a:r>
          </a:p>
          <a:p>
            <a:r>
              <a:rPr lang="en-US" altLang="ko-KR"/>
              <a:t>                     (3) </a:t>
            </a:r>
            <a:r>
              <a:rPr lang="ko-KR" altLang="en-US"/>
              <a:t>데이터 정합성 평가</a:t>
            </a:r>
            <a:endParaRPr lang="en-US" altLang="ko-KR"/>
          </a:p>
          <a:p>
            <a:r>
              <a:rPr lang="en-US" altLang="ko-KR"/>
              <a:t>                     (4) </a:t>
            </a:r>
            <a:r>
              <a:rPr lang="ko-KR" altLang="en-US"/>
              <a:t>데이터 취합</a:t>
            </a:r>
            <a:endParaRPr lang="en-US" altLang="ko-KR"/>
          </a:p>
          <a:p>
            <a:r>
              <a:rPr lang="en-US" altLang="ko-KR"/>
              <a:t>                     (5) </a:t>
            </a:r>
            <a:r>
              <a:rPr lang="ko-KR" altLang="en-US"/>
              <a:t>데이터 표준화</a:t>
            </a:r>
            <a:endParaRPr lang="en-US" altLang="ko-KR"/>
          </a:p>
          <a:p>
            <a:endParaRPr lang="ko-KR" altLang="en-US"/>
          </a:p>
          <a:p>
            <a:r>
              <a:rPr lang="ko-KR" altLang="en-US"/>
              <a:t>▣ 데이터 전처리  </a:t>
            </a:r>
            <a:r>
              <a:rPr lang="en-US" altLang="ko-KR"/>
              <a:t>(1) Data Cleaning</a:t>
            </a:r>
          </a:p>
          <a:p>
            <a:r>
              <a:rPr lang="en-US" altLang="ko-KR"/>
              <a:t>                        (2) Data Encoding</a:t>
            </a:r>
          </a:p>
          <a:p>
            <a:r>
              <a:rPr lang="en-US" altLang="ko-KR"/>
              <a:t>                        (3) Data Transform</a:t>
            </a:r>
          </a:p>
          <a:p>
            <a:r>
              <a:rPr lang="en-US" altLang="ko-KR"/>
              <a:t>                        (4) Feature Scaling</a:t>
            </a:r>
          </a:p>
          <a:p>
            <a:r>
              <a:rPr lang="en-US" altLang="ko-KR"/>
              <a:t>                        (5) ML Pipeline	 </a:t>
            </a:r>
          </a:p>
          <a:p>
            <a:endParaRPr lang="en-US" altLang="ko-KR"/>
          </a:p>
          <a:p>
            <a:r>
              <a:rPr lang="en-US" altLang="ko-KR"/>
              <a:t>▣ </a:t>
            </a:r>
            <a:r>
              <a:rPr lang="ko-KR" altLang="en-US"/>
              <a:t>데이터셋 분리</a:t>
            </a:r>
            <a:r>
              <a:rPr lang="en-US" altLang="ko-KR"/>
              <a:t>    (1) </a:t>
            </a:r>
            <a:r>
              <a:rPr lang="ko-KR" altLang="en-US"/>
              <a:t>훈련 데이터</a:t>
            </a:r>
            <a:r>
              <a:rPr lang="en-US" altLang="ko-KR"/>
              <a:t>(Training set)</a:t>
            </a:r>
          </a:p>
          <a:p>
            <a:r>
              <a:rPr lang="en-US" altLang="ko-KR"/>
              <a:t>                          (2) </a:t>
            </a:r>
            <a:r>
              <a:rPr lang="ko-KR" altLang="en-US"/>
              <a:t>테스트 데이터</a:t>
            </a:r>
            <a:r>
              <a:rPr lang="en-US" altLang="ko-KR"/>
              <a:t>(Test set)</a:t>
            </a:r>
          </a:p>
          <a:p>
            <a:r>
              <a:rPr lang="en-US" altLang="ko-KR"/>
              <a:t>                          (3) </a:t>
            </a:r>
            <a:r>
              <a:rPr lang="ko-KR" altLang="en-US"/>
              <a:t>검정 데이터</a:t>
            </a:r>
            <a:r>
              <a:rPr lang="en-US" altLang="ko-KR"/>
              <a:t>(Validation set)	 </a:t>
            </a:r>
          </a:p>
          <a:p>
            <a:r>
              <a:rPr lang="en-US" altLang="ko-KR"/>
              <a:t> </a:t>
            </a:r>
          </a:p>
          <a:p>
            <a:r>
              <a:rPr lang="en-US" altLang="ko-KR"/>
              <a:t>▣ Python </a:t>
            </a:r>
            <a:r>
              <a:rPr lang="ko-KR" altLang="en-US"/>
              <a:t>라이브러리  </a:t>
            </a:r>
            <a:r>
              <a:rPr lang="en-US" altLang="ko-KR"/>
              <a:t> NumPy, Pandas, Matplotlib, </a:t>
            </a:r>
          </a:p>
          <a:p>
            <a:r>
              <a:rPr lang="en-US" altLang="ko-KR"/>
              <a:t>                               Scikit-Learn, MNIST, TensorFlow, Kaggle	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791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404512" y="2669308"/>
            <a:ext cx="31854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4</a:t>
            </a:r>
            <a:r>
              <a:rPr lang="ko-KR" altLang="en-US" sz="3200" b="1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/>
              <a:t>비지도학습</a:t>
            </a:r>
            <a:r>
              <a:rPr lang="en-US" altLang="ko-KR" sz="3200" b="1"/>
              <a:t>(1/3)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CAED25-19F2-474F-927B-4214569AA247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15591" y="961901"/>
            <a:ext cx="1440000" cy="18000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52DC80-14C7-41F9-B665-5B37526CCD14}"/>
              </a:ext>
            </a:extLst>
          </p:cNvPr>
          <p:cNvSpPr txBox="1"/>
          <p:nvPr/>
        </p:nvSpPr>
        <p:spPr>
          <a:xfrm>
            <a:off x="400518" y="2761901"/>
            <a:ext cx="311014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과학적 연구의 의미와 논리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과학적 연구의 목적과 유형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과학적 연구의 절차와 계획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연구문제와 개념적 </a:t>
            </a:r>
            <a:r>
              <a:rPr lang="ko-KR" altLang="en-US" sz="1400" kern="0" spc="-60" dirty="0" err="1">
                <a:solidFill>
                  <a:srgbClr val="000000"/>
                </a:solidFill>
                <a:latin typeface="+mn-ea"/>
              </a:rPr>
              <a:t>준거틀</a:t>
            </a:r>
            <a:endParaRPr lang="ko-KR" altLang="en-US" sz="1400" kern="0" spc="-60" dirty="0">
              <a:solidFill>
                <a:srgbClr val="000000"/>
              </a:solidFill>
              <a:latin typeface="+mn-ea"/>
            </a:endParaRP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문헌 검토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6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인과관계의 추론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7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설명적 연구의 조사설계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8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기술적 연구의 조사설계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9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질적 연구의 조사설계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개념과 측정도구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11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표본추출의 논리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12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자료수집방법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13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자료분석방법</a:t>
            </a:r>
          </a:p>
          <a:p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제</a:t>
            </a:r>
            <a:r>
              <a:rPr lang="en-US" altLang="ko-KR" sz="1400" kern="0" spc="-60" dirty="0">
                <a:solidFill>
                  <a:srgbClr val="000000"/>
                </a:solidFill>
                <a:latin typeface="+mn-ea"/>
              </a:rPr>
              <a:t>14</a:t>
            </a:r>
            <a:r>
              <a:rPr lang="ko-KR" altLang="en-US" sz="1400" kern="0" spc="-60" dirty="0">
                <a:solidFill>
                  <a:srgbClr val="000000"/>
                </a:solidFill>
                <a:latin typeface="+mn-ea"/>
              </a:rPr>
              <a:t>장 연구보고서 작성과 연구진실성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FF61C4-3D0A-421C-8785-1F3F1FCE532D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63229" y="762859"/>
            <a:ext cx="1440000" cy="18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35296B-D48E-4791-A212-09E28EF7190F}"/>
              </a:ext>
            </a:extLst>
          </p:cNvPr>
          <p:cNvSpPr txBox="1"/>
          <p:nvPr/>
        </p:nvSpPr>
        <p:spPr>
          <a:xfrm>
            <a:off x="6176457" y="105255"/>
            <a:ext cx="4406976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i="0" dirty="0">
                <a:effectLst/>
                <a:latin typeface="Roboto" panose="020B0604020202020204" pitchFamily="2" charset="0"/>
              </a:rPr>
              <a:t>part 1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마케팅조사의 개관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01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통계학과 마케팅 조사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02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마케팅조사의 종류와 절차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part 2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자료수집방법과 수단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03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마케팅자료의 종류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04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설문지조사법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05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개념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,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측정과 척도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part 3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표본추출법과 자료분석 준비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06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표본추출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07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추정과 가설검정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08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자료분석 준비와 통계기법의 개요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part 4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자료분석과 기초통계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09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자료의 정규분포검정과 신뢰성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10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요인분석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11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평균 및 비율차이검증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12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독립성과 적합성검증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part 5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자료분석과 중급통계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13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분산분석과 상관분석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14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회귀분석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15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군집분석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part 6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석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·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박사 논문작성에 필요한 고급통계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16 </a:t>
            </a:r>
            <a:r>
              <a:rPr lang="ko-KR" altLang="en-US" sz="1400" b="0" i="0" dirty="0" err="1">
                <a:effectLst/>
                <a:latin typeface="Roboto" panose="020B0604020202020204" pitchFamily="2" charset="0"/>
              </a:rPr>
              <a:t>구조방정식모델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17 PLS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를 이용한 분석방법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18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조절효과 분석방법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19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매개효과 분석방법</a:t>
            </a:r>
            <a:br>
              <a:rPr lang="ko-KR" altLang="en-US" sz="1400" b="0" i="0" dirty="0">
                <a:effectLst/>
                <a:latin typeface="Roboto" panose="020B0604020202020204" pitchFamily="2" charset="0"/>
              </a:rPr>
            </a:b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   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chapter 20 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부트스트랩을 활용한 조절</a:t>
            </a:r>
            <a:r>
              <a:rPr lang="en-US" altLang="ko-KR" sz="1400" b="0" i="0" dirty="0">
                <a:effectLst/>
                <a:latin typeface="Roboto" panose="020B0604020202020204" pitchFamily="2" charset="0"/>
              </a:rPr>
              <a:t>·</a:t>
            </a:r>
            <a:r>
              <a:rPr lang="ko-KR" altLang="en-US" sz="1400" b="0" i="0" dirty="0">
                <a:effectLst/>
                <a:latin typeface="Roboto" panose="020B0604020202020204" pitchFamily="2" charset="0"/>
              </a:rPr>
              <a:t>매개효과분</a:t>
            </a:r>
            <a:r>
              <a:rPr lang="ko-KR" altLang="en-US" sz="1400" dirty="0">
                <a:latin typeface="Roboto" panose="020B0604020202020204" pitchFamily="2" charset="0"/>
              </a:rPr>
              <a:t>석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0CB2C-F14E-4CA1-B3C4-C252A3BB8C47}"/>
              </a:ext>
            </a:extLst>
          </p:cNvPr>
          <p:cNvSpPr txBox="1"/>
          <p:nvPr/>
        </p:nvSpPr>
        <p:spPr>
          <a:xfrm>
            <a:off x="6176457" y="5763396"/>
            <a:ext cx="2398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 i="0" dirty="0">
                <a:effectLst/>
                <a:latin typeface="Roboto" panose="020B0604020202020204" pitchFamily="2" charset="0"/>
              </a:rPr>
              <a:t>부록 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: 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통계표</a:t>
            </a:r>
            <a:br>
              <a:rPr lang="ko-KR" altLang="en-US" sz="1200" b="0" i="0" dirty="0">
                <a:effectLst/>
                <a:latin typeface="Roboto" panose="020B0604020202020204" pitchFamily="2" charset="0"/>
              </a:rPr>
            </a:b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&lt;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표 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1&gt; 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표준정규분포표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(Z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분포표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)</a:t>
            </a:r>
            <a:br>
              <a:rPr lang="en-US" altLang="ko-KR" sz="1200" b="0" i="0" dirty="0">
                <a:effectLst/>
                <a:latin typeface="Roboto" panose="020B0604020202020204" pitchFamily="2" charset="0"/>
              </a:rPr>
            </a:b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&lt;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표 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2&gt; t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분포표</a:t>
            </a:r>
            <a:br>
              <a:rPr lang="ko-KR" altLang="en-US" sz="1200" b="0" i="0" dirty="0">
                <a:effectLst/>
                <a:latin typeface="Roboto" panose="020B0604020202020204" pitchFamily="2" charset="0"/>
              </a:rPr>
            </a:b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&lt;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표 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3&gt; χ2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분포표</a:t>
            </a:r>
            <a:br>
              <a:rPr lang="ko-KR" altLang="en-US" sz="1200" b="0" i="0" dirty="0">
                <a:effectLst/>
                <a:latin typeface="Roboto" panose="020B0604020202020204" pitchFamily="2" charset="0"/>
              </a:rPr>
            </a:b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&lt;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표 </a:t>
            </a:r>
            <a:r>
              <a:rPr lang="en-US" altLang="ko-KR" sz="1200" b="0" i="0" dirty="0">
                <a:effectLst/>
                <a:latin typeface="Roboto" panose="020B0604020202020204" pitchFamily="2" charset="0"/>
              </a:rPr>
              <a:t>4&gt; F</a:t>
            </a:r>
            <a:r>
              <a:rPr lang="ko-KR" altLang="en-US" sz="1200" b="0" i="0" dirty="0">
                <a:effectLst/>
                <a:latin typeface="Roboto" panose="020B0604020202020204" pitchFamily="2" charset="0"/>
              </a:rPr>
              <a:t>분포표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9947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6240</TotalTime>
  <Words>666</Words>
  <Application>Microsoft Office PowerPoint</Application>
  <PresentationFormat>와이드스크린</PresentationFormat>
  <Paragraphs>83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Roboto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양희정</cp:lastModifiedBy>
  <cp:revision>226</cp:revision>
  <cp:lastPrinted>2026-03-11T07:44:21Z</cp:lastPrinted>
  <dcterms:created xsi:type="dcterms:W3CDTF">2026-02-24T07:28:13Z</dcterms:created>
  <dcterms:modified xsi:type="dcterms:W3CDTF">2026-03-21T22:58:35Z</dcterms:modified>
</cp:coreProperties>
</file>
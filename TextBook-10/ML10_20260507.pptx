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4" r:id="rId2"/>
    <p:sldId id="326" r:id="rId3"/>
    <p:sldId id="344" r:id="rId4"/>
    <p:sldId id="353" r:id="rId5"/>
    <p:sldId id="345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5" autoAdjust="0"/>
    <p:restoredTop sz="86437" autoAdjust="0"/>
  </p:normalViewPr>
  <p:slideViewPr>
    <p:cSldViewPr snapToGrid="0">
      <p:cViewPr varScale="1">
        <p:scale>
          <a:sx n="97" d="100"/>
          <a:sy n="97" d="100"/>
        </p:scale>
        <p:origin x="104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33FF-3AF8-B66D-330D-561E6321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B046E-D63D-F293-134B-7ED2A381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88645-A723-C3A6-BB9D-1AF8B97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02CF2-D7AB-5423-80D7-DE9A9443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5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10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5" y="1255240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1463040" y="3966879"/>
            <a:ext cx="10476785" cy="2977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67050" y="4143607"/>
            <a:ext cx="2028575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64C1E6-95B7-4141-A3AA-7CEA9F4E6D56}"/>
              </a:ext>
            </a:extLst>
          </p:cNvPr>
          <p:cNvSpPr/>
          <p:nvPr/>
        </p:nvSpPr>
        <p:spPr>
          <a:xfrm>
            <a:off x="6596955" y="3992994"/>
            <a:ext cx="4540305" cy="32149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61AC-A0EC-30BA-B923-EA1F452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6538A-C6D2-8ADA-5A44-B461EC2F3793}"/>
              </a:ext>
            </a:extLst>
          </p:cNvPr>
          <p:cNvSpPr txBox="1"/>
          <p:nvPr/>
        </p:nvSpPr>
        <p:spPr>
          <a:xfrm>
            <a:off x="-17862" y="3817460"/>
            <a:ext cx="576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[2] </a:t>
            </a:r>
            <a:r>
              <a:rPr lang="ko-KR" altLang="en-US" sz="1600" b="1" dirty="0">
                <a:solidFill>
                  <a:srgbClr val="0000FF"/>
                </a:solidFill>
              </a:rPr>
              <a:t>일반화 선형 회귀</a:t>
            </a:r>
            <a:r>
              <a:rPr lang="en-US" altLang="ko-KR" sz="1600" b="1" dirty="0">
                <a:solidFill>
                  <a:srgbClr val="0000FF"/>
                </a:solidFill>
              </a:rPr>
              <a:t>(Generalized Linear Regression, GLM)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7D838-8BCD-2B3C-19EF-5D19F131BB1A}"/>
              </a:ext>
            </a:extLst>
          </p:cNvPr>
          <p:cNvSpPr txBox="1"/>
          <p:nvPr/>
        </p:nvSpPr>
        <p:spPr>
          <a:xfrm>
            <a:off x="-17862" y="4076362"/>
            <a:ext cx="431304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i="0" dirty="0">
                <a:effectLst/>
                <a:latin typeface="+mn-ea"/>
              </a:rPr>
              <a:t>[2-1] </a:t>
            </a:r>
            <a:r>
              <a:rPr lang="ko-KR" altLang="en-US" sz="1200" i="0" dirty="0">
                <a:effectLst/>
                <a:latin typeface="+mn-ea"/>
              </a:rPr>
              <a:t>이항 회귀 </a:t>
            </a:r>
            <a:r>
              <a:rPr lang="en-US" altLang="ko-KR" sz="1200" i="0" dirty="0">
                <a:effectLst/>
                <a:latin typeface="+mn-ea"/>
              </a:rPr>
              <a:t>(Binomial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[2-2] </a:t>
            </a:r>
            <a:r>
              <a:rPr lang="ko-KR" altLang="en-US" sz="1200" i="0" dirty="0">
                <a:effectLst/>
                <a:latin typeface="+mn-ea"/>
              </a:rPr>
              <a:t>포아송 회귀 </a:t>
            </a:r>
            <a:r>
              <a:rPr lang="en-US" altLang="ko-KR" sz="1200" i="0" dirty="0">
                <a:effectLst/>
                <a:latin typeface="+mn-ea"/>
              </a:rPr>
              <a:t>(Poisson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[2-3] </a:t>
            </a:r>
            <a:r>
              <a:rPr lang="ko-KR" altLang="en-US" sz="1200" i="0" dirty="0">
                <a:effectLst/>
                <a:latin typeface="+mn-ea"/>
              </a:rPr>
              <a:t>준포아송 회귀 </a:t>
            </a:r>
            <a:r>
              <a:rPr lang="en-US" altLang="ko-KR" sz="1200" i="0" dirty="0">
                <a:effectLst/>
                <a:latin typeface="+mn-ea"/>
              </a:rPr>
              <a:t>(Quasi-Poisson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[2-4] </a:t>
            </a:r>
            <a:r>
              <a:rPr lang="ko-KR" altLang="en-US" sz="1200" i="0" dirty="0">
                <a:effectLst/>
                <a:latin typeface="+mn-ea"/>
              </a:rPr>
              <a:t>음이항 회귀 </a:t>
            </a:r>
            <a:r>
              <a:rPr lang="en-US" altLang="ko-KR" sz="1200" i="0" dirty="0">
                <a:effectLst/>
                <a:latin typeface="+mn-ea"/>
              </a:rPr>
              <a:t>(Negative Binomial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[2-5] </a:t>
            </a:r>
            <a:r>
              <a:rPr lang="ko-KR" altLang="en-US" sz="1200" i="0" dirty="0">
                <a:effectLst/>
                <a:latin typeface="+mn-ea"/>
              </a:rPr>
              <a:t>감마 회귀 </a:t>
            </a:r>
            <a:r>
              <a:rPr lang="en-US" altLang="ko-KR" sz="1200" i="0" dirty="0">
                <a:effectLst/>
                <a:latin typeface="+mn-ea"/>
              </a:rPr>
              <a:t>(Gamma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[2-6] </a:t>
            </a:r>
            <a:r>
              <a:rPr lang="ko-KR" altLang="en-US" sz="1200" i="0" dirty="0">
                <a:effectLst/>
                <a:latin typeface="+mn-ea"/>
              </a:rPr>
              <a:t>역가우시안 회귀 </a:t>
            </a:r>
            <a:r>
              <a:rPr lang="en-US" altLang="ko-KR" sz="1200" i="0" dirty="0">
                <a:effectLst/>
                <a:latin typeface="+mn-ea"/>
              </a:rPr>
              <a:t>(Inverse Gaussian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[2-7] </a:t>
            </a:r>
            <a:r>
              <a:rPr lang="ko-KR" altLang="en-US" sz="1200" i="0" dirty="0">
                <a:effectLst/>
                <a:latin typeface="+mn-ea"/>
              </a:rPr>
              <a:t>트위디 회귀 </a:t>
            </a:r>
            <a:r>
              <a:rPr lang="en-US" altLang="ko-KR" sz="1200" i="0" dirty="0">
                <a:effectLst/>
                <a:latin typeface="+mn-ea"/>
              </a:rPr>
              <a:t>(Tweedie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[2-8] </a:t>
            </a:r>
            <a:r>
              <a:rPr lang="ko-KR" altLang="en-US" sz="1200" i="0" dirty="0">
                <a:effectLst/>
                <a:latin typeface="+mn-ea"/>
              </a:rPr>
              <a:t>콕스 비례위험 모형 </a:t>
            </a:r>
            <a:r>
              <a:rPr lang="en-US" altLang="ko-KR" sz="1200" i="0" dirty="0">
                <a:effectLst/>
                <a:latin typeface="+mn-ea"/>
              </a:rPr>
              <a:t>(Cox Proportional Hazard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[2-9] </a:t>
            </a:r>
            <a:r>
              <a:rPr lang="ko-KR" altLang="en-US" sz="1200" i="0" dirty="0">
                <a:effectLst/>
                <a:latin typeface="+mn-ea"/>
              </a:rPr>
              <a:t>영과잉 모형 </a:t>
            </a:r>
            <a:r>
              <a:rPr lang="en-US" altLang="ko-KR" sz="1200" i="0" dirty="0">
                <a:effectLst/>
                <a:latin typeface="+mn-ea"/>
              </a:rPr>
              <a:t>(Zero-Inflated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[2-10] </a:t>
            </a:r>
            <a:r>
              <a:rPr lang="ko-KR" altLang="en-US" sz="1200" i="0" dirty="0">
                <a:effectLst/>
                <a:latin typeface="+mn-ea"/>
              </a:rPr>
              <a:t>허들 모형 </a:t>
            </a:r>
            <a:r>
              <a:rPr lang="en-US" altLang="ko-KR" sz="1200" i="0" dirty="0">
                <a:effectLst/>
                <a:latin typeface="+mn-ea"/>
              </a:rPr>
              <a:t>(Hurdle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[2-11] </a:t>
            </a:r>
            <a:r>
              <a:rPr lang="ko-KR" altLang="en-US" sz="1200" i="0" dirty="0">
                <a:effectLst/>
                <a:latin typeface="+mn-ea"/>
              </a:rPr>
              <a:t>일반화 가법모형 </a:t>
            </a:r>
            <a:r>
              <a:rPr lang="en-US" altLang="ko-KR" sz="1200" i="0" dirty="0">
                <a:effectLst/>
                <a:latin typeface="+mn-ea"/>
              </a:rPr>
              <a:t>(Generalized Additive Model, GAM)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[2-12] </a:t>
            </a:r>
            <a:r>
              <a:rPr lang="ko-KR" altLang="en-US" sz="1200" i="0" dirty="0">
                <a:effectLst/>
                <a:latin typeface="+mn-ea"/>
              </a:rPr>
              <a:t>베이즈 </a:t>
            </a:r>
            <a:r>
              <a:rPr lang="en-US" altLang="ko-KR" sz="1200" i="0" dirty="0">
                <a:effectLst/>
                <a:latin typeface="+mn-ea"/>
              </a:rPr>
              <a:t>GLM (Bayesian Generalized Linear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[2-13] </a:t>
            </a:r>
            <a:r>
              <a:rPr lang="ko-KR" altLang="en-US" sz="1200" i="0" dirty="0">
                <a:effectLst/>
                <a:latin typeface="+mn-ea"/>
              </a:rPr>
              <a:t>정규화 </a:t>
            </a:r>
            <a:r>
              <a:rPr lang="en-US" altLang="ko-KR" sz="1200" i="0" dirty="0">
                <a:effectLst/>
                <a:latin typeface="+mn-ea"/>
              </a:rPr>
              <a:t>GLM (Regularized Generalized Linear Model)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69F74-D13A-7311-24AD-CE6C49C1A045}"/>
              </a:ext>
            </a:extLst>
          </p:cNvPr>
          <p:cNvSpPr txBox="1"/>
          <p:nvPr/>
        </p:nvSpPr>
        <p:spPr>
          <a:xfrm>
            <a:off x="6096000" y="2675153"/>
            <a:ext cx="57246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[5-1] </a:t>
            </a:r>
            <a:r>
              <a:rPr lang="ko-KR" altLang="en-US" sz="1200" dirty="0"/>
              <a:t>릿지 회귀 </a:t>
            </a:r>
            <a:r>
              <a:rPr lang="en-US" altLang="ko-KR" sz="1200" dirty="0"/>
              <a:t>(Ridge Regression, L2)</a:t>
            </a:r>
          </a:p>
          <a:p>
            <a:r>
              <a:rPr lang="en-US" altLang="ko-KR" sz="1200" dirty="0"/>
              <a:t>[5-2] </a:t>
            </a:r>
            <a:r>
              <a:rPr lang="ko-KR" altLang="en-US" sz="1200" dirty="0"/>
              <a:t>라쏘 회귀 </a:t>
            </a:r>
            <a:r>
              <a:rPr lang="en-US" altLang="ko-KR" sz="1200" dirty="0"/>
              <a:t>(Lasso Regression, L1)</a:t>
            </a:r>
          </a:p>
          <a:p>
            <a:r>
              <a:rPr lang="en-US" altLang="ko-KR" sz="1200" dirty="0"/>
              <a:t>[5-3] </a:t>
            </a:r>
            <a:r>
              <a:rPr lang="ko-KR" altLang="en-US" sz="1200" dirty="0"/>
              <a:t>엘라스틱넷 회귀 </a:t>
            </a:r>
            <a:r>
              <a:rPr lang="en-US" altLang="ko-KR" sz="1200" dirty="0"/>
              <a:t>(Elastic Net Regression, L1+L2)		</a:t>
            </a:r>
          </a:p>
          <a:p>
            <a:r>
              <a:rPr lang="en-US" altLang="ko-KR" sz="1200" dirty="0"/>
              <a:t>[5-4] </a:t>
            </a:r>
            <a:r>
              <a:rPr lang="ko-KR" altLang="en-US" sz="1200" dirty="0"/>
              <a:t>그룹 라쏘 회귀 </a:t>
            </a:r>
            <a:r>
              <a:rPr lang="en-US" altLang="ko-KR" sz="1200" dirty="0"/>
              <a:t>(Group Lasso Regression)</a:t>
            </a:r>
          </a:p>
          <a:p>
            <a:r>
              <a:rPr lang="en-US" altLang="ko-KR" sz="1200" dirty="0"/>
              <a:t>[5-5] </a:t>
            </a:r>
            <a:r>
              <a:rPr lang="ko-KR" altLang="en-US" sz="1200" dirty="0"/>
              <a:t>희소 그룹 라쏘 회귀 </a:t>
            </a:r>
            <a:r>
              <a:rPr lang="en-US" altLang="ko-KR" sz="1200" dirty="0"/>
              <a:t>(Sparse Group Lasso Regression)</a:t>
            </a:r>
          </a:p>
          <a:p>
            <a:r>
              <a:rPr lang="en-US" altLang="ko-KR" sz="1200" dirty="0"/>
              <a:t>[5-6] </a:t>
            </a:r>
            <a:r>
              <a:rPr lang="ko-KR" altLang="en-US" sz="1200" dirty="0"/>
              <a:t>적응적 라쏘 회귀 </a:t>
            </a:r>
            <a:r>
              <a:rPr lang="en-US" altLang="ko-KR" sz="1200" dirty="0"/>
              <a:t>(Adaptive Lasso Regression)</a:t>
            </a:r>
          </a:p>
          <a:p>
            <a:r>
              <a:rPr lang="en-US" altLang="ko-KR" sz="1200" dirty="0"/>
              <a:t>[5-7] SCAD </a:t>
            </a:r>
            <a:r>
              <a:rPr lang="ko-KR" altLang="en-US" sz="1200" dirty="0"/>
              <a:t>벌점 회귀 </a:t>
            </a:r>
            <a:r>
              <a:rPr lang="en-US" altLang="ko-KR" sz="1200" dirty="0"/>
              <a:t>(Smoothly Clipped Absolute Deviation Regression)</a:t>
            </a:r>
          </a:p>
          <a:p>
            <a:r>
              <a:rPr lang="en-US" altLang="ko-KR" sz="1200" dirty="0"/>
              <a:t>[5-8] MCP </a:t>
            </a:r>
            <a:r>
              <a:rPr lang="ko-KR" altLang="en-US" sz="1200" dirty="0"/>
              <a:t>벌점 회귀 </a:t>
            </a:r>
            <a:r>
              <a:rPr lang="en-US" altLang="ko-KR" sz="1200" dirty="0"/>
              <a:t>(Minimax Concave Penalty Regression)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A7D11-51A7-C0F2-7F2B-F9680682C770}"/>
              </a:ext>
            </a:extLst>
          </p:cNvPr>
          <p:cNvSpPr txBox="1"/>
          <p:nvPr/>
        </p:nvSpPr>
        <p:spPr>
          <a:xfrm>
            <a:off x="7556046" y="345427"/>
            <a:ext cx="31556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[3-1] </a:t>
            </a:r>
            <a:r>
              <a:rPr lang="ko-KR" altLang="en-US" sz="1200" dirty="0"/>
              <a:t>단계적 회귀 </a:t>
            </a:r>
            <a:r>
              <a:rPr lang="en-US" altLang="ko-KR" sz="1200" dirty="0"/>
              <a:t>(Stepwise Regression)</a:t>
            </a:r>
          </a:p>
          <a:p>
            <a:r>
              <a:rPr lang="en-US" altLang="ko-KR" sz="1200" dirty="0"/>
              <a:t>[3-2] </a:t>
            </a:r>
            <a:r>
              <a:rPr lang="ko-KR" altLang="en-US" sz="1200" dirty="0"/>
              <a:t>위계적 회귀 </a:t>
            </a:r>
            <a:r>
              <a:rPr lang="en-US" altLang="ko-KR" sz="1200" dirty="0"/>
              <a:t>(Hierarchical Regression)</a:t>
            </a:r>
          </a:p>
          <a:p>
            <a:r>
              <a:rPr lang="en-US" altLang="ko-KR" sz="1200" dirty="0"/>
              <a:t>[3-3] </a:t>
            </a:r>
            <a:r>
              <a:rPr lang="ko-KR" altLang="en-US" sz="1200" dirty="0"/>
              <a:t>강건 회귀 </a:t>
            </a:r>
            <a:r>
              <a:rPr lang="en-US" altLang="ko-KR" sz="1200" dirty="0"/>
              <a:t>(Robust Regression)</a:t>
            </a:r>
          </a:p>
          <a:p>
            <a:r>
              <a:rPr lang="en-US" altLang="ko-KR" sz="1200" dirty="0"/>
              <a:t>[3-4] </a:t>
            </a:r>
            <a:r>
              <a:rPr lang="ko-KR" altLang="en-US" sz="1200" dirty="0"/>
              <a:t>분위수 회귀 </a:t>
            </a:r>
            <a:r>
              <a:rPr lang="en-US" altLang="ko-KR" sz="1200" dirty="0"/>
              <a:t>(Quantile Regression)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40D05-1543-398C-5F12-CBBE5C152494}"/>
              </a:ext>
            </a:extLst>
          </p:cNvPr>
          <p:cNvSpPr txBox="1"/>
          <p:nvPr/>
        </p:nvSpPr>
        <p:spPr>
          <a:xfrm>
            <a:off x="5196112" y="4543611"/>
            <a:ext cx="69884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[6-1] </a:t>
            </a:r>
            <a:r>
              <a:rPr lang="ko-KR" altLang="en-US" sz="1200" dirty="0"/>
              <a:t>비선형 최소제곱 회귀 </a:t>
            </a:r>
            <a:r>
              <a:rPr lang="en-US" altLang="ko-KR" sz="1200" dirty="0"/>
              <a:t>(Nonlinear Least Squares Regression)</a:t>
            </a:r>
          </a:p>
          <a:p>
            <a:r>
              <a:rPr lang="en-US" altLang="ko-KR" sz="1200" dirty="0"/>
              <a:t>[6-2] </a:t>
            </a:r>
            <a:r>
              <a:rPr lang="ko-KR" altLang="en-US" sz="1200" dirty="0"/>
              <a:t>스플라인 기반 회귀 </a:t>
            </a:r>
            <a:r>
              <a:rPr lang="en-US" altLang="ko-KR" sz="1200" dirty="0"/>
              <a:t>(Spline-based Regression)</a:t>
            </a:r>
          </a:p>
          <a:p>
            <a:r>
              <a:rPr lang="en-US" altLang="ko-KR" sz="1200" dirty="0"/>
              <a:t>[6-3] </a:t>
            </a:r>
            <a:r>
              <a:rPr lang="ko-KR" altLang="en-US" sz="1200" dirty="0"/>
              <a:t>커널 기반 회귀 </a:t>
            </a:r>
            <a:r>
              <a:rPr lang="en-US" altLang="ko-KR" sz="1200" dirty="0"/>
              <a:t>(Kernel-based Regression)</a:t>
            </a:r>
          </a:p>
          <a:p>
            <a:r>
              <a:rPr lang="en-US" altLang="ko-KR" sz="1200" dirty="0"/>
              <a:t>[6-4] </a:t>
            </a:r>
            <a:r>
              <a:rPr lang="ko-KR" altLang="en-US" sz="1200" dirty="0"/>
              <a:t>고차 다항 회귀 </a:t>
            </a:r>
            <a:r>
              <a:rPr lang="en-US" altLang="ko-KR" sz="1200" dirty="0"/>
              <a:t>(High-order Polynomial Regression)</a:t>
            </a:r>
          </a:p>
          <a:p>
            <a:r>
              <a:rPr lang="en-US" altLang="ko-KR" sz="1200" dirty="0"/>
              <a:t>[6-5] </a:t>
            </a:r>
            <a:r>
              <a:rPr lang="ko-KR" altLang="en-US" sz="1200" dirty="0"/>
              <a:t>베이즈 비선형 회귀 </a:t>
            </a:r>
            <a:r>
              <a:rPr lang="en-US" altLang="ko-KR" sz="1200" dirty="0"/>
              <a:t>(Bayesian Nonlinear Regression)</a:t>
            </a:r>
          </a:p>
          <a:p>
            <a:r>
              <a:rPr lang="en-US" altLang="ko-KR" sz="1200" dirty="0"/>
              <a:t>[6-6] </a:t>
            </a:r>
            <a:r>
              <a:rPr lang="ko-KR" altLang="en-US" sz="1200" dirty="0"/>
              <a:t>신경망 기반 회귀 </a:t>
            </a:r>
            <a:r>
              <a:rPr lang="en-US" altLang="ko-KR" sz="1200" dirty="0"/>
              <a:t>(Neural Network-based Regression)</a:t>
            </a:r>
          </a:p>
          <a:p>
            <a:r>
              <a:rPr lang="en-US" altLang="ko-KR" sz="1200" dirty="0"/>
              <a:t>[6-7] </a:t>
            </a:r>
            <a:r>
              <a:rPr lang="ko-KR" altLang="en-US" sz="1200" dirty="0"/>
              <a:t>강건 비선형 회귀 </a:t>
            </a:r>
            <a:r>
              <a:rPr lang="en-US" altLang="ko-KR" sz="1200" dirty="0"/>
              <a:t>(Robust Nonlinear Regression)</a:t>
            </a:r>
          </a:p>
          <a:p>
            <a:r>
              <a:rPr lang="en-US" altLang="ko-KR" sz="1200" dirty="0"/>
              <a:t>[6-8] </a:t>
            </a:r>
            <a:r>
              <a:rPr lang="ko-KR" altLang="en-US" sz="1200" dirty="0"/>
              <a:t>혼합 비선형 회귀 </a:t>
            </a:r>
            <a:r>
              <a:rPr lang="en-US" altLang="ko-KR" sz="1200" dirty="0"/>
              <a:t>(Mixture of Nonlinear Regressions)</a:t>
            </a:r>
          </a:p>
          <a:p>
            <a:r>
              <a:rPr lang="en-US" altLang="ko-KR" sz="1200" dirty="0"/>
              <a:t>[6-9] </a:t>
            </a:r>
            <a:r>
              <a:rPr lang="ko-KR" altLang="en-US" sz="1200" dirty="0"/>
              <a:t>위치</a:t>
            </a:r>
            <a:r>
              <a:rPr lang="en-US" altLang="ko-KR" sz="1200" dirty="0"/>
              <a:t>–</a:t>
            </a:r>
            <a:r>
              <a:rPr lang="ko-KR" altLang="en-US" sz="1200" dirty="0"/>
              <a:t>규모</a:t>
            </a:r>
            <a:r>
              <a:rPr lang="en-US" altLang="ko-KR" sz="1200" dirty="0"/>
              <a:t>–</a:t>
            </a:r>
            <a:r>
              <a:rPr lang="ko-KR" altLang="en-US" sz="1200" dirty="0"/>
              <a:t>형상 회귀 </a:t>
            </a:r>
            <a:r>
              <a:rPr lang="en-US" altLang="ko-KR" sz="1200" dirty="0"/>
              <a:t>(GAMLSS: Generalized Additive Models for Location, Scale and Shape)</a:t>
            </a:r>
          </a:p>
          <a:p>
            <a:r>
              <a:rPr lang="en-US" altLang="ko-KR" sz="1200" dirty="0"/>
              <a:t>[6-10] </a:t>
            </a:r>
            <a:r>
              <a:rPr lang="ko-KR" altLang="en-US" sz="1200" dirty="0"/>
              <a:t>함수형 데이터 회귀 </a:t>
            </a:r>
            <a:r>
              <a:rPr lang="en-US" altLang="ko-KR" sz="1200" dirty="0"/>
              <a:t>(Functional Data Regression)</a:t>
            </a:r>
          </a:p>
          <a:p>
            <a:r>
              <a:rPr lang="en-US" altLang="ko-KR" sz="1200" dirty="0"/>
              <a:t>[6-11] </a:t>
            </a:r>
            <a:r>
              <a:rPr lang="ko-KR" altLang="en-US" sz="1200" dirty="0"/>
              <a:t>딥 가우시안 프로세스 회귀 </a:t>
            </a:r>
            <a:r>
              <a:rPr lang="en-US" altLang="ko-KR" sz="1200" dirty="0"/>
              <a:t>(Deep Gaussian Process Regression)</a:t>
            </a:r>
          </a:p>
          <a:p>
            <a:r>
              <a:rPr lang="en-US" altLang="ko-KR" sz="1200" dirty="0"/>
              <a:t>[6-12] </a:t>
            </a:r>
            <a:r>
              <a:rPr lang="ko-KR" altLang="en-US" sz="1200" dirty="0"/>
              <a:t>물리정보 기반 회귀 </a:t>
            </a:r>
            <a:r>
              <a:rPr lang="en-US" altLang="ko-KR" sz="1200" dirty="0"/>
              <a:t>(Physics-Informed Regression)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9274E-0562-87BF-50A8-FC50520C646D}"/>
              </a:ext>
            </a:extLst>
          </p:cNvPr>
          <p:cNvSpPr txBox="1"/>
          <p:nvPr/>
        </p:nvSpPr>
        <p:spPr>
          <a:xfrm>
            <a:off x="6924371" y="1457052"/>
            <a:ext cx="43447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[4-1] </a:t>
            </a:r>
            <a:r>
              <a:rPr lang="ko-KR" altLang="en-US" sz="1200" dirty="0"/>
              <a:t>단변량 다항 회귀 </a:t>
            </a:r>
            <a:r>
              <a:rPr lang="en-US" altLang="ko-KR" sz="1200" dirty="0"/>
              <a:t>(Univariate Polynomial Regression)</a:t>
            </a:r>
          </a:p>
          <a:p>
            <a:r>
              <a:rPr lang="en-US" altLang="ko-KR" sz="1200" dirty="0"/>
              <a:t>[4-2] </a:t>
            </a:r>
            <a:r>
              <a:rPr lang="ko-KR" altLang="en-US" sz="1200" dirty="0"/>
              <a:t>다변량 다항 회귀 </a:t>
            </a:r>
            <a:r>
              <a:rPr lang="en-US" altLang="ko-KR" sz="1200" dirty="0"/>
              <a:t>(Multivariate Polynomial Regression)</a:t>
            </a:r>
          </a:p>
          <a:p>
            <a:r>
              <a:rPr lang="en-US" altLang="ko-KR" sz="1200" dirty="0"/>
              <a:t>[4-3] </a:t>
            </a:r>
            <a:r>
              <a:rPr lang="ko-KR" altLang="en-US" sz="1200" dirty="0"/>
              <a:t>직교 다항 회귀 </a:t>
            </a:r>
            <a:r>
              <a:rPr lang="en-US" altLang="ko-KR" sz="1200" dirty="0"/>
              <a:t>(Orthogonal Polynomial Regression)</a:t>
            </a:r>
          </a:p>
          <a:p>
            <a:r>
              <a:rPr lang="en-US" altLang="ko-KR" sz="1200" dirty="0"/>
              <a:t>[4-4] </a:t>
            </a:r>
            <a:r>
              <a:rPr lang="ko-KR" altLang="en-US" sz="1200" dirty="0"/>
              <a:t>부분 최소제곱 다항 회귀 </a:t>
            </a:r>
            <a:r>
              <a:rPr lang="en-US" altLang="ko-KR" sz="1200" dirty="0"/>
              <a:t>(PLS-Polynomial Regression)</a:t>
            </a:r>
          </a:p>
          <a:p>
            <a:r>
              <a:rPr lang="en-US" altLang="ko-KR" sz="1200" dirty="0"/>
              <a:t>[4-5] </a:t>
            </a:r>
            <a:r>
              <a:rPr lang="ko-KR" altLang="en-US" sz="1200" dirty="0"/>
              <a:t>커널 다항 회귀 </a:t>
            </a:r>
            <a:r>
              <a:rPr lang="en-US" altLang="ko-KR" sz="1200" dirty="0"/>
              <a:t>(Kernel Polynomial Regression)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C4A32-B6AB-7604-B502-EE658108165D}"/>
              </a:ext>
            </a:extLst>
          </p:cNvPr>
          <p:cNvSpPr txBox="1"/>
          <p:nvPr/>
        </p:nvSpPr>
        <p:spPr>
          <a:xfrm>
            <a:off x="7556046" y="74210"/>
            <a:ext cx="472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[3] </a:t>
            </a:r>
            <a:r>
              <a:rPr lang="ko-KR" altLang="en-US" sz="1600" b="1" dirty="0">
                <a:solidFill>
                  <a:srgbClr val="0000FF"/>
                </a:solidFill>
              </a:rPr>
              <a:t>다중 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(Multiple Linear Regression)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1168A-3509-07BB-BA01-A8F0A5C98809}"/>
              </a:ext>
            </a:extLst>
          </p:cNvPr>
          <p:cNvSpPr txBox="1"/>
          <p:nvPr/>
        </p:nvSpPr>
        <p:spPr>
          <a:xfrm>
            <a:off x="6094563" y="2416251"/>
            <a:ext cx="5881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[5] </a:t>
            </a:r>
            <a:r>
              <a:rPr lang="ko-KR" altLang="en-US" sz="1600" b="1" dirty="0">
                <a:solidFill>
                  <a:srgbClr val="0000FF"/>
                </a:solidFill>
              </a:rPr>
              <a:t>정규화 </a:t>
            </a:r>
            <a:r>
              <a:rPr lang="en-US" altLang="ko-KR" sz="1600" b="1" dirty="0">
                <a:solidFill>
                  <a:srgbClr val="0000FF"/>
                </a:solidFill>
              </a:rPr>
              <a:t>(Regularization) : </a:t>
            </a:r>
            <a:r>
              <a:rPr lang="ko-KR" altLang="en-US" sz="1600" b="1" dirty="0">
                <a:solidFill>
                  <a:srgbClr val="0000FF"/>
                </a:solidFill>
              </a:rPr>
              <a:t>벌점부여 </a:t>
            </a:r>
            <a:r>
              <a:rPr lang="en-US" altLang="ko-KR" sz="1600" b="1" dirty="0">
                <a:solidFill>
                  <a:srgbClr val="0000FF"/>
                </a:solidFill>
              </a:rPr>
              <a:t>(Penalized) </a:t>
            </a:r>
            <a:r>
              <a:rPr lang="ko-KR" altLang="en-US" sz="1600" b="1" dirty="0">
                <a:solidFill>
                  <a:srgbClr val="0000FF"/>
                </a:solidFill>
              </a:rPr>
              <a:t>선형 회귀</a:t>
            </a:r>
            <a:endParaRPr lang="en-US" altLang="ko-KR" sz="1600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ED9F8-1D63-FC89-A7FA-283E147D20BC}"/>
              </a:ext>
            </a:extLst>
          </p:cNvPr>
          <p:cNvSpPr txBox="1"/>
          <p:nvPr/>
        </p:nvSpPr>
        <p:spPr>
          <a:xfrm>
            <a:off x="5196112" y="4205057"/>
            <a:ext cx="3839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[6] </a:t>
            </a:r>
            <a:r>
              <a:rPr lang="ko-KR" altLang="en-US" sz="1600" b="1" dirty="0">
                <a:solidFill>
                  <a:srgbClr val="0000FF"/>
                </a:solidFill>
              </a:rPr>
              <a:t>비선형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(nonlinear regression)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53735-0BDC-84A4-B428-B95A414609BF}"/>
              </a:ext>
            </a:extLst>
          </p:cNvPr>
          <p:cNvSpPr txBox="1"/>
          <p:nvPr/>
        </p:nvSpPr>
        <p:spPr>
          <a:xfrm>
            <a:off x="6924371" y="1160642"/>
            <a:ext cx="4989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[4] </a:t>
            </a:r>
            <a:r>
              <a:rPr lang="ko-KR" altLang="en-US" sz="1600" b="1" dirty="0">
                <a:solidFill>
                  <a:srgbClr val="0000FF"/>
                </a:solidFill>
              </a:rPr>
              <a:t>다항 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(Polynomial Linear Regression)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D42F5-3A64-49B2-92EF-9D04268B07C6}"/>
              </a:ext>
            </a:extLst>
          </p:cNvPr>
          <p:cNvSpPr txBox="1"/>
          <p:nvPr/>
        </p:nvSpPr>
        <p:spPr>
          <a:xfrm>
            <a:off x="-4706" y="1065568"/>
            <a:ext cx="3356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[1] </a:t>
            </a:r>
            <a:r>
              <a:rPr lang="ko-KR" altLang="en-US" sz="1600" b="1" dirty="0">
                <a:solidFill>
                  <a:srgbClr val="0000FF"/>
                </a:solidFill>
              </a:rPr>
              <a:t>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(Linear Regression)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8539FD-DCF4-49FF-8699-AACC5EF1D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46" y="-96332"/>
            <a:ext cx="2806070" cy="24690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98384F-52E0-40E9-8279-DCA978085FED}"/>
              </a:ext>
            </a:extLst>
          </p:cNvPr>
          <p:cNvSpPr txBox="1"/>
          <p:nvPr/>
        </p:nvSpPr>
        <p:spPr>
          <a:xfrm>
            <a:off x="4333428" y="555577"/>
            <a:ext cx="212750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9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지도학습</a:t>
            </a:r>
            <a:r>
              <a:rPr lang="en-US" altLang="ko-KR" sz="2400" b="1" dirty="0"/>
              <a:t>(1/4)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ko-KR" altLang="en-US" sz="2400" b="1" dirty="0">
                <a:solidFill>
                  <a:srgbClr val="0000FF"/>
                </a:solidFill>
              </a:rPr>
              <a:t>회귀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08499A-AE6B-49F6-A976-C507E8F60E6B}"/>
              </a:ext>
            </a:extLst>
          </p:cNvPr>
          <p:cNvSpPr txBox="1"/>
          <p:nvPr/>
        </p:nvSpPr>
        <p:spPr>
          <a:xfrm>
            <a:off x="3774" y="1376340"/>
            <a:ext cx="469397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</a:rPr>
              <a:t>[1-1]</a:t>
            </a:r>
            <a:r>
              <a:rPr lang="ko-KR" altLang="en-US" sz="1200" dirty="0">
                <a:solidFill>
                  <a:srgbClr val="C00000"/>
                </a:solidFill>
              </a:rPr>
              <a:t>배치 경사하강법</a:t>
            </a:r>
            <a:r>
              <a:rPr lang="en-US" altLang="ko-KR" sz="1200" dirty="0">
                <a:solidFill>
                  <a:srgbClr val="C00000"/>
                </a:solidFill>
              </a:rPr>
              <a:t>(Batch Gradient Descent)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[1-2]</a:t>
            </a:r>
            <a:r>
              <a:rPr lang="ko-KR" altLang="en-US" sz="1200" dirty="0">
                <a:solidFill>
                  <a:srgbClr val="C00000"/>
                </a:solidFill>
              </a:rPr>
              <a:t>미니배치 경사하강법</a:t>
            </a:r>
            <a:r>
              <a:rPr lang="en-US" altLang="ko-KR" sz="1200" dirty="0">
                <a:solidFill>
                  <a:srgbClr val="C00000"/>
                </a:solidFill>
              </a:rPr>
              <a:t>(Mini-batch Gradient Descent)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[1-3]</a:t>
            </a:r>
            <a:r>
              <a:rPr lang="ko-KR" altLang="en-US" sz="1200" dirty="0">
                <a:solidFill>
                  <a:srgbClr val="C00000"/>
                </a:solidFill>
              </a:rPr>
              <a:t>확률적 경사하강법</a:t>
            </a:r>
            <a:r>
              <a:rPr lang="en-US" altLang="ko-KR" sz="1200" dirty="0">
                <a:solidFill>
                  <a:srgbClr val="C00000"/>
                </a:solidFill>
              </a:rPr>
              <a:t>(Stochastic Gradient Descent)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[1-4]</a:t>
            </a:r>
            <a:r>
              <a:rPr lang="ko-KR" altLang="en-US" sz="1200" dirty="0">
                <a:solidFill>
                  <a:srgbClr val="C00000"/>
                </a:solidFill>
              </a:rPr>
              <a:t>모멘텀 경사하강법</a:t>
            </a:r>
            <a:r>
              <a:rPr lang="en-US" altLang="ko-KR" sz="1200" dirty="0">
                <a:solidFill>
                  <a:srgbClr val="C00000"/>
                </a:solidFill>
              </a:rPr>
              <a:t>(Momentum Gradient Descent)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[1-5]</a:t>
            </a:r>
            <a:r>
              <a:rPr lang="ko-KR" altLang="en-US" sz="1200" dirty="0">
                <a:solidFill>
                  <a:srgbClr val="C00000"/>
                </a:solidFill>
              </a:rPr>
              <a:t>네스테로프 가속 경사하강법</a:t>
            </a:r>
            <a:r>
              <a:rPr lang="en-US" altLang="ko-KR" sz="1200" dirty="0">
                <a:solidFill>
                  <a:srgbClr val="C00000"/>
                </a:solidFill>
              </a:rPr>
              <a:t>(Nesterov Accelerated Gradient)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[1-6]</a:t>
            </a:r>
            <a:r>
              <a:rPr lang="ko-KR" altLang="en-US" sz="1200" dirty="0">
                <a:solidFill>
                  <a:srgbClr val="C00000"/>
                </a:solidFill>
              </a:rPr>
              <a:t>아담 옵티마이저</a:t>
            </a:r>
            <a:r>
              <a:rPr lang="en-US" altLang="ko-KR" sz="1200" dirty="0">
                <a:solidFill>
                  <a:srgbClr val="C00000"/>
                </a:solidFill>
              </a:rPr>
              <a:t>(Adam)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[1-7]</a:t>
            </a:r>
            <a:r>
              <a:rPr lang="ko-KR" altLang="en-US" sz="1200" dirty="0">
                <a:solidFill>
                  <a:srgbClr val="C00000"/>
                </a:solidFill>
              </a:rPr>
              <a:t>아담</a:t>
            </a:r>
            <a:r>
              <a:rPr lang="en-US" altLang="ko-KR" sz="1200" dirty="0">
                <a:solidFill>
                  <a:srgbClr val="C00000"/>
                </a:solidFill>
              </a:rPr>
              <a:t>W </a:t>
            </a:r>
            <a:r>
              <a:rPr lang="ko-KR" altLang="en-US" sz="1200" dirty="0">
                <a:solidFill>
                  <a:srgbClr val="C00000"/>
                </a:solidFill>
              </a:rPr>
              <a:t>옵티마이저</a:t>
            </a:r>
            <a:r>
              <a:rPr lang="en-US" altLang="ko-KR" sz="1200" dirty="0">
                <a:solidFill>
                  <a:srgbClr val="C00000"/>
                </a:solidFill>
              </a:rPr>
              <a:t>(AdamW)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[1-8]</a:t>
            </a:r>
            <a:r>
              <a:rPr lang="ko-KR" altLang="en-US" sz="1200" dirty="0">
                <a:solidFill>
                  <a:srgbClr val="C00000"/>
                </a:solidFill>
              </a:rPr>
              <a:t>루카헤드</a:t>
            </a:r>
            <a:r>
              <a:rPr lang="en-US" altLang="ko-KR" sz="1200" dirty="0">
                <a:solidFill>
                  <a:srgbClr val="C00000"/>
                </a:solidFill>
              </a:rPr>
              <a:t>(Lookahead)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[1-9]</a:t>
            </a:r>
            <a:r>
              <a:rPr lang="ko-KR" altLang="en-US" sz="1200" dirty="0">
                <a:solidFill>
                  <a:srgbClr val="C00000"/>
                </a:solidFill>
              </a:rPr>
              <a:t>정규방정식</a:t>
            </a:r>
            <a:r>
              <a:rPr lang="en-US" altLang="ko-KR" sz="1200" dirty="0">
                <a:solidFill>
                  <a:srgbClr val="C00000"/>
                </a:solidFill>
              </a:rPr>
              <a:t>(Normal Equation)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[1-10]</a:t>
            </a:r>
            <a:r>
              <a:rPr lang="ko-KR" altLang="en-US" sz="1200" dirty="0">
                <a:solidFill>
                  <a:srgbClr val="C00000"/>
                </a:solidFill>
              </a:rPr>
              <a:t>뉴턴 방법</a:t>
            </a:r>
            <a:r>
              <a:rPr lang="en-US" altLang="ko-KR" sz="1200" dirty="0">
                <a:solidFill>
                  <a:srgbClr val="C00000"/>
                </a:solidFill>
              </a:rPr>
              <a:t>(Newton’s Method)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[1-11]</a:t>
            </a:r>
            <a:r>
              <a:rPr lang="ko-KR" altLang="en-US" sz="1200" dirty="0">
                <a:solidFill>
                  <a:srgbClr val="C00000"/>
                </a:solidFill>
              </a:rPr>
              <a:t>제한 메모리 </a:t>
            </a:r>
            <a:r>
              <a:rPr lang="en-US" altLang="ko-KR" sz="1200" dirty="0">
                <a:solidFill>
                  <a:srgbClr val="C00000"/>
                </a:solidFill>
              </a:rPr>
              <a:t>BFGS(Limited-memory BFGS)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[1-12]</a:t>
            </a:r>
            <a:r>
              <a:rPr lang="ko-KR" altLang="en-US" sz="1200" dirty="0">
                <a:solidFill>
                  <a:srgbClr val="C00000"/>
                </a:solidFill>
              </a:rPr>
              <a:t>학습률 감소</a:t>
            </a:r>
            <a:r>
              <a:rPr lang="en-US" altLang="ko-KR" sz="1200" dirty="0">
                <a:solidFill>
                  <a:srgbClr val="C00000"/>
                </a:solidFill>
              </a:rPr>
              <a:t>(Learning Rate Decay)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[1-13]</a:t>
            </a:r>
            <a:r>
              <a:rPr lang="ko-KR" altLang="en-US" sz="1200" dirty="0">
                <a:solidFill>
                  <a:srgbClr val="C00000"/>
                </a:solidFill>
              </a:rPr>
              <a:t>워밍업</a:t>
            </a:r>
            <a:r>
              <a:rPr lang="en-US" altLang="ko-KR" sz="1200" dirty="0">
                <a:solidFill>
                  <a:srgbClr val="C00000"/>
                </a:solidFill>
              </a:rPr>
              <a:t>(Warm-up)</a:t>
            </a:r>
          </a:p>
        </p:txBody>
      </p:sp>
    </p:spTree>
    <p:extLst>
      <p:ext uri="{BB962C8B-B14F-4D97-AF65-F5344CB8AC3E}">
        <p14:creationId xmlns:p14="http://schemas.microsoft.com/office/powerpoint/2010/main" val="281089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708440" y="2331378"/>
            <a:ext cx="277511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10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 dirty="0"/>
              <a:t>지도학습</a:t>
            </a:r>
            <a:r>
              <a:rPr lang="en-US" altLang="ko-KR" sz="3200" b="1" dirty="0"/>
              <a:t>(2/4)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3200" b="1" dirty="0">
                <a:solidFill>
                  <a:srgbClr val="0000FF"/>
                </a:solidFill>
              </a:rPr>
              <a:t>분류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8612</TotalTime>
  <Words>917</Words>
  <Application>Microsoft Office PowerPoint</Application>
  <PresentationFormat>와이드스크린</PresentationFormat>
  <Paragraphs>113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260</cp:revision>
  <cp:lastPrinted>2026-04-09T04:28:10Z</cp:lastPrinted>
  <dcterms:created xsi:type="dcterms:W3CDTF">2026-02-24T07:28:13Z</dcterms:created>
  <dcterms:modified xsi:type="dcterms:W3CDTF">2026-05-04T07:03:55Z</dcterms:modified>
</cp:coreProperties>
</file>